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7772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FBA00"/>
                </a:solidFill>
                <a:latin typeface="Calibri"/>
              </a:rPr>
              <a:t>INNER-CITY MUSLIM ACTION NETWORK  —  ENGLEWOOD 2040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804672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 Englewood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8046720" cy="10058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C8DCC8"/>
                </a:solidFill>
                <a:latin typeface="Calibri"/>
              </a:rPr>
              <a:t>Why a 30-year life expectancy gap exists, why it hasn’t closed,</a:t>
            </a:r>
          </a:p>
          <a:p>
            <a:pPr algn="l"/>
            <a:r>
              <a:rPr sz="1800" b="0" i="0">
                <a:solidFill>
                  <a:srgbClr val="C8DCC8"/>
                </a:solidFill>
                <a:latin typeface="Calibri"/>
              </a:rPr>
              <a:t>and what would actually move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017520"/>
            <a:ext cx="3200400" cy="3657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182112"/>
            <a:ext cx="804672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C8DCC8"/>
                </a:solidFill>
                <a:latin typeface="Calibri"/>
              </a:rPr>
              <a:t>Chicago, IL   •   April 2026   •   Evidence-based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94760"/>
            <a:ext cx="2743200" cy="731520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90288"/>
            <a:ext cx="274320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8DCC8"/>
                </a:solidFill>
                <a:latin typeface="Calibri"/>
              </a:rPr>
              <a:t>Life expectancy, Streeterville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794760"/>
            <a:ext cx="2743200" cy="731520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l"/>
            <a:r>
              <a:rPr sz="3400" b="1" i="0">
                <a:solidFill>
                  <a:srgbClr val="7FBA00"/>
                </a:solidFill>
                <a:latin typeface="Calibri"/>
              </a:rPr>
              <a:t>67.7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4590288"/>
            <a:ext cx="274320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8DCC8"/>
                </a:solidFill>
                <a:latin typeface="Calibri"/>
              </a:rPr>
              <a:t>Life expectancy, Englewood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794760"/>
            <a:ext cx="2286000" cy="731520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− 22.3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590288"/>
            <a:ext cx="228600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8DCC8"/>
                </a:solidFill>
                <a:latin typeface="Calibri"/>
              </a:rPr>
              <a:t>Years of life, same 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"/>
            <a:ext cx="758952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22 years of life, in the same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82296"/>
            <a:ext cx="82296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C8DCC8"/>
                </a:solidFill>
                <a:latin typeface="Calibri"/>
              </a:rPr>
              <a:t>02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832104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THE ONE SENTENCE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8CAA8C"/>
                </a:solidFill>
                <a:latin typeface="Calibri"/>
              </a:rPr>
              <a:t>IMAN 2040  •  Investor Brief  •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4937760" cy="3108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62E22"/>
                </a:solidFill>
                <a:latin typeface="Calibri"/>
              </a:rPr>
              <a:t>The gap is not new. It has been measured </a:t>
            </a:r>
            <a:r>
              <a:rPr sz="1800" b="1" i="0">
                <a:solidFill>
                  <a:srgbClr val="1A3A1A"/>
                </a:solidFill>
                <a:latin typeface="Calibri"/>
              </a:rPr>
              <a:t>by a different name in every generation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8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A6B5A"/>
                </a:solidFill>
                <a:latin typeface="Calibri"/>
              </a:rPr>
              <a:t>“health disparities” in the 1980s, “structural racism” in the 2000s, </a:t>
            </a:r>
            <a:r>
              <a:rPr sz="1200" b="0" i="0">
                <a:solidFill>
                  <a:srgbClr val="5A6B5A"/>
                </a:solidFill>
                <a:latin typeface="Calibri"/>
              </a:rPr>
              <a:t>“social determinants of health” today. The label rotates.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8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1A3A1A"/>
                </a:solidFill>
                <a:latin typeface="Calibri"/>
              </a:rPr>
              <a:t>The number has moved very little.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280160"/>
            <a:ext cx="3154680" cy="310896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417320"/>
            <a:ext cx="288036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LIFE EXPECTANCY BY CHICAGO 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783080"/>
            <a:ext cx="1828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E22"/>
                </a:solidFill>
                <a:latin typeface="Calibri"/>
              </a:rPr>
              <a:t>Streeterville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783080"/>
            <a:ext cx="105156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1A3A1A"/>
                </a:solidFill>
                <a:latin typeface="Calibri"/>
              </a:rPr>
              <a:t>90.0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130552"/>
            <a:ext cx="1828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E22"/>
                </a:solidFill>
                <a:latin typeface="Calibri"/>
              </a:rPr>
              <a:t>Lincoln Park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130552"/>
            <a:ext cx="105156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2D5A1B"/>
                </a:solidFill>
                <a:latin typeface="Calibri"/>
              </a:rPr>
              <a:t>85.1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478024"/>
            <a:ext cx="1828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E22"/>
                </a:solidFill>
                <a:latin typeface="Calibri"/>
              </a:rPr>
              <a:t>Hyde Park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478024"/>
            <a:ext cx="105156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2D5A1B"/>
                </a:solidFill>
                <a:latin typeface="Calibri"/>
              </a:rPr>
              <a:t>80.4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825496"/>
            <a:ext cx="1828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E22"/>
                </a:solidFill>
                <a:latin typeface="Calibri"/>
              </a:rPr>
              <a:t>Chicago average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25496"/>
            <a:ext cx="105156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5A6B5A"/>
                </a:solidFill>
                <a:latin typeface="Calibri"/>
              </a:rPr>
              <a:t>77.3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172968"/>
            <a:ext cx="1828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E22"/>
                </a:solidFill>
                <a:latin typeface="Calibri"/>
              </a:rPr>
              <a:t>Little Village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172968"/>
            <a:ext cx="105156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2D5A1B"/>
                </a:solidFill>
                <a:latin typeface="Calibri"/>
              </a:rPr>
              <a:t>82.0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520439"/>
            <a:ext cx="1828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E22"/>
                </a:solidFill>
                <a:latin typeface="Calibri"/>
              </a:rPr>
              <a:t>Chicago Lawn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520439"/>
            <a:ext cx="105156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5A6B5A"/>
                </a:solidFill>
                <a:latin typeface="Calibri"/>
              </a:rPr>
              <a:t>73.9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867912"/>
            <a:ext cx="18288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E22"/>
                </a:solidFill>
                <a:latin typeface="Calibri"/>
              </a:rPr>
              <a:t>Englewood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867912"/>
            <a:ext cx="105156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1" i="0">
                <a:solidFill>
                  <a:srgbClr val="B85042"/>
                </a:solidFill>
                <a:latin typeface="Calibri"/>
              </a:rPr>
              <a:t>67.7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"/>
            <a:ext cx="758952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Two decades of programs. A neighborhood that hasn’t moved.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82296"/>
            <a:ext cx="82296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C8DCC8"/>
                </a:solidFill>
                <a:latin typeface="Calibri"/>
              </a:rPr>
              <a:t>03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832104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THE COMPLICATION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8CAA8C"/>
                </a:solidFill>
                <a:latin typeface="Calibri"/>
              </a:rPr>
              <a:t>IMAN 2040  •  Investor Brief  •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83210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62E22"/>
                </a:solidFill>
                <a:latin typeface="Calibri"/>
              </a:rPr>
              <a:t>Englewood has been a destination for programs. Grocery stores have opened. Clinics have expanded. Violence-interruption crews have patrolled. Some of these programs have been excellent — and rigorously evaluated. </a:t>
            </a:r>
            <a:r>
              <a:rPr sz="1150" b="1" i="0">
                <a:solidFill>
                  <a:srgbClr val="1A3A1A"/>
                </a:solidFill>
                <a:latin typeface="Calibri"/>
              </a:rPr>
              <a:t>And yet Englewood’s life expectancy has barely budged.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31720"/>
            <a:ext cx="2697480" cy="141732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331720"/>
            <a:ext cx="2697480" cy="3657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2423160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BARBERSHOP BP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15768"/>
            <a:ext cx="24231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A3A1A"/>
                </a:solidFill>
                <a:latin typeface="Calibri"/>
              </a:rPr>
              <a:t>−27 mmHg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27832"/>
            <a:ext cx="24231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62E22"/>
                </a:solidFill>
                <a:latin typeface="Calibri"/>
              </a:rPr>
              <a:t>systolic blood pressure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02152"/>
            <a:ext cx="242316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5A6B5A"/>
                </a:solidFill>
                <a:latin typeface="Calibri"/>
              </a:rPr>
              <a:t>LA / Cedars-Sinai RCT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2331720"/>
            <a:ext cx="2697480" cy="141732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18688" y="2331720"/>
            <a:ext cx="2697480" cy="3657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2441448"/>
            <a:ext cx="2423160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CURE VIOLENCE / READI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2715768"/>
            <a:ext cx="24231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A3A1A"/>
                </a:solidFill>
                <a:latin typeface="Calibri"/>
              </a:rPr>
              <a:t>−50%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3227832"/>
            <a:ext cx="24231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62E22"/>
                </a:solidFill>
                <a:latin typeface="Calibri"/>
              </a:rPr>
              <a:t>serious violence over 18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3502152"/>
            <a:ext cx="242316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5A6B5A"/>
                </a:solidFill>
                <a:latin typeface="Calibri"/>
              </a:rPr>
              <a:t>Chicago West Side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25896" y="2331720"/>
            <a:ext cx="2697480" cy="141732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25896" y="2331720"/>
            <a:ext cx="2697480" cy="3657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63056" y="2441448"/>
            <a:ext cx="2423160" cy="31089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HEALTH-CENTER EXPANSION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2715768"/>
            <a:ext cx="2423160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A3A1A"/>
                </a:solidFill>
                <a:latin typeface="Calibri"/>
              </a:rPr>
              <a:t>+1.5 yr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3227832"/>
            <a:ext cx="24231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262E22"/>
                </a:solidFill>
                <a:latin typeface="Calibri"/>
              </a:rPr>
              <a:t>life expectancy in service area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3502152"/>
            <a:ext cx="242316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5A6B5A"/>
                </a:solidFill>
                <a:latin typeface="Calibri"/>
              </a:rPr>
              <a:t>FQHC panel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023360"/>
            <a:ext cx="832104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50" b="1" i="1">
                <a:solidFill>
                  <a:srgbClr val="1A3A1A"/>
                </a:solidFill>
                <a:latin typeface="Calibri"/>
              </a:rPr>
              <a:t>The programs work. The neighborhood does not change. Life expectancy is a neighborhood outcome, not a program outcome.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"/>
            <a:ext cx="758952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The remaining variance is about place, not behavior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82296"/>
            <a:ext cx="82296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C8DCC8"/>
                </a:solidFill>
                <a:latin typeface="Calibri"/>
              </a:rPr>
              <a:t>04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832104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WHAT THE DATA ACTUALLY SAYS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8CAA8C"/>
                </a:solidFill>
                <a:latin typeface="Calibri"/>
              </a:rPr>
              <a:t>IMAN 2040  •  Investor Brief  •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3246120" cy="3291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62E22"/>
                </a:solidFill>
                <a:latin typeface="Calibri"/>
              </a:rPr>
              <a:t>Hold behavior constant. The gap is still there.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62E22"/>
                </a:solidFill>
                <a:latin typeface="Calibri"/>
              </a:rPr>
              <a:t>Hold income constant. The gap is still there.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62E22"/>
                </a:solidFill>
                <a:latin typeface="Calibri"/>
              </a:rPr>
              <a:t>Hold education and insurance constant. The gap shrinks but doesn’t close.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4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A3A1A"/>
                </a:solidFill>
                <a:latin typeface="Calibri"/>
              </a:rPr>
              <a:t>Roughly half of tract-level life-expectancy variance in the U.S. is structural / place-based </a:t>
            </a:r>
            <a:r>
              <a:rPr sz="1100" b="1" i="0">
                <a:solidFill>
                  <a:srgbClr val="1A3A1A"/>
                </a:solidFill>
                <a:latin typeface="Calibri"/>
              </a:rPr>
              <a:t>— not individual behavior, not healthcare access, not income alone. That is the share IMAN is set up to move.</a:t>
            </a:r>
          </a:p>
        </p:txBody>
      </p:sp>
      <p:pic>
        <p:nvPicPr>
          <p:cNvPr id="10" name="Picture 9" descr="chart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280160"/>
            <a:ext cx="4846320" cy="28753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86200" y="4590288"/>
            <a:ext cx="484632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5A6B5A"/>
                </a:solidFill>
                <a:latin typeface="Calibri"/>
              </a:rPr>
              <a:t>Decomposition of tract-level life-expectancy variance, pooled U.S. data (CDC USALEEP; peer-reviewed models, 2018–2024).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"/>
            <a:ext cx="758952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Some poor neighborhoods outlive their demographics by a decade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82296"/>
            <a:ext cx="82296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C8DCC8"/>
                </a:solidFill>
                <a:latin typeface="Calibri"/>
              </a:rPr>
              <a:t>05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832104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POSITIVE DEVIANTS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8CAA8C"/>
                </a:solidFill>
                <a:latin typeface="Calibri"/>
              </a:rPr>
              <a:t>IMAN 2040  •  Investor Brief  •  April 2026</a:t>
            </a:r>
          </a:p>
        </p:txBody>
      </p:sp>
      <p:pic>
        <p:nvPicPr>
          <p:cNvPr id="9" name="Picture 8" descr="char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4617720" cy="34281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74920" y="1325880"/>
            <a:ext cx="3749039" cy="3291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A6B5A"/>
                </a:solidFill>
                <a:latin typeface="Calibri"/>
              </a:rPr>
              <a:t>Each dot is a U.S. census tract.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4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The dashed line is what the model predicts given poverty rate.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4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The amber dots — Little Village, East Boston, Sunset Park, Chinatown — sit 10–15 years above their predicted line. </a:t>
            </a:r>
            <a:r>
              <a:rPr sz="1050" b="1" i="0">
                <a:solidFill>
                  <a:srgbClr val="1A3A1A"/>
                </a:solidFill>
                <a:latin typeface="Calibri"/>
              </a:rPr>
              <a:t>They are poor. They are dense. They are non-white. Their people live longer than the model predicts.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4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Englewood (red) sits roughly on the line. </a:t>
            </a:r>
            <a:r>
              <a:rPr sz="1050" b="1" i="0">
                <a:solidFill>
                  <a:srgbClr val="B85042"/>
                </a:solidFill>
                <a:latin typeface="Calibri"/>
              </a:rPr>
              <a:t>The deviants prove the gap is not fate.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"/>
            <a:ext cx="758952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The feature in common is not a program. It’s a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82296"/>
            <a:ext cx="82296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C8DCC8"/>
                </a:solidFill>
                <a:latin typeface="Calibri"/>
              </a:rPr>
              <a:t>06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832104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COLLECTIVE EFFICACY — SAMPSON, 25 YEARS OF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8CAA8C"/>
                </a:solidFill>
                <a:latin typeface="Calibri"/>
              </a:rPr>
              <a:t>IMAN 2040  •  Investor Brief  •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2029968" cy="233172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2029968" cy="5486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35607"/>
            <a:ext cx="175564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Walkable streets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1755648" cy="1508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E22"/>
                </a:solidFill>
                <a:latin typeface="Calibri"/>
              </a:rPr>
              <a:t>Daily pedestrian encounters outrank gym membership as a cardiovascular predictor.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51176" y="1325880"/>
            <a:ext cx="2029968" cy="233172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51176" y="1325880"/>
            <a:ext cx="2029968" cy="5486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8336" y="1435607"/>
            <a:ext cx="175564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Three-generation households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2011680"/>
            <a:ext cx="1755648" cy="1508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E22"/>
                </a:solidFill>
                <a:latin typeface="Calibri"/>
              </a:rPr>
              <a:t>Social support that hospitals price at $30K / yr per chronic-disease patient. Free, if it exists.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90872" y="1325880"/>
            <a:ext cx="2029968" cy="233172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90872" y="1325880"/>
            <a:ext cx="2029968" cy="5486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2" y="1435607"/>
            <a:ext cx="175564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Anchor institutions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2" y="2011680"/>
            <a:ext cx="1755648" cy="1508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E22"/>
                </a:solidFill>
                <a:latin typeface="Calibri"/>
              </a:rPr>
              <a:t>A mosque, church, market, school, or cultural center that residents encounter daily.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0568" y="1325880"/>
            <a:ext cx="2029968" cy="233172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30568" y="1325880"/>
            <a:ext cx="2029968" cy="5486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1435607"/>
            <a:ext cx="175564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Dense networks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2011680"/>
            <a:ext cx="1755648" cy="1508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E22"/>
                </a:solidFill>
                <a:latin typeface="Calibri"/>
              </a:rPr>
              <a:t>People who know each other’s children’s names — the single most consistent non-behavioral predictor of who lives and dies.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931920"/>
            <a:ext cx="8321040" cy="566928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931920"/>
            <a:ext cx="8046720" cy="56692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IMAN’s goal is not to import clinical interventions into Englewood. It is to manufacture the structural features of a naturally long-lived poor neighborhood around the people who already live there.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"/>
            <a:ext cx="758952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Single programs move inches. Stacked ecosystems move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82296"/>
            <a:ext cx="82296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C8DCC8"/>
                </a:solidFill>
                <a:latin typeface="Calibri"/>
              </a:rPr>
              <a:t>07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832104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THE STACKED-INTERVENTION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8CAA8C"/>
                </a:solidFill>
                <a:latin typeface="Calibri"/>
              </a:rPr>
              <a:t>IMAN 2040  •  Investor Brief  •  April 2026</a:t>
            </a:r>
          </a:p>
        </p:txBody>
      </p:sp>
      <p:pic>
        <p:nvPicPr>
          <p:cNvPr id="9" name="Picture 8" descr="chart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4892040" cy="4230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49240" y="1325880"/>
            <a:ext cx="3474720" cy="32461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1">
                <a:solidFill>
                  <a:srgbClr val="5A6B5A"/>
                </a:solidFill>
                <a:latin typeface="Calibri"/>
              </a:rPr>
              <a:t>At full dose in the target population: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4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800" b="1" i="0">
                <a:solidFill>
                  <a:srgbClr val="1A3A1A"/>
                </a:solidFill>
                <a:latin typeface="Calibri"/>
              </a:rPr>
              <a:t>~7 years gross LE gain,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62E22"/>
                </a:solidFill>
                <a:latin typeface="Calibri"/>
              </a:rPr>
              <a:t> summed across IMAN’s seven pillars.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4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Net — after overlap, attrition, selection — the defensible projection is </a:t>
            </a:r>
            <a:r>
              <a:rPr sz="1050" b="1" i="0">
                <a:solidFill>
                  <a:srgbClr val="1A3A1A"/>
                </a:solidFill>
                <a:latin typeface="Calibri"/>
              </a:rPr>
              <a:t>3–5 years over 10–15 years</a:t>
            </a:r>
            <a:r>
              <a:rPr sz="1050" b="0" i="0">
                <a:solidFill>
                  <a:srgbClr val="262E22"/>
                </a:solidFill>
                <a:latin typeface="Calibri"/>
              </a:rPr>
              <a:t> in a majority-Black neighborhood at full build-out.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40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sz="1000" b="0" i="1">
                <a:solidFill>
                  <a:srgbClr val="5A6B5A"/>
                </a:solidFill>
                <a:latin typeface="Calibri"/>
              </a:rPr>
              <a:t>Dudley Street, East Lake, Purpose Built — wherever the stack has been run, effects compounded non-linearly. Adjacent programs reinforce each other’s retention and dose.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"/>
            <a:ext cx="758952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Same city. Same hospitals. Same mayor. 22 years apart.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82296"/>
            <a:ext cx="82296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C8DCC8"/>
                </a:solidFill>
                <a:latin typeface="Calibri"/>
              </a:rPr>
              <a:t>08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832104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CHICAGO, AT TRACT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8CAA8C"/>
                </a:solidFill>
                <a:latin typeface="Calibri"/>
              </a:rPr>
              <a:t>IMAN 2040  •  Investor Brief  •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3246120" cy="324612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89888"/>
            <a:ext cx="310896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850" b="1" i="0">
                <a:solidFill>
                  <a:srgbClr val="5A6B5A"/>
                </a:solidFill>
                <a:latin typeface="Calibri"/>
              </a:rPr>
              <a:t>YEARS OF LIFE EXPECTANCY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1874519"/>
            <a:ext cx="731520" cy="210312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63623"/>
            <a:ext cx="118872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3A1A"/>
                </a:solidFill>
                <a:latin typeface="Calibri"/>
              </a:rPr>
              <a:t>90.0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14215"/>
            <a:ext cx="11887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62E22"/>
                </a:solidFill>
                <a:latin typeface="Calibri"/>
              </a:rPr>
              <a:t>Streeterville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395626"/>
            <a:ext cx="731520" cy="1582013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2084730"/>
            <a:ext cx="118872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B85042"/>
                </a:solidFill>
                <a:latin typeface="Calibri"/>
              </a:rPr>
              <a:t>67.7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014215"/>
            <a:ext cx="11887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62E22"/>
                </a:solidFill>
                <a:latin typeface="Calibri"/>
              </a:rPr>
              <a:t>Englewood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97680"/>
            <a:ext cx="310896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1A3A1A"/>
                </a:solidFill>
                <a:latin typeface="Calibri"/>
              </a:rPr>
              <a:t>a 22.3-year gap, 3 miles apart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1280160"/>
            <a:ext cx="484632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THE GAP IS ROBUST TO ADJUSTMENT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1627632"/>
            <a:ext cx="292608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E22"/>
                </a:solidFill>
                <a:latin typeface="Calibri"/>
              </a:rPr>
              <a:t>Raw crude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627632"/>
            <a:ext cx="1874519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262E22"/>
                </a:solidFill>
                <a:latin typeface="Calibri"/>
              </a:rPr>
              <a:t>22.3 yr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31920" y="2029968"/>
            <a:ext cx="4846320" cy="0"/>
          </a:xfrm>
          <a:prstGeom prst="line">
            <a:avLst/>
          </a:prstGeom>
          <a:ln w="6350">
            <a:solidFill>
              <a:srgbClr val="C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31920" y="2066543"/>
            <a:ext cx="292608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E22"/>
                </a:solidFill>
                <a:latin typeface="Calibri"/>
              </a:rPr>
              <a:t>− poverty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066543"/>
            <a:ext cx="1874519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262E22"/>
                </a:solidFill>
                <a:latin typeface="Calibri"/>
              </a:rPr>
              <a:t>14.1 yr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31920" y="2468879"/>
            <a:ext cx="4846320" cy="0"/>
          </a:xfrm>
          <a:prstGeom prst="line">
            <a:avLst/>
          </a:prstGeom>
          <a:ln w="6350">
            <a:solidFill>
              <a:srgbClr val="C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931920" y="2505456"/>
            <a:ext cx="292608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E22"/>
                </a:solidFill>
                <a:latin typeface="Calibri"/>
              </a:rPr>
              <a:t>− income + education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505456"/>
            <a:ext cx="1874519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262E22"/>
                </a:solidFill>
                <a:latin typeface="Calibri"/>
              </a:rPr>
              <a:t>10.8 yr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31920" y="2907791"/>
            <a:ext cx="4846320" cy="0"/>
          </a:xfrm>
          <a:prstGeom prst="line">
            <a:avLst/>
          </a:prstGeom>
          <a:ln w="6350">
            <a:solidFill>
              <a:srgbClr val="C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931920" y="2944368"/>
            <a:ext cx="292608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E22"/>
                </a:solidFill>
                <a:latin typeface="Calibri"/>
              </a:rPr>
              <a:t>− insurance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944368"/>
            <a:ext cx="1874519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262E22"/>
                </a:solidFill>
                <a:latin typeface="Calibri"/>
              </a:rPr>
              <a:t>9.4 yr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931920" y="3346703"/>
            <a:ext cx="4846320" cy="0"/>
          </a:xfrm>
          <a:prstGeom prst="line">
            <a:avLst/>
          </a:prstGeom>
          <a:ln w="6350">
            <a:solidFill>
              <a:srgbClr val="C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931920" y="3383279"/>
            <a:ext cx="292608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E22"/>
                </a:solidFill>
                <a:latin typeface="Calibri"/>
              </a:rPr>
              <a:t>− race / ethnicity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383279"/>
            <a:ext cx="1874519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262E22"/>
                </a:solidFill>
                <a:latin typeface="Calibri"/>
              </a:rPr>
              <a:t>8.1 yr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31920" y="3785615"/>
            <a:ext cx="4846320" cy="0"/>
          </a:xfrm>
          <a:prstGeom prst="line">
            <a:avLst/>
          </a:prstGeom>
          <a:ln w="6350">
            <a:solidFill>
              <a:srgbClr val="C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931920" y="3822191"/>
            <a:ext cx="292608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62E22"/>
                </a:solidFill>
                <a:latin typeface="Calibri"/>
              </a:rPr>
              <a:t>− all of the above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822191"/>
            <a:ext cx="1874519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150" b="1" i="0">
                <a:solidFill>
                  <a:srgbClr val="1A3A1A"/>
                </a:solidFill>
                <a:latin typeface="Calibri"/>
              </a:rPr>
              <a:t>≈ 5 yr unexplained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931920" y="4224528"/>
            <a:ext cx="4846320" cy="0"/>
          </a:xfrm>
          <a:prstGeom prst="line">
            <a:avLst/>
          </a:prstGeom>
          <a:ln w="6350">
            <a:solidFill>
              <a:srgbClr val="C8D2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931920" y="4297680"/>
            <a:ext cx="48463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1A3A1A"/>
                </a:solidFill>
                <a:latin typeface="Calibri"/>
              </a:rPr>
              <a:t>Even after every statistical adjustment, about 5 years of gap remain. That residual is structural.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"/>
            <a:ext cx="758952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IMAN already operates a full-ecosystem footprint in Englewood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82296"/>
            <a:ext cx="82296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C8DCC8"/>
                </a:solidFill>
                <a:latin typeface="Calibri"/>
              </a:rPr>
              <a:t>09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832104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WHAT IS ALREADY ON THE 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8CAA8C"/>
                </a:solidFill>
                <a:latin typeface="Calibri"/>
              </a:rPr>
              <a:t>IMAN 2040  •  Investor Brief  •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2697480" cy="141732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91440" cy="141732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237744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3A1A"/>
                </a:solidFill>
                <a:latin typeface="Calibri"/>
              </a:rPr>
              <a:t>IMAN Health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237744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E22"/>
                </a:solidFill>
                <a:latin typeface="Calibri"/>
              </a:rPr>
              <a:t>10,000+ patients; primary care, behavioral health, addiction medicine.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1280160"/>
            <a:ext cx="2697480" cy="141732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18688" y="1280160"/>
            <a:ext cx="91440" cy="141732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389888"/>
            <a:ext cx="237744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3A1A"/>
                </a:solidFill>
                <a:latin typeface="Calibri"/>
              </a:rPr>
              <a:t>Fresh Beat / Fresh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783080"/>
            <a:ext cx="237744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E22"/>
                </a:solidFill>
                <a:latin typeface="Calibri"/>
              </a:rPr>
              <a:t>Halal grocery + corner-store conversions on 63rd Street corridor.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25896" y="1280160"/>
            <a:ext cx="2697480" cy="141732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1280160"/>
            <a:ext cx="91440" cy="141732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1389888"/>
            <a:ext cx="237744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3A1A"/>
                </a:solidFill>
                <a:latin typeface="Calibri"/>
              </a:rPr>
              <a:t>Green ReEntry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1783080"/>
            <a:ext cx="237744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E22"/>
                </a:solidFill>
                <a:latin typeface="Calibri"/>
              </a:rPr>
              <a:t>Housing rehab + construction workforce for returning citizens.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807208"/>
            <a:ext cx="2697480" cy="141732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807208"/>
            <a:ext cx="91440" cy="141732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916936"/>
            <a:ext cx="237744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3A1A"/>
                </a:solidFill>
                <a:latin typeface="Calibri"/>
              </a:rPr>
              <a:t>Arts &amp; Culture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310128"/>
            <a:ext cx="237744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E22"/>
                </a:solidFill>
                <a:latin typeface="Calibri"/>
              </a:rPr>
              <a:t>Griot Plaza, open-air venues, cultural programming as civic anchor.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18688" y="2807208"/>
            <a:ext cx="2697480" cy="141732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18688" y="2807208"/>
            <a:ext cx="91440" cy="141732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7288" y="2916936"/>
            <a:ext cx="237744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3A1A"/>
                </a:solidFill>
                <a:latin typeface="Calibri"/>
              </a:rPr>
              <a:t>Community Organizing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3310128"/>
            <a:ext cx="237744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E22"/>
                </a:solidFill>
                <a:latin typeface="Calibri"/>
              </a:rPr>
              <a:t>Weekly civic formation; leadership pipelines from Chicago Lawn to Englewood.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25896" y="2807208"/>
            <a:ext cx="2697480" cy="141732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25896" y="2807208"/>
            <a:ext cx="91440" cy="141732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2916936"/>
            <a:ext cx="237744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3A1A"/>
                </a:solidFill>
                <a:latin typeface="Calibri"/>
              </a:rPr>
              <a:t>Regenerator /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3310128"/>
            <a:ext cx="237744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E22"/>
                </a:solidFill>
                <a:latin typeface="Calibri"/>
              </a:rPr>
              <a:t>Civic-tech platform connecting residents to benefits, jobs, services.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389120"/>
            <a:ext cx="832104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1">
                <a:solidFill>
                  <a:srgbClr val="1A3A1A"/>
                </a:solidFill>
                <a:latin typeface="Calibri"/>
              </a:rPr>
              <a:t>The 2040 ask is not to start — it is to intensify, to the density at which stacked effects appear.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"/>
            <a:ext cx="758952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Health Center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82296"/>
            <a:ext cx="82296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C8DCC8"/>
                </a:solidFill>
                <a:latin typeface="Calibri"/>
              </a:rPr>
              <a:t>10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832104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PILLAR 1 — CLINICAL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8CAA8C"/>
                </a:solidFill>
                <a:latin typeface="Calibri"/>
              </a:rPr>
              <a:t>IMAN 2040  •  Investor Brief  •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2834640" cy="320040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283464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7FBA00"/>
                </a:solidFill>
                <a:latin typeface="Calibri"/>
              </a:rPr>
              <a:t>PILLAR 1 — AT FULL DOSE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560320" cy="10058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+1.5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256032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DCC8"/>
                </a:solidFill>
                <a:latin typeface="Calibri"/>
              </a:rPr>
              <a:t>years of LE gain in the FQHC service area at full panel penetration.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2560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AABBA0"/>
                </a:solidFill>
                <a:latin typeface="Calibri"/>
              </a:rPr>
              <a:t>FQHC evidence panel (HRSA / NEJM, 2016–2024).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280160"/>
            <a:ext cx="5303520" cy="320040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417320"/>
            <a:ext cx="49377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WHAT IMAN ACTUALLY DOES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0" y="1874519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178308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Expand to 20,000 primary-care patients on the South Side.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0" y="228600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219456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Integrate behavioral health, addiction medicine, pharmacy on-site.</a:t>
            </a:r>
          </a:p>
        </p:txBody>
      </p:sp>
      <p:sp>
        <p:nvSpPr>
          <p:cNvPr id="21" name="Oval 20"/>
          <p:cNvSpPr/>
          <p:nvPr/>
        </p:nvSpPr>
        <p:spPr>
          <a:xfrm>
            <a:off x="3657600" y="269748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260604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Embedded chronic-disease coaching: BP, A1c, lipid management.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0" y="310896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01752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Link every intake to food-access, housing, and workforce referrals.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4114800"/>
            <a:ext cx="5303520" cy="36576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4114800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Full-panel FQHC evidence sits at +1.5 yr of LE gain — the anchor of the ecosystem.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"/>
            <a:ext cx="758952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Green ReEntry — housing plus workforce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82296"/>
            <a:ext cx="82296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C8DCC8"/>
                </a:solidFill>
                <a:latin typeface="Calibri"/>
              </a:rPr>
              <a:t>11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832104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PILLAR 2 — STRUCTURAL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8CAA8C"/>
                </a:solidFill>
                <a:latin typeface="Calibri"/>
              </a:rPr>
              <a:t>IMAN 2040  •  Investor Brief  •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2834640" cy="320040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283464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7FBA00"/>
                </a:solidFill>
                <a:latin typeface="Calibri"/>
              </a:rPr>
              <a:t>PILLAR 2 — AT FULL DOSE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560320" cy="10058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+2.0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256032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DCC8"/>
                </a:solidFill>
                <a:latin typeface="Calibri"/>
              </a:rPr>
              <a:t>years of LE gain in the housed-and-employed cohort (Dudley Street analog).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2560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AABBA0"/>
                </a:solidFill>
                <a:latin typeface="Calibri"/>
              </a:rPr>
              <a:t>Dudley Street Neighborhood Initiative; returning-citizen housing RCTs.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280160"/>
            <a:ext cx="5303520" cy="320040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417320"/>
            <a:ext cx="49377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WHAT IMAN ACTUALLY DOES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0" y="1874519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178308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Rehab 250 vacant homes in Englewood / Chicago Lawn over 10 years.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0" y="228600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219456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Construction workforce staffed from returning-citizen cohort.</a:t>
            </a:r>
          </a:p>
        </p:txBody>
      </p:sp>
      <p:sp>
        <p:nvSpPr>
          <p:cNvPr id="21" name="Oval 20"/>
          <p:cNvSpPr/>
          <p:nvPr/>
        </p:nvSpPr>
        <p:spPr>
          <a:xfrm>
            <a:off x="3657600" y="269748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260604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Living-wage jobs that build the neighborhood they live in.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0" y="310896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01752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Housing stability eliminates the chief driver of missed-care cycles.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4114800"/>
            <a:ext cx="5303520" cy="36576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4114800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Housing + income stability is the single largest structural lever in the stack.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"/>
            <a:ext cx="758952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Fresh Market + clinical coaching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82296"/>
            <a:ext cx="82296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C8DCC8"/>
                </a:solidFill>
                <a:latin typeface="Calibri"/>
              </a:rPr>
              <a:t>12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832104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PILLAR 3 — FOOD ACCESS DONE 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8CAA8C"/>
                </a:solidFill>
                <a:latin typeface="Calibri"/>
              </a:rPr>
              <a:t>IMAN 2040  •  Investor Brief  •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2834640" cy="320040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283464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7FBA00"/>
                </a:solidFill>
                <a:latin typeface="Calibri"/>
              </a:rPr>
              <a:t>PILLAR 3 — AT FULL DOSE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560320" cy="10058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+0.5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256032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DCC8"/>
                </a:solidFill>
                <a:latin typeface="Calibri"/>
              </a:rPr>
              <a:t>years of LE gain — contingent on clinical wraparound.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2560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AABBA0"/>
                </a:solidFill>
                <a:latin typeface="Calibri"/>
              </a:rPr>
              <a:t>Philadelphia Healthy Corner Store; 2026 produce-Rx pooled trials.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280160"/>
            <a:ext cx="5303520" cy="320040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417320"/>
            <a:ext cx="49377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WHAT IMAN ACTUALLY DOES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0" y="1874519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178308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Halal grocery + corner-store conversions across 63rd Street.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0" y="228600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219456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Produce prescriptions paired with Health Center coaching.</a:t>
            </a:r>
          </a:p>
        </p:txBody>
      </p:sp>
      <p:sp>
        <p:nvSpPr>
          <p:cNvPr id="21" name="Oval 20"/>
          <p:cNvSpPr/>
          <p:nvPr/>
        </p:nvSpPr>
        <p:spPr>
          <a:xfrm>
            <a:off x="3657600" y="269748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260604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Fresh Beat SNAP-match: subsidized purchases tied to appointments.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0" y="310896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01752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NOTE: produce prescriptions alone have ~zero effect — IMAN’s model pairs them with clinical dose.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4114800"/>
            <a:ext cx="5303520" cy="36576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4114800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Food access only moves outcomes when bundled with the clinical pillar. IMAN’s model is bundled.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"/>
            <a:ext cx="758952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Violence interruption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82296"/>
            <a:ext cx="82296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C8DCC8"/>
                </a:solidFill>
                <a:latin typeface="Calibri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832104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PILLAR 4 — COMMUNITY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8CAA8C"/>
                </a:solidFill>
                <a:latin typeface="Calibri"/>
              </a:rPr>
              <a:t>IMAN 2040  •  Investor Brief  •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2834640" cy="320040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283464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7FBA00"/>
                </a:solidFill>
                <a:latin typeface="Calibri"/>
              </a:rPr>
              <a:t>PILLAR 4 — AT FULL DOSE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560320" cy="10058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+0.7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256032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DCC8"/>
                </a:solidFill>
                <a:latin typeface="Calibri"/>
              </a:rPr>
              <a:t>years of LE gain in young-adult men at READI-level dose.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2560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AABBA0"/>
                </a:solidFill>
                <a:latin typeface="Calibri"/>
              </a:rPr>
              <a:t>Cure Violence RCTs; READI Chicago evaluation (UChicago, 2022–2024).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280160"/>
            <a:ext cx="5303520" cy="320040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417320"/>
            <a:ext cx="49377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WHAT IMAN ACTUALLY DOES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0" y="1874519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178308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Formal partnership with Cure Violence / READI Chicago.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0" y="228600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219456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Hire 8–12 interrupters from the Green ReEntry pool.</a:t>
            </a:r>
          </a:p>
        </p:txBody>
      </p:sp>
      <p:sp>
        <p:nvSpPr>
          <p:cNvPr id="21" name="Oval 20"/>
          <p:cNvSpPr/>
          <p:nvPr/>
        </p:nvSpPr>
        <p:spPr>
          <a:xfrm>
            <a:off x="3657600" y="269748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260604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Weekly shooting reviews with Health Center behavioral-health team.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0" y="310896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01752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Three-year minimum funding commitment — shorter cycles erase the effect.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4114800"/>
            <a:ext cx="5303520" cy="36576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4114800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READI-dose violence interruption cuts serious violence 40–65% — the clearest causal effect in the stack.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"/>
            <a:ext cx="758952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Barbershop blood-pressure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82296"/>
            <a:ext cx="82296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C8DCC8"/>
                </a:solidFill>
                <a:latin typeface="Calibri"/>
              </a:rPr>
              <a:t>14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832104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PILLAR 5 — CARDIOVASCULAR BEACHHEAD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8CAA8C"/>
                </a:solidFill>
                <a:latin typeface="Calibri"/>
              </a:rPr>
              <a:t>IMAN 2040  •  Investor Brief  •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2834640" cy="320040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283464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7FBA00"/>
                </a:solidFill>
                <a:latin typeface="Calibri"/>
              </a:rPr>
              <a:t>PILLAR 5 — AT FULL DOSE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560320" cy="10058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+0.8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256032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DCC8"/>
                </a:solidFill>
                <a:latin typeface="Calibri"/>
              </a:rPr>
              <a:t>years of LE gain in the Black-male population at full reach.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2560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AABBA0"/>
                </a:solidFill>
                <a:latin typeface="Calibri"/>
              </a:rPr>
              <a:t>Victor et al., NEJM 2018; replication studies 2021–2024.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280160"/>
            <a:ext cx="5303520" cy="320040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417320"/>
            <a:ext cx="49377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WHAT IMAN ACTUALLY DOES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0" y="1874519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178308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Deploy in 8–10 Black-owned barbershops on 63rd &amp; Halsted.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0" y="228600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219456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IMAN pharmacist prescribes in-shop; barbers screen during cuts.</a:t>
            </a:r>
          </a:p>
        </p:txBody>
      </p:sp>
      <p:sp>
        <p:nvSpPr>
          <p:cNvPr id="21" name="Oval 20"/>
          <p:cNvSpPr/>
          <p:nvPr/>
        </p:nvSpPr>
        <p:spPr>
          <a:xfrm>
            <a:off x="3657600" y="269748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260604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$25 voucher per completed visit drives repeat adherence.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0" y="310896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01752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64% reach BP control vs. 12% in usual care (Cedars-Sinai RCT).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4114800"/>
            <a:ext cx="5303520" cy="36576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4114800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One of the largest treatment effects ever measured in cardiology. Deployable in year 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"/>
            <a:ext cx="758952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Griot Plaza and community organizing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82296"/>
            <a:ext cx="82296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C8DCC8"/>
                </a:solidFill>
                <a:latin typeface="Calibri"/>
              </a:rPr>
              <a:t>15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832104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PILLAR 6 — THE COLLECTIVE-EFFICACY PILLAR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8CAA8C"/>
                </a:solidFill>
                <a:latin typeface="Calibri"/>
              </a:rPr>
              <a:t>IMAN 2040  •  Investor Brief  •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2834640" cy="320040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283464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560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7FBA00"/>
                </a:solidFill>
                <a:latin typeface="Calibri"/>
              </a:rPr>
              <a:t>PILLAR 6 — AT FULL DOSE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560320" cy="10058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2560320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DCC8"/>
                </a:solidFill>
                <a:latin typeface="Calibri"/>
              </a:rPr>
              <a:t>this pillar is the multiplier that makes the other five compound, rather than stack arithmetically.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25603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AABBA0"/>
                </a:solidFill>
                <a:latin typeface="Calibri"/>
              </a:rPr>
              <a:t>Sampson, Great American City; 25 years of Chicago PHDCN data.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280160"/>
            <a:ext cx="5303520" cy="320040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1417320"/>
            <a:ext cx="49377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WHAT IMAN ACTUALLY DOES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0" y="1874519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178308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Open-air plaza + performance venue as daily neighborhood anchor.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0" y="228600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219456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Weekly civic formation: leadership pipelines, youth programming.</a:t>
            </a:r>
          </a:p>
        </p:txBody>
      </p:sp>
      <p:sp>
        <p:nvSpPr>
          <p:cNvPr id="21" name="Oval 20"/>
          <p:cNvSpPr/>
          <p:nvPr/>
        </p:nvSpPr>
        <p:spPr>
          <a:xfrm>
            <a:off x="3657600" y="269748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260604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Arts programming that brings 20,000+ residents through the block/yr.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0" y="3108960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017520"/>
            <a:ext cx="470916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62E22"/>
                </a:solidFill>
                <a:latin typeface="Calibri"/>
              </a:rPr>
              <a:t>Mosque + Health Center + Plaza + Market together = the anchoring ecology Sampson documents.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4114800"/>
            <a:ext cx="5303520" cy="36576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4114800"/>
            <a:ext cx="49377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There is no “program” for collective efficacy — only the cumulative effect of dense, durable institutions.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"/>
            <a:ext cx="758952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What to promise — and what not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82296"/>
            <a:ext cx="82296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C8DCC8"/>
                </a:solidFill>
                <a:latin typeface="Calibri"/>
              </a:rPr>
              <a:t>16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832104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THE DEFENSIBLE PROJECTION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8CAA8C"/>
                </a:solidFill>
                <a:latin typeface="Calibri"/>
              </a:rPr>
              <a:t>IMAN 2040  •  Investor Brief  •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8321040" cy="128016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7FBA00"/>
                </a:solidFill>
                <a:latin typeface="Calibri"/>
              </a:rPr>
              <a:t>AT FULL BUILD-OUT, OVER 10–15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7863840" cy="7772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3 to 5 years of life-expectancy gain in a majority-Black neighborhood.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43200"/>
            <a:ext cx="4069080" cy="178308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743200"/>
            <a:ext cx="4069080" cy="329184"/>
          </a:xfrm>
          <a:prstGeom prst="rect">
            <a:avLst/>
          </a:prstGeom>
          <a:solidFill>
            <a:srgbClr val="2D5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37947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WHY NOT MORE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54680"/>
            <a:ext cx="379476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E22"/>
                </a:solidFill>
                <a:latin typeface="Calibri"/>
              </a:rPr>
              <a:t>7–10 year numbers come from immigrant enclaves whose longevity reflects culturally-bounded diet, immigration selection, and the ‘returning-home’ effect that statistically inflates measured longevity. Structural features transfer. Demographic tailwinds do not.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743200"/>
            <a:ext cx="4069080" cy="178308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2743200"/>
            <a:ext cx="4069080" cy="329184"/>
          </a:xfrm>
          <a:prstGeom prst="rect">
            <a:avLst/>
          </a:prstGeom>
          <a:solidFill>
            <a:srgbClr val="2D5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743200"/>
            <a:ext cx="3794760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WHY NOT LESS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154680"/>
            <a:ext cx="379476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62E22"/>
                </a:solidFill>
                <a:latin typeface="Calibri"/>
              </a:rPr>
              <a:t>Stacked-intervention literature, adjacent evidence from Little Village, and dose-response curves from every single-intervention RCT point in the same direction. 3–5 years is the floor of the defensible range, not a ceiling.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2296"/>
            <a:ext cx="758952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Three nested layers. Three audiences. One number that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82296"/>
            <a:ext cx="822960" cy="6492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 i="0">
                <a:solidFill>
                  <a:srgbClr val="C8DCC8"/>
                </a:solidFill>
                <a:latin typeface="Calibri"/>
              </a:rPr>
              <a:t>17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832104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HOW WE WILL 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82896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8CAA8C"/>
                </a:solidFill>
                <a:latin typeface="Calibri"/>
              </a:rPr>
              <a:t>IMAN 2040  •  Investor Brief  •  April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80160"/>
            <a:ext cx="2697480" cy="329184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2697480" cy="50292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242316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7FBA00"/>
                </a:solidFill>
                <a:latin typeface="Calibri"/>
              </a:rPr>
              <a:t>QUARTERLY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0239"/>
            <a:ext cx="24231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FOR THE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40280"/>
            <a:ext cx="2423160" cy="1965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62E22"/>
                </a:solidFill>
                <a:latin typeface="Calibri"/>
              </a:rPr>
              <a:t>BP control, ED visits for ambulatory-care-sensitive conditions, fresh-produce share of Fresh Market sales, housing placements, monthly homicides &amp; shootings in the service area.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69080"/>
            <a:ext cx="2423160" cy="36576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69080"/>
            <a:ext cx="24231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7FBA00"/>
                </a:solidFill>
                <a:latin typeface="Calibri"/>
              </a:rPr>
              <a:t>moves in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8688" y="1280160"/>
            <a:ext cx="2697480" cy="329184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18688" y="1280160"/>
            <a:ext cx="2697480" cy="50292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1371600"/>
            <a:ext cx="242316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7FBA00"/>
                </a:solidFill>
                <a:latin typeface="Calibri"/>
              </a:rPr>
              <a:t>SYNTHETIC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1920239"/>
            <a:ext cx="24231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FOR FUNDERS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2240280"/>
            <a:ext cx="2423160" cy="1965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62E22"/>
                </a:solidFill>
                <a:latin typeface="Calibri"/>
              </a:rPr>
              <a:t>From 2028: is Englewood diverging from its 16 peer communities (South Side Chicago, West Detroit, Memphis, Jackson, East St. Louis, Flint, Youngstown, …)? Direction + magnitude of divergence separates IMAN from macro drift.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55848" y="4069080"/>
            <a:ext cx="2423160" cy="36576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5848" y="4069080"/>
            <a:ext cx="24231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7FBA00"/>
                </a:solidFill>
                <a:latin typeface="Calibri"/>
              </a:rPr>
              <a:t>moves in years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25896" y="1280160"/>
            <a:ext cx="2697480" cy="3291840"/>
          </a:xfrm>
          <a:prstGeom prst="rect">
            <a:avLst/>
          </a:prstGeom>
          <a:solidFill>
            <a:srgbClr val="EB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25896" y="1280160"/>
            <a:ext cx="2697480" cy="50292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1371600"/>
            <a:ext cx="2423160" cy="320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7FBA00"/>
                </a:solidFill>
                <a:latin typeface="Calibri"/>
              </a:rPr>
              <a:t>LE RESIDUAL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1920239"/>
            <a:ext cx="24231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A6B5A"/>
                </a:solidFill>
                <a:latin typeface="Calibri"/>
              </a:rPr>
              <a:t>FOR THE HISTORICAL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2240280"/>
            <a:ext cx="2423160" cy="1965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62E22"/>
                </a:solidFill>
                <a:latin typeface="Calibri"/>
              </a:rPr>
              <a:t>When the successor to USALEEP ships (≈2030): did Englewood’s actual life expectancy end up higher than its poverty, race, insurance, and unemployment profile predicted? That is the number the work will be remembered by.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3056" y="4069080"/>
            <a:ext cx="2423160" cy="36576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4069080"/>
            <a:ext cx="242316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7FBA00"/>
                </a:solidFill>
                <a:latin typeface="Calibri"/>
              </a:rPr>
              <a:t>moves in a decade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645152"/>
            <a:ext cx="8321040" cy="20116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5A6B5A"/>
                </a:solidFill>
                <a:latin typeface="Calibri"/>
              </a:rPr>
              <a:t>Leading indicators every quarter. Lagging outcome once a decade. The board doesn’t wait for the historical record.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7772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7FBA00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5486400" cy="146304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Calibri"/>
              </a:rPr>
              <a:t>$25M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7772400" cy="4114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C8DCC8"/>
                </a:solidFill>
                <a:latin typeface="Calibri"/>
              </a:rPr>
              <a:t>catalytic capital to intensify the ecosystem to stacked-evidence density.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834640"/>
            <a:ext cx="3200400" cy="36576"/>
          </a:xfrm>
          <a:prstGeom prst="rect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3099815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777240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Fund the ecosystem, not the program.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447287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64991"/>
            <a:ext cx="777240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Give it ten to fifteen years, not three.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794759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12463"/>
            <a:ext cx="777240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Measure the lagging outcome, but watch the leading indicators every quarter.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142231"/>
            <a:ext cx="91440" cy="91440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59935"/>
            <a:ext cx="7772400" cy="29260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Compare Englewood to the communities it actually resembles.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754880"/>
            <a:ext cx="7772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8DCC8"/>
                </a:solidFill>
                <a:latin typeface="Calibri"/>
              </a:rPr>
              <a:t>Inner-City Muslim Action Network   •   Englewood, Chicago   • 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