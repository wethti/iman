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INNER-CITY MUSLIM ACTION NETWORK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 Knowledge Map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Milestones Complete: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C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Research-to-Action Infrastructure Is Built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2926080"/>
            <a:ext cx="4114800" cy="36576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0906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Chicago, IL  ·  April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2377440" cy="3474720"/>
          </a:xfrm>
          <a:prstGeom prst="rect">
            <a:avLst/>
          </a:prstGeom>
          <a:solidFill>
            <a:srgbClr val="0F2A0F"/>
          </a:solidFill>
          <a:ln w="12700">
            <a:solidFill>
              <a:srgbClr val="2A4A2A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583680" y="731520"/>
            <a:ext cx="2377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3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589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This Deck Answers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0" y="64008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475488" cy="475488"/>
          </a:xfrm>
          <a:prstGeom prst="ellipse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133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solving?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30-year life expectancy gap and the bottleneck between evidence and action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4617720" cy="0"/>
          </a:xfrm>
          <a:prstGeom prst="line">
            <a:avLst/>
          </a:prstGeom>
          <a:noFill/>
          <a:ln w="6350">
            <a:solidFill>
              <a:srgbClr val="AABB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103120"/>
            <a:ext cx="475488" cy="475488"/>
          </a:xfrm>
          <a:prstGeom prst="ellipse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0939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been built so far?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377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milestones: structured research library, cloud access, team environment, IMAN data integration, and expert outreach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862072"/>
            <a:ext cx="4617720" cy="0"/>
          </a:xfrm>
          <a:prstGeom prst="line">
            <a:avLst/>
          </a:prstGeom>
          <a:noFill/>
          <a:ln w="6350">
            <a:solidFill>
              <a:srgbClr val="AABB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063240"/>
            <a:ext cx="475488" cy="475488"/>
          </a:xfrm>
          <a:prstGeom prst="ellipse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63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054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3375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capabilities in development to fully operationalize the system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822192"/>
            <a:ext cx="4617720" cy="0"/>
          </a:xfrm>
          <a:prstGeom prst="line">
            <a:avLst/>
          </a:prstGeom>
          <a:noFill/>
          <a:ln w="6350">
            <a:solidFill>
              <a:srgbClr val="AABB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960120"/>
            <a:ext cx="3474720" cy="3401568"/>
          </a:xfrm>
          <a:prstGeom prst="rect">
            <a:avLst/>
          </a:prstGeom>
          <a:solidFill>
            <a:srgbClr val="E3EAE0"/>
          </a:solidFill>
          <a:ln w="12700">
            <a:solidFill>
              <a:srgbClr val="AABBA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440680" y="1097280"/>
            <a:ext cx="320040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A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 Knowledge Map  ·  Progress Report  ·  April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589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30-Year Life Expectancy Gap Demands Faster Research-to-Action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0" y="64008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4617720" cy="713232"/>
          </a:xfrm>
          <a:prstGeom prst="rect">
            <a:avLst/>
          </a:prstGeom>
          <a:solidFill>
            <a:srgbClr val="162E16"/>
          </a:solidFill>
          <a:ln w="12700">
            <a:solidFill>
              <a:srgbClr val="162E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33272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gap, defined: </a:t>
            </a:r>
            <a:pPr algn="l" indent="0" marL="0">
              <a:buNone/>
            </a:pPr>
            <a:r>
              <a:rPr lang="en-US" sz="1150" dirty="0">
                <a:solidFill>
                  <a:srgbClr val="C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of Englewood and Chicago Lawn (South Side) live on average 30 fewer years than residents of Streeterville — a 5-mile drive away.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892808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 not a lack of evidence — it is the speed of connecting evidence to action: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350008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is scattered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studies across journals, databases, and grey literature — no single place to look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3172968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is slow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the highest-impact intervention for one domain takes weeks of literature review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3995928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decisions require rare expertise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funding, programming, and evidence across 9 domains simultaneously requires a team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3520" y="960120"/>
            <a:ext cx="3474720" cy="3401568"/>
          </a:xfrm>
          <a:prstGeom prst="rect">
            <a:avLst/>
          </a:prstGeom>
          <a:solidFill>
            <a:srgbClr val="E3EAE0"/>
          </a:solidFill>
          <a:ln w="12700">
            <a:solidFill>
              <a:srgbClr val="AABBA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440680" y="1097280"/>
            <a:ext cx="320040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(Life expectancy map 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visualization)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A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 Knowledge Map  ·  Progress Report  ·  April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589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Map Connects 250 Studies to Decisions in Seconds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0" y="64008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03327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Map, defined: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07592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database of peer-reviewed research, organized by intervention domain, with quantified life-expectancy impact estimates and cost ranges — so any team member can find the best evidence for a decision in seconds, not weeks.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103120"/>
            <a:ext cx="4617720" cy="0"/>
          </a:xfrm>
          <a:prstGeom prst="line">
            <a:avLst/>
          </a:prstGeom>
          <a:noFill/>
          <a:ln w="6350">
            <a:solidFill>
              <a:srgbClr val="AABB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9456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 intervention domains covered: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852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&amp; Community Building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Access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Youth Development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813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&amp; Transit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852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Recreation &amp; Community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3172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City Projects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 Initiatives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0" y="960120"/>
            <a:ext cx="3474720" cy="3401568"/>
          </a:xfrm>
          <a:prstGeom prst="rect">
            <a:avLst/>
          </a:prstGeom>
          <a:solidFill>
            <a:srgbClr val="E3EAE0"/>
          </a:solidFill>
          <a:ln w="12700">
            <a:solidFill>
              <a:srgbClr val="AABBA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440680" y="1097280"/>
            <a:ext cx="320040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(Knowledge Map folder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or diagram)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A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 Knowledge Map  ·  Progress Report  ·  April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589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1: 250 Studies Are Organized, Categorized, and Listenable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0" y="64008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03327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peer-reviewed studies and articles downloaded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PDF per study, filed by domain — no duplicates, no dead links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across 9 intervention domains with impact estimates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study tagged by topic, evidence quality, and life-expectancy impact estimate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3200400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audio podcast generated per study using NotebookLM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tool that converts each PDF into a 10–15 min conversational audio summary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4178808"/>
            <a:ext cx="4617720" cy="530352"/>
          </a:xfrm>
          <a:prstGeom prst="rect">
            <a:avLst/>
          </a:prstGeom>
          <a:solidFill>
            <a:srgbClr val="162E16"/>
          </a:solidFill>
          <a:ln w="12700">
            <a:solidFill>
              <a:srgbClr val="162E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17880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studies  ·  9 domains  ·  250 audio podcasts generated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3520" y="960120"/>
            <a:ext cx="3474720" cy="3401568"/>
          </a:xfrm>
          <a:prstGeom prst="rect">
            <a:avLst/>
          </a:prstGeom>
          <a:solidFill>
            <a:srgbClr val="E3EAE0"/>
          </a:solidFill>
          <a:ln w="12700">
            <a:solidFill>
              <a:srgbClr val="AABBA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440680" y="1097280"/>
            <a:ext cx="320040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(NotebookLM interface 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A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 Knowledge Map  ·  Progress Report  ·  April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589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2: The Full Library Is Accessible From One Google Drive Link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0" y="64008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03327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250 PDFs and audio podcasts uploaded to Google Drive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in the same 9-domain folder structure as the knowledge map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any team member with a shared link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 or technical setup — any web browser works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3200400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the entire research library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Additions and updates are reflected immediately for all users with access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4178808"/>
            <a:ext cx="4617720" cy="530352"/>
          </a:xfrm>
          <a:prstGeom prst="rect">
            <a:avLst/>
          </a:prstGeom>
          <a:solidFill>
            <a:srgbClr val="162E16"/>
          </a:solidFill>
          <a:ln w="12700">
            <a:solidFill>
              <a:srgbClr val="162E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17880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  ·  Full library  ·  Always up to date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3520" y="960120"/>
            <a:ext cx="3474720" cy="3401568"/>
          </a:xfrm>
          <a:prstGeom prst="rect">
            <a:avLst/>
          </a:prstGeom>
          <a:solidFill>
            <a:srgbClr val="E3EAE0"/>
          </a:solidFill>
          <a:ln w="12700">
            <a:solidFill>
              <a:srgbClr val="AABBA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440680" y="1097280"/>
            <a:ext cx="320040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 Drive folder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A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 Knowledge Map  ·  Progress Report  ·  April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589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3: A 7-Person Team Can Now Build Evidence-Based Deliverables in Minutes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0" y="64008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03327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map pushed to GitHub — a shared, version-controlled codebase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tracked and reversible; no one overwrites anyone else's work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environment provisioned for 7 consultants and IMAN staff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gets an AI assistant that reads the full knowledge map and generates reports on demand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3200400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Research-to-deliverable time reduced from days to minutes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funding brief drawing on 3 domains of evidence can be drafted in a single AI prompt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4178808"/>
            <a:ext cx="4617720" cy="530352"/>
          </a:xfrm>
          <a:prstGeom prst="rect">
            <a:avLst/>
          </a:prstGeom>
          <a:solidFill>
            <a:srgbClr val="162E16"/>
          </a:solidFill>
          <a:ln w="12700">
            <a:solidFill>
              <a:srgbClr val="162E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17880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consultants  ·  IMAN staff  ·  One shared AI environment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3520" y="960120"/>
            <a:ext cx="3474720" cy="3401568"/>
          </a:xfrm>
          <a:prstGeom prst="rect">
            <a:avLst/>
          </a:prstGeom>
          <a:solidFill>
            <a:srgbClr val="E3EAE0"/>
          </a:solidFill>
          <a:ln w="12700">
            <a:solidFill>
              <a:srgbClr val="AABBA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440680" y="1097280"/>
            <a:ext cx="320040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(GitHub repo or Claude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interface)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A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 Knowledge Map  ·  Progress Report  ·  April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589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4: IMAN's Own Program Data Is Now Searchable Alongside External Research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0" y="64008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03327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IMAN's collected program data added to the Data Library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IMAN initiative profiles, outcomes data, and program documentation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 is now queryable alongside peer-reviewed evidence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can cross-reference IMAN's program results against the evidence base in one query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3200400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direct comparison: what IMAN does vs. what research recommends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gaps, validates current programs, and identifies new opportunities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4178808"/>
            <a:ext cx="4617720" cy="530352"/>
          </a:xfrm>
          <a:prstGeom prst="rect">
            <a:avLst/>
          </a:prstGeom>
          <a:solidFill>
            <a:srgbClr val="162E16"/>
          </a:solidFill>
          <a:ln w="12700">
            <a:solidFill>
              <a:srgbClr val="162E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17880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 programs  ·  IMAN outcomes  ·  250 cross-referenced studies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3520" y="960120"/>
            <a:ext cx="3474720" cy="3401568"/>
          </a:xfrm>
          <a:prstGeom prst="rect">
            <a:avLst/>
          </a:prstGeom>
          <a:solidFill>
            <a:srgbClr val="E3EAE0"/>
          </a:solidFill>
          <a:ln w="12700">
            <a:solidFill>
              <a:srgbClr val="AABBA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440680" y="1097280"/>
            <a:ext cx="320040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Library folder 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IMANinitiative profile)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A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 Knowledge Map  ·  Progress Report  ·  April 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589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5: SME Outreach Underway — 200 of 700 Experts Contacted So Far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0" y="64008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03327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of 700 identified subject-matter experts (SMEs) contacted by email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Researchers, practitioners, and policy experts across the 9 intervention domains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designed to capture insights that published research lags behind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studies lag real-world practice by 3–7 years; expert input closes that gap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3200400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additional experts remain in the contact pipeline — outreach is ongoing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responses will be integrated as a curated expert insights layer alongside the research evidence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4178808"/>
            <a:ext cx="4617720" cy="530352"/>
          </a:xfrm>
          <a:prstGeom prst="rect">
            <a:avLst/>
          </a:prstGeom>
          <a:solidFill>
            <a:srgbClr val="162E16"/>
          </a:solidFill>
          <a:ln w="12700">
            <a:solidFill>
              <a:srgbClr val="162E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17880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contacted  ·  500 remaining  ·  Outreach ongoing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3520" y="960120"/>
            <a:ext cx="3474720" cy="3401568"/>
          </a:xfrm>
          <a:prstGeom prst="rect">
            <a:avLst/>
          </a:prstGeom>
          <a:solidFill>
            <a:srgbClr val="E3EAE0"/>
          </a:solidFill>
          <a:ln w="12700">
            <a:solidFill>
              <a:srgbClr val="AABBA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440680" y="1097280"/>
            <a:ext cx="320040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(Email template 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contact list)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A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 Knowledge Map  ·  Progress Report  ·  April 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589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Milestones Complete as of April 2026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0" y="64008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2651760"/>
            <a:ext cx="7589520" cy="0"/>
          </a:xfrm>
          <a:prstGeom prst="line">
            <a:avLst/>
          </a:prstGeom>
          <a:noFill/>
          <a:ln w="38100">
            <a:solidFill>
              <a:srgbClr val="1A3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468880"/>
            <a:ext cx="365760" cy="365760"/>
          </a:xfrm>
          <a:prstGeom prst="ellipse">
            <a:avLst/>
          </a:prstGeom>
          <a:solidFill>
            <a:srgbClr val="7FBA00"/>
          </a:solidFill>
          <a:ln w="25400">
            <a:solidFill>
              <a:srgbClr val="1A3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1965960"/>
            <a:ext cx="0" cy="502920"/>
          </a:xfrm>
          <a:prstGeom prst="line">
            <a:avLst/>
          </a:prstGeom>
          <a:noFill/>
          <a:ln w="12700">
            <a:solidFill>
              <a:srgbClr val="AABB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" y="1353312"/>
            <a:ext cx="14996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" y="2944368"/>
            <a:ext cx="1499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PDFs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domains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podcasts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2468880"/>
            <a:ext cx="365760" cy="365760"/>
          </a:xfrm>
          <a:prstGeom prst="ellipse">
            <a:avLst/>
          </a:prstGeom>
          <a:solidFill>
            <a:srgbClr val="7FBA00"/>
          </a:solidFill>
          <a:ln w="25400">
            <a:solidFill>
              <a:srgbClr val="1A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51760" y="1965960"/>
            <a:ext cx="0" cy="502920"/>
          </a:xfrm>
          <a:prstGeom prst="line">
            <a:avLst/>
          </a:prstGeom>
          <a:noFill/>
          <a:ln w="12700">
            <a:solidFill>
              <a:srgbClr val="AABB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01952" y="1353312"/>
            <a:ext cx="14996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01952" y="2944368"/>
            <a:ext cx="1499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all users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0" y="2468880"/>
            <a:ext cx="365760" cy="365760"/>
          </a:xfrm>
          <a:prstGeom prst="ellipse">
            <a:avLst/>
          </a:prstGeom>
          <a:solidFill>
            <a:srgbClr val="7FBA00"/>
          </a:solidFill>
          <a:ln w="25400">
            <a:solidFill>
              <a:srgbClr val="1A3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1965960"/>
            <a:ext cx="0" cy="502920"/>
          </a:xfrm>
          <a:prstGeom prst="line">
            <a:avLst/>
          </a:prstGeom>
          <a:noFill/>
          <a:ln w="12700">
            <a:solidFill>
              <a:srgbClr val="AABB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1353312"/>
            <a:ext cx="14996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22192" y="2944368"/>
            <a:ext cx="1499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consultants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IMAN staff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09360" y="2468880"/>
            <a:ext cx="365760" cy="365760"/>
          </a:xfrm>
          <a:prstGeom prst="ellipse">
            <a:avLst/>
          </a:prstGeom>
          <a:solidFill>
            <a:srgbClr val="7FBA00"/>
          </a:solidFill>
          <a:ln w="25400">
            <a:solidFill>
              <a:srgbClr val="1A3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1965960"/>
            <a:ext cx="0" cy="502920"/>
          </a:xfrm>
          <a:prstGeom prst="line">
            <a:avLst/>
          </a:prstGeom>
          <a:noFill/>
          <a:ln w="12700">
            <a:solidFill>
              <a:srgbClr val="AABB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1353312"/>
            <a:ext cx="14996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42432" y="2944368"/>
            <a:ext cx="1499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the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83880" y="2468880"/>
            <a:ext cx="365760" cy="365760"/>
          </a:xfrm>
          <a:prstGeom prst="ellipse">
            <a:avLst/>
          </a:prstGeom>
          <a:solidFill>
            <a:srgbClr val="7FBA00"/>
          </a:solidFill>
          <a:ln w="25400">
            <a:solidFill>
              <a:srgbClr val="1A3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838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66760" y="1965960"/>
            <a:ext cx="0" cy="502920"/>
          </a:xfrm>
          <a:prstGeom prst="line">
            <a:avLst/>
          </a:prstGeom>
          <a:noFill/>
          <a:ln w="12700">
            <a:solidFill>
              <a:srgbClr val="AABB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16952" y="1353312"/>
            <a:ext cx="14996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16952" y="2944368"/>
            <a:ext cx="1499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of 700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contacts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(ongoing)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971800" y="4315968"/>
            <a:ext cx="3200400" cy="411480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1800" y="43159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milestones complete  ·  April 2026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A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 Knowledge Map  ·  Progress Report  ·  April 2026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589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Workstreams Built, Two In Progress — One Pending IMAN Input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0" y="64008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042416"/>
            <a:ext cx="384048" cy="530352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42416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05256" y="1042416"/>
            <a:ext cx="4123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— Built, Being Refined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05256" y="1298448"/>
            <a:ext cx="4123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skills developed and deployed; currently being refined and polished for consistent production use across the team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384048" cy="530352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55648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05256" y="1755648"/>
            <a:ext cx="4123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BPMNs Created — Research + Network Expansion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05256" y="2011680"/>
            <a:ext cx="4123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 Researcher research workflow and network expansion / lead-generation workflow are mapped and documented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468880"/>
            <a:ext cx="384048" cy="530352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6888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5256" y="2468880"/>
            <a:ext cx="4123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 Researcher Job Description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5256" y="2724912"/>
            <a:ext cx="4123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drafted after reviewing IMAN's corporate structure and existing role formats — flagged for discussion at next meeting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182112"/>
            <a:ext cx="384048" cy="530352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82112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B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5256" y="3182112"/>
            <a:ext cx="4123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Newsletter From the Knowledge Base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05256" y="3438144"/>
            <a:ext cx="4123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newsletter that scans the database for new evidence and opportunities, then surfaces project ideas for IMAN staff — in development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03520" y="960120"/>
            <a:ext cx="3474720" cy="3401568"/>
          </a:xfrm>
          <a:prstGeom prst="rect">
            <a:avLst/>
          </a:prstGeom>
          <a:solidFill>
            <a:srgbClr val="E3EAE0"/>
          </a:solidFill>
          <a:ln w="12700">
            <a:solidFill>
              <a:srgbClr val="AABBA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440680" y="1097280"/>
            <a:ext cx="320040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(Roadmap, process flow,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A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next-step diagram)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A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 Knowledge Map  ·  Progress Report  ·  April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IMAN Knowledge Map: Progress Report</dc:title>
  <dc:subject>PptxGenJS Presentation</dc:subject>
  <dc:creator>PptxGenJS</dc:creator>
  <cp:lastModifiedBy>PptxGenJS</cp:lastModifiedBy>
  <cp:revision>1</cp:revision>
  <dcterms:created xsi:type="dcterms:W3CDTF">2026-04-05T03:50:11Z</dcterms:created>
  <dcterms:modified xsi:type="dcterms:W3CDTF">2026-04-05T03:50:11Z</dcterms:modified>
</cp:coreProperties>
</file>