
<file path=[Content_Types].xml><?xml version="1.0" encoding="utf-8"?>
<Types xmlns="http://schemas.openxmlformats.org/package/2006/content-types">
  <Default Extension="tiff" ContentType="image/tiff"/>
  <Default Extension="png" ContentType="image/png"/>
  <Default Extension="rels" ContentType="application/vnd.openxmlformats-package.relationships+xml"/>
  <Default Extension="xml" ContentType="application/xml"/>
  <Override PartName="/ppt/theme/theme2.xml" ContentType="application/vnd.openxmlformats-officedocument.theme+xml"/>
  <Override PartName="/ppt/theme/theme1.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strictFirstAndLastChars="0" saveSubsetFonts="1">
  <p:sldMasterIdLst>
    <p:sldMasterId id="2147483648" r:id="rId1"/>
  </p:sldMasterIdLst>
  <p:notesMasterIdLst>
    <p:notesMasterId r:id="rId10"/>
  </p:notesMasterIdLst>
  <p:sldIdLst>
    <p:sldId id="265" r:id="rId2"/>
    <p:sldId id="266" r:id="rId3"/>
    <p:sldId id="267" r:id="rId4"/>
    <p:sldId id="268" r:id="rId5"/>
    <p:sldId id="269" r:id="rId6"/>
    <p:sldId id="270" r:id="rId7"/>
    <p:sldId id="271" r:id="rId8"/>
    <p:sldId id="263" r:id="rId9"/>
  </p:sldIdLst>
  <p:sldSz cx="10080625" cy="7559675"/>
  <p:notesSz cx="7772400" cy="10058400"/>
  <p:defaultTextStyle>
    <a:defPPr>
      <a:defRPr lang="en-GB"/>
    </a:defPPr>
    <a:lvl1pPr algn="l" rtl="0" eaLnBrk="0" fontAlgn="base" hangingPunct="0">
      <a:spcBef>
        <a:spcPct val="0"/>
      </a:spcBef>
      <a:spcAft>
        <a:spcPct val="0"/>
      </a:spcAft>
      <a:defRPr sz="2400" kern="1200">
        <a:solidFill>
          <a:schemeClr val="tx1"/>
        </a:solidFill>
        <a:latin typeface="Times New Roman" pitchFamily="16"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6"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6"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6"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6" charset="0"/>
        <a:ea typeface="+mn-ea"/>
        <a:cs typeface="+mn-cs"/>
      </a:defRPr>
    </a:lvl5pPr>
    <a:lvl6pPr marL="2286000" algn="l" defTabSz="914400" rtl="0" eaLnBrk="1" latinLnBrk="0" hangingPunct="1">
      <a:defRPr sz="2400" kern="1200">
        <a:solidFill>
          <a:schemeClr val="tx1"/>
        </a:solidFill>
        <a:latin typeface="Times New Roman" pitchFamily="16" charset="0"/>
        <a:ea typeface="+mn-ea"/>
        <a:cs typeface="+mn-cs"/>
      </a:defRPr>
    </a:lvl6pPr>
    <a:lvl7pPr marL="2743200" algn="l" defTabSz="914400" rtl="0" eaLnBrk="1" latinLnBrk="0" hangingPunct="1">
      <a:defRPr sz="2400" kern="1200">
        <a:solidFill>
          <a:schemeClr val="tx1"/>
        </a:solidFill>
        <a:latin typeface="Times New Roman" pitchFamily="16" charset="0"/>
        <a:ea typeface="+mn-ea"/>
        <a:cs typeface="+mn-cs"/>
      </a:defRPr>
    </a:lvl7pPr>
    <a:lvl8pPr marL="3200400" algn="l" defTabSz="914400" rtl="0" eaLnBrk="1" latinLnBrk="0" hangingPunct="1">
      <a:defRPr sz="2400" kern="1200">
        <a:solidFill>
          <a:schemeClr val="tx1"/>
        </a:solidFill>
        <a:latin typeface="Times New Roman" pitchFamily="16" charset="0"/>
        <a:ea typeface="+mn-ea"/>
        <a:cs typeface="+mn-cs"/>
      </a:defRPr>
    </a:lvl8pPr>
    <a:lvl9pPr marL="3657600" algn="l" defTabSz="914400" rtl="0" eaLnBrk="1" latinLnBrk="0" hangingPunct="1">
      <a:defRPr sz="2400" kern="1200">
        <a:solidFill>
          <a:schemeClr val="tx1"/>
        </a:solidFill>
        <a:latin typeface="Times New Roman" pitchFamily="16"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32" autoAdjust="0"/>
  </p:normalViewPr>
  <p:slideViewPr>
    <p:cSldViewPr>
      <p:cViewPr varScale="1">
        <p:scale>
          <a:sx n="55" d="100"/>
          <a:sy n="55" d="100"/>
        </p:scale>
        <p:origin x="-104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8028800" cy="78028800"/>
</p:viewPr>
</file>

<file path=ppt/_rels/presentation.xml.rels><Relationships xmlns="http://schemas.openxmlformats.org/package/2006/relationships"><Relationship Id="rId10" Type="http://schemas.openxmlformats.org/officeDocument/2006/relationships/notesMaster" Target="notesMasters/notesMaster1.xml"/><Relationship Id="rId14" Type="http://schemas.openxmlformats.org/officeDocument/2006/relationships/tableStyles" Target="tableStyles.xml"/><Relationship Id="rId1" Type="http://schemas.openxmlformats.org/officeDocument/2006/relationships/slideMaster" Target="slideMasters/slideMaster1.xml"/><Relationship Id="rId13" Type="http://schemas.openxmlformats.org/officeDocument/2006/relationships/theme" Target="theme/theme1.xml"/><Relationship Id="rId12" Type="http://schemas.openxmlformats.org/officeDocument/2006/relationships/viewProps" Target="viewProps.xml"/><Relationship Id="rId11" Type="http://schemas.openxmlformats.org/officeDocument/2006/relationships/presProps" Target="presProp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w="9525">
            <a:solidFill>
              <a:srgbClr val="000000"/>
            </a:solidFill>
            <a:miter lim="800000"/>
            <a:headEnd/>
            <a:tailEnd/>
          </a:ln>
          <a:effectLst/>
        </p:spPr>
      </p:sp>
      <p:sp>
        <p:nvSpPr>
          <p:cNvPr id="2050" name="Rectangle 2"/>
          <p:cNvSpPr txBox="1">
            <a:spLocks noGrp="1" noChangeArrowheads="1"/>
          </p:cNvSpPr>
          <p:nvPr>
            <p:ph type="body" idx="1"/>
          </p:nvPr>
        </p:nvSpPr>
        <p:spPr bwMode="auto">
          <a:xfrm>
            <a:off x="1185863" y="4787900"/>
            <a:ext cx="5407025" cy="3825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smtClean="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Relationships xmlns="http://schemas.openxmlformats.org/package/2006/relationships"><Relationship Id="rId1" Type="http://schemas.openxmlformats.org/officeDocument/2006/relationships/notesMaster" Target="../notesMasters/notesMaster1.xml"/><Relationship Id="rId3"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notesMaster" Target="../notesMasters/notesMaster1.xml"/><Relationship Id="rId4"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notesMaster" Target="../notesMasters/notesMaster1.xml"/><Relationship Id="rId5"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notesMaster" Target="../notesMasters/notesMaster1.xml"/><Relationship Id="rId6"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notesMaster" Target="../notesMasters/notesMaster1.xml"/><Relationship Id="rId7"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notesMaster" Target="../notesMasters/notesMaster1.xml"/><Relationship Id="rId8" Type="http://schemas.openxmlformats.org/officeDocument/2006/relationships/slide" Target="../slides/slide7.xml"/></Relationships>

</file>

<file path=ppt/notesSlides/_rels/notesSlide8.xml.rels><Relationships xmlns="http://schemas.openxmlformats.org/package/2006/relationships"><Relationship Id="rId1" Type="http://schemas.openxmlformats.org/officeDocument/2006/relationships/notesMaster" Target="../notesMasters/notesMaster1.xml"/><Relationship Id="rId9"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1266"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2290"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1 Screening, Enrollment, and Follow-up of Barbershop Patrons. Other exclusion criteria included infrequent barbershop patronage (duration of &lt;6 months or more than every 6 weeks between visits), an age younger than 35 years or older than 79 years, current treatment with dialysis or cancer chemotherapy, or plans to relocate.</a:t>
            </a:r>
            <a:endParaRPr lang="en-GB" dirty="0">
              <a:latin typeface="Arial" charset="0"/>
              <a:ea typeface="Gothic" charset="0"/>
              <a:cs typeface="Gothic" charset="0"/>
            </a:endParaRP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2 Systolic Blood Pressure at Baseline and 6 Months According to Barbershop Cluster. Shown are box plots for systolic blood pressure according to barbershop cluster. The horizontal line inside each box indicates the median, the diamond indicates the mean, and the bottom and top of each box indicate the 25th percentile and 75th percentile, respectively. 𝙸 bars indicate the upper adjacent value (75th percentile plus 1.5 times the interquartile range) and the lower adjacent value (25th percentile minus 1.5 times the interquartile range), and the circles outliers.</a:t>
            </a:r>
            <a:endParaRPr lang="en-GB" dirty="0">
              <a:latin typeface="Arial" charset="0"/>
              <a:ea typeface="Gothic" charset="0"/>
              <a:cs typeface="Gothic" charset="0"/>
            </a:endParaRP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1 Baseline Characteristics of the Barbershops and Trial Participants.</a:t>
            </a:r>
            <a:endParaRPr lang="en-GB" dirty="0">
              <a:latin typeface="Arial" charset="0"/>
              <a:ea typeface="Gothic" charset="0"/>
              <a:cs typeface="Gothic" charset="0"/>
            </a:endParaRP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2 Primary and Secondary Blood-Pressure Outcomes.</a:t>
            </a:r>
            <a:endParaRPr lang="en-GB" dirty="0">
              <a:latin typeface="Arial" charset="0"/>
              <a:ea typeface="Gothic" charset="0"/>
              <a:cs typeface="Gothic" charset="0"/>
            </a:endParaRP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3 Blood-Pressure Medications at 6 Months.</a:t>
            </a:r>
            <a:endParaRPr lang="en-GB" dirty="0">
              <a:latin typeface="Arial" charset="0"/>
              <a:ea typeface="Gothic" charset="0"/>
              <a:cs typeface="Gothic"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slideLayouts/_rels/slideLayout1.xml.rels><Relationships xmlns="http://schemas.openxmlformats.org/package/2006/relationships"><Relationship Id="rId1" Type="http://schemas.openxmlformats.org/officeDocument/2006/relationships/slideMaster" Target="../slideMasters/slideMaster1.xml"/></Relationships>
</file>

<file path=ppt/slideLayouts/_rels/slideLayout2.xml.rels><Relationships xmlns="http://schemas.openxmlformats.org/package/2006/relationships"><Relationship Id="rId1" Type="http://schemas.openxmlformats.org/officeDocument/2006/relationships/slideMaster" Target="../slideMasters/slideMaster1.xml"/></Relationships>
</file>

<file path=ppt/slideLayouts/_rels/slideLayout3.xml.rels><Relationships xmlns="http://schemas.openxmlformats.org/package/2006/relationships"><Relationship Id="rId1" Type="http://schemas.openxmlformats.org/officeDocument/2006/relationships/slideMaster" Target="../slideMasters/slideMaster1.xml"/></Relationships>
</file>

<file path=ppt/slideLayouts/_rels/slideLayout4.xml.rels><Relationships xmlns="http://schemas.openxmlformats.org/package/2006/relationships"><Relationship Id="rId1" Type="http://schemas.openxmlformats.org/officeDocument/2006/relationships/slideMaster" Target="../slideMasters/slideMaster1.xml"/></Relationships>
</file>

<file path=ppt/slideLayouts/_rels/slideLayout5.xml.rels><Relationships xmlns="http://schemas.openxmlformats.org/package/2006/relationships"><Relationship Id="rId1" Type="http://schemas.openxmlformats.org/officeDocument/2006/relationships/slideMaster" Target="../slideMasters/slideMaster1.xml"/></Relationships>
</file>

<file path=ppt/slideLayouts/_rels/slideLayout6.xml.rels><Relationships xmlns="http://schemas.openxmlformats.org/package/2006/relationships"><Relationship Id="rId1" Type="http://schemas.openxmlformats.org/officeDocument/2006/relationships/slideMaster" Target="../slideMasters/slideMaster1.xml"/></Relationships>
</file>

<file path=ppt/slideLayouts/_rels/slideLayout7.xml.rels><Relationships xmlns="http://schemas.openxmlformats.org/package/2006/relationships"><Relationship Id="rId1" Type="http://schemas.openxmlformats.org/officeDocument/2006/relationships/slideMaster" Target="../slideMasters/slideMaster1.xml"/></Relationships>
</file>

<file path=ppt/slideLayouts/_rels/slideLayout8.xml.rels><Relationships xmlns="http://schemas.openxmlformats.org/package/2006/relationships"><Relationship Id="rId1" Type="http://schemas.openxmlformats.org/officeDocument/2006/relationships/slideMaster" Target="../slideMasters/slideMaster1.xml"/></Relationships>
</file>

<file path=ppt/slideLayouts/_rels/slideLayout9.xml.rels><Relationships xmlns="http://schemas.openxmlformats.org/package/2006/relationships"><Relationship Id="rId1" Type="http://schemas.openxmlformats.org/officeDocument/2006/relationships/slideMaster" Target="../slideMasters/slideMaster1.xml"/></Relationships>
</file>

<file path=ppt/slideLayouts/_rels/slideLayout10.xml.rels><Relationships xmlns="http://schemas.openxmlformats.org/package/2006/relationships"><Relationship Id="rId1" Type="http://schemas.openxmlformats.org/officeDocument/2006/relationships/slideMaster" Target="../slideMasters/slideMaster1.xml"/></Relationships>
</file>

<file path=ppt/slideLayouts/_rels/slideLayout11.xml.rel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39775" y="2101850"/>
            <a:ext cx="4225925"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8100" y="2101850"/>
            <a:ext cx="4227513"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4550" y="627063"/>
            <a:ext cx="2151063" cy="623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39775" y="627063"/>
            <a:ext cx="6302375" cy="623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739775" y="627063"/>
            <a:ext cx="8605838" cy="126047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6" name="Rectangle 2"/>
          <p:cNvSpPr>
            <a:spLocks noGrp="1" noChangeArrowheads="1"/>
          </p:cNvSpPr>
          <p:nvPr>
            <p:ph type="body" idx="1"/>
          </p:nvPr>
        </p:nvSpPr>
        <p:spPr bwMode="auto">
          <a:xfrm>
            <a:off x="739775" y="2101850"/>
            <a:ext cx="8605838" cy="47609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fontAlgn="base" hangingPunct="0">
        <a:lnSpc>
          <a:spcPct val="97000"/>
        </a:lnSpc>
        <a:spcBef>
          <a:spcPct val="0"/>
        </a:spcBef>
        <a:spcAft>
          <a:spcPct val="0"/>
        </a:spcAft>
        <a:buClr>
          <a:srgbClr val="FFFFFF"/>
        </a:buClr>
        <a:buSzPct val="45000"/>
        <a:buFont typeface="StarSymbol" charset="0"/>
        <a:defRPr sz="2800" b="1">
          <a:solidFill>
            <a:srgbClr val="FFFFFF"/>
          </a:solidFill>
          <a:latin typeface="+mj-lt"/>
          <a:ea typeface="+mj-ea"/>
          <a:cs typeface="+mj-cs"/>
        </a:defRPr>
      </a:lvl1pPr>
      <a:lvl2pPr marL="4318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2pPr>
      <a:lvl3pPr marL="647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3pPr>
      <a:lvl4pPr marL="8636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4pPr>
      <a:lvl5pPr marL="10795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5pPr>
      <a:lvl6pPr marL="1536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6pPr>
      <a:lvl7pPr marL="19939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7pPr>
      <a:lvl8pPr marL="24511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8pPr>
      <a:lvl9pPr marL="29083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9pPr>
    </p:titleStyle>
    <p:bodyStyle>
      <a:lvl1pPr marL="431800" indent="-323850" algn="l" defTabSz="457200" rtl="0" fontAlgn="base" hangingPunct="0">
        <a:lnSpc>
          <a:spcPct val="97000"/>
        </a:lnSpc>
        <a:spcBef>
          <a:spcPct val="0"/>
        </a:spcBef>
        <a:spcAft>
          <a:spcPts val="888"/>
        </a:spcAft>
        <a:buClr>
          <a:srgbClr val="FFFFFF"/>
        </a:buClr>
        <a:buSzPct val="100000"/>
        <a:buFont typeface="Arial" charset="0"/>
        <a:buChar char="•"/>
        <a:defRPr sz="2000">
          <a:solidFill>
            <a:srgbClr val="FFFFFF"/>
          </a:solidFill>
          <a:latin typeface="+mn-lt"/>
          <a:ea typeface="+mn-ea"/>
          <a:cs typeface="+mn-cs"/>
        </a:defRPr>
      </a:lvl1pPr>
      <a:lvl2pPr marL="863600" indent="-287338" algn="l" defTabSz="457200" rtl="0" fontAlgn="base" hangingPunct="0">
        <a:lnSpc>
          <a:spcPct val="97000"/>
        </a:lnSpc>
        <a:spcBef>
          <a:spcPct val="0"/>
        </a:spcBef>
        <a:spcAft>
          <a:spcPts val="1138"/>
        </a:spcAft>
        <a:buClr>
          <a:srgbClr val="FFFFFF"/>
        </a:buClr>
        <a:buSzPct val="75000"/>
        <a:buFont typeface="StarSymbol" charset="0"/>
        <a:buChar char="–"/>
        <a:defRPr sz="2600">
          <a:solidFill>
            <a:srgbClr val="FFFFFF"/>
          </a:solidFill>
          <a:latin typeface="+mn-lt"/>
          <a:ea typeface="+mn-ea"/>
          <a:cs typeface="+mn-cs"/>
        </a:defRPr>
      </a:lvl2pPr>
      <a:lvl3pPr marL="1295400" indent="-215900" algn="l" defTabSz="457200" rtl="0" fontAlgn="base" hangingPunct="0">
        <a:lnSpc>
          <a:spcPct val="97000"/>
        </a:lnSpc>
        <a:spcBef>
          <a:spcPct val="0"/>
        </a:spcBef>
        <a:spcAft>
          <a:spcPts val="850"/>
        </a:spcAft>
        <a:buClr>
          <a:srgbClr val="FFFFFF"/>
        </a:buClr>
        <a:buSzPct val="45000"/>
        <a:buFont typeface="StarSymbol" charset="0"/>
        <a:buChar char="●"/>
        <a:defRPr sz="2400">
          <a:solidFill>
            <a:srgbClr val="FFFFFF"/>
          </a:solidFill>
          <a:latin typeface="+mn-lt"/>
          <a:ea typeface="+mn-ea"/>
          <a:cs typeface="+mn-cs"/>
        </a:defRPr>
      </a:lvl3pPr>
      <a:lvl4pPr marL="1727200" indent="-215900" algn="l" defTabSz="457200" rtl="0" fontAlgn="base" hangingPunct="0">
        <a:lnSpc>
          <a:spcPct val="97000"/>
        </a:lnSpc>
        <a:spcBef>
          <a:spcPct val="0"/>
        </a:spcBef>
        <a:spcAft>
          <a:spcPts val="575"/>
        </a:spcAft>
        <a:buClr>
          <a:srgbClr val="FFFFFF"/>
        </a:buClr>
        <a:buSzPct val="75000"/>
        <a:buFont typeface="StarSymbol" charset="0"/>
        <a:buChar char="–"/>
        <a:defRPr sz="2000">
          <a:solidFill>
            <a:srgbClr val="FFFFFF"/>
          </a:solidFill>
          <a:latin typeface="+mn-lt"/>
          <a:ea typeface="+mn-ea"/>
          <a:cs typeface="+mn-cs"/>
        </a:defRPr>
      </a:lvl4pPr>
      <a:lvl5pPr marL="21590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5pPr>
      <a:lvl6pPr marL="26162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6pPr>
      <a:lvl7pPr marL="30734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7pPr>
      <a:lvl8pPr marL="35306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8pPr>
      <a:lvl9pPr marL="39878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tiff"/><Relationship Id="rId7" Type="http://schemas.openxmlformats.org/officeDocument/2006/relationships/notesSlide" Target="../notesSlides/notesSlide3.xml"/></Relationships>

</file>

<file path=ppt/slides/_rels/slide4.xml.rels><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tiff"/><Relationship Id="rId8" Type="http://schemas.openxmlformats.org/officeDocument/2006/relationships/notesSlide" Target="../notesSlides/notesSlide4.xml"/></Relationships>

</file>

<file path=ppt/slides/_rels/slide5.xml.rels><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tiff"/><Relationship Id="rId9" Type="http://schemas.openxmlformats.org/officeDocument/2006/relationships/notesSlide" Target="../notesSlides/notesSlide5.xml"/></Relationships>

</file>

<file path=ppt/slides/_rels/slide6.xml.rels><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tiff"/><Relationship Id="rId10" Type="http://schemas.openxmlformats.org/officeDocument/2006/relationships/notesSlide" Target="../notesSlides/notesSlide6.xml"/></Relationships>

</file>

<file path=ppt/slides/_rels/slide7.xml.rels><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tiff"/><Relationship Id="rId11" Type="http://schemas.openxmlformats.org/officeDocument/2006/relationships/notesSlide" Target="../notesSlides/notesSlide7.xml"/></Relationships>

</file>

<file path=ppt/slides/_rels/slide8.xml.rels><Relationships xmlns="http://schemas.openxmlformats.org/package/2006/relationships"><Relationship Id="rId3" Type="http://schemas.openxmlformats.org/officeDocument/2006/relationships/image" Target="../media/image13.png"/><Relationship Id="rId1" Type="http://schemas.openxmlformats.org/officeDocument/2006/relationships/slideLayout" Target="../slideLayouts/slideLayout2.xml"/><Relationship Id="rId12" Type="http://schemas.openxmlformats.org/officeDocument/2006/relationships/notesSlide" Target="../notesSlides/notesSlide8.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073" name="Text Box 1"/>
          <p:cNvSpPr txBox="1">
            <a:spLocks noChangeArrowheads="1"/>
          </p:cNvSpPr>
          <p:nvPr/>
        </p:nvSpPr>
        <p:spPr bwMode="auto">
          <a:xfrm>
            <a:off x="739775" y="631825"/>
            <a:ext cx="8604250" cy="1262063"/>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b="1" dirty="0" smtClean="0">
                <a:solidFill>
                  <a:srgbClr val="FF0000"/>
                </a:solidFill>
                <a:latin typeface="Arial" charset="0"/>
              </a:rPr>
              <a:t>Original Article</a:t>
            </a:r>
            <a:r>
              <a:rPr lang="en-GB" sz="2800" b="1" dirty="0" smtClean="0">
                <a:solidFill>
                  <a:srgbClr val="FFFFFF"/>
                </a:solidFill>
                <a:latin typeface="Arial" charset="0"/>
              </a:rPr>
              <a:t> </a:t>
            </a:r>
            <a:br>
              <a:rPr lang="en-GB" sz="2800" b="1" dirty="0">
                <a:solidFill>
                  <a:srgbClr val="FFFFFF"/>
                </a:solidFill>
                <a:latin typeface="Arial" charset="0"/>
              </a:rPr>
            </a:br>
            <a:r>
              <a:rPr lang="en-GB" sz="2800" b="1" dirty="0" smtClean="0">
                <a:solidFill>
                  <a:srgbClr val="FFFFFF"/>
                </a:solidFill>
                <a:latin typeface="Arial" charset="0"/>
              </a:rPr>
              <a:t>A Cluster-Randomized Trial of Blood-Pressure Reduction in Black Barbershops</a:t>
            </a:r>
            <a:endParaRPr lang="en-GB" sz="2800" b="1" dirty="0">
              <a:solidFill>
                <a:srgbClr val="FFFFFF"/>
              </a:solidFill>
              <a:latin typeface="Arial" charset="0"/>
            </a:endParaRPr>
          </a:p>
        </p:txBody>
      </p:sp>
      <p:sp>
        <p:nvSpPr>
          <p:cNvPr id="3074" name="Text Box 2"/>
          <p:cNvSpPr txBox="1">
            <a:spLocks noChangeArrowheads="1"/>
          </p:cNvSpPr>
          <p:nvPr/>
        </p:nvSpPr>
        <p:spPr bwMode="auto">
          <a:xfrm>
            <a:off x="739775" y="2259013"/>
            <a:ext cx="8604250" cy="3021012"/>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err="1" smtClean="0">
                <a:solidFill>
                  <a:srgbClr val="FFFFFF"/>
                </a:solidFill>
                <a:latin typeface="Arial" charset="0"/>
              </a:rPr>
              <a:t>Ronald G. Victor, M.D., Kathleen Lynch, Pharm.D., Ning Li, Ph.D., Ciantel Blyler, Pharm.D., Eric Muhammad, B.A., Joel Handler, M.D., Jeffrey Brettler, M.D., Mohamad Rashid, M.B., Ch.B., Brent Hsu, B.S., Davontae Foxx-Drew, B.A., Norma Moy, B.A., Anthony E. Reid, M.D., and Robert M. Elashoff, Ph.D.</a:t>
            </a:r>
            <a:endParaRPr lang="en-GB" sz="1800" dirty="0">
              <a:solidFill>
                <a:srgbClr val="FFFFFF"/>
              </a:solidFill>
              <a:latin typeface="Arial" charset="0"/>
            </a:endParaRPr>
          </a:p>
        </p:txBody>
      </p:sp>
      <p:sp>
        <p:nvSpPr>
          <p:cNvPr id="3075" name="Text Box 3"/>
          <p:cNvSpPr txBox="1">
            <a:spLocks noChangeArrowheads="1"/>
          </p:cNvSpPr>
          <p:nvPr/>
        </p:nvSpPr>
        <p:spPr bwMode="auto">
          <a:xfrm>
            <a:off x="738188" y="5641975"/>
            <a:ext cx="8604250" cy="268663"/>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N Engl J Med</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Volume 378(14):1291-1301</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April 5, 2018</a:t>
            </a:r>
            <a:endParaRPr lang="en-GB" sz="1800" dirty="0">
              <a:solidFill>
                <a:srgbClr val="FFFFFF"/>
              </a:solidFill>
              <a:latin typeface="Arial" charset="0"/>
            </a:endParaRPr>
          </a:p>
        </p:txBody>
      </p:sp>
      <p:pic>
        <p:nvPicPr>
          <p:cNvPr id="3076" name="Picture 4"/>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Study Overview</a:t>
            </a:r>
            <a:endParaRPr lang="en-GB" sz="2800" b="1" dirty="0">
              <a:solidFill>
                <a:srgbClr val="FFFFFF"/>
              </a:solidFill>
              <a:latin typeface="Arial" charset="0"/>
            </a:endParaRPr>
          </a:p>
        </p:txBody>
      </p:sp>
      <p:sp>
        <p:nvSpPr>
          <p:cNvPr id="4098"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In this trial involving black male barbershop patrons with uncontrolled hypertension, health promotion by barbers resulted in larger blood-pressure reduction when coupled with medication management in barbershops by specialty-trained pharmacists.</a:t>
            </a:r>
            <a:endParaRPr lang="en-GB" sz="2000" b="0" dirty="0">
              <a:latin typeface="Arial" charset="0"/>
            </a:endParaRPr>
          </a:p>
        </p:txBody>
      </p:sp>
      <p:pic>
        <p:nvPicPr>
          <p:cNvPr id="4099"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Screening, Enrollment, and Follow-up of Barbershop Patrons.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934871" y="6583363"/>
            <a:ext cx="6188659"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Victor RG et al. N Engl J Med2018;378:1291-1301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934871" y="1028700"/>
            <a:ext cx="6188659" cy="5486400"/>
          </a:xfrm>
          <a:prstGeom prst="rect">
            <a:avLst/>
          </a:prstGeom>
        </p:spPr>
      </p:pic>
    </p:spTree>
  </p:cSld>
  <p:clrMapOvr>
    <a:masterClrMapping/>
  </p:clrMapOvr>
  <p:transition spd="me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Systolic Blood Pressure at Baseline and 6 Months According to Barbershop Cluster.</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025799" y="6583363"/>
            <a:ext cx="8006802"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Victor RG et al. N Engl J Med2018;378:1291-1301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025799" y="1028700"/>
            <a:ext cx="8006802" cy="5486400"/>
          </a:xfrm>
          <a:prstGeom prst="rect">
            <a:avLst/>
          </a:prstGeom>
        </p:spPr>
      </p:pic>
    </p:spTree>
  </p:cSld>
  <p:clrMapOvr>
    <a:masterClrMapping/>
  </p:clrMapOvr>
  <p:transition spd="me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Baseline Characteristics of the Barbershops and Trial Participants.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2960005" y="6583363"/>
            <a:ext cx="4138390"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Victor RG et al. N Engl J Med2018;378:1291-1301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2960005" y="1028700"/>
            <a:ext cx="4138390" cy="5486400"/>
          </a:xfrm>
          <a:prstGeom prst="rect">
            <a:avLst/>
          </a:prstGeom>
        </p:spPr>
      </p:pic>
    </p:spTree>
  </p:cSld>
  <p:clrMapOvr>
    <a:masterClrMapping/>
  </p:clrMapOvr>
  <p:transition spd="me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Primary and Secondary Blood-Pressure Outcomes.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836167" y="6583363"/>
            <a:ext cx="6386066"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Victor RG et al. N Engl J Med2018;378:1291-1301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836167" y="1028700"/>
            <a:ext cx="6386066" cy="5486400"/>
          </a:xfrm>
          <a:prstGeom prst="rect">
            <a:avLst/>
          </a:prstGeom>
        </p:spPr>
      </p:pic>
    </p:spTree>
  </p:cSld>
  <p:clrMapOvr>
    <a:masterClrMapping/>
  </p:clrMapOvr>
  <p:transition spd="me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Blood-Pressure Medications at 6 Months.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719461" y="6583363"/>
            <a:ext cx="8619479"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Victor RG et al. N Engl J Med2018;378:1291-1301</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719461" y="1028700"/>
            <a:ext cx="8619479" cy="5486400"/>
          </a:xfrm>
          <a:prstGeom prst="rect">
            <a:avLst/>
          </a:prstGeom>
        </p:spPr>
      </p:pic>
    </p:spTree>
  </p:cSld>
  <p:clrMapOvr>
    <a:masterClrMapping/>
  </p:clrMapOvr>
  <p:transition spd="med"/>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241"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Conclusions</a:t>
            </a:r>
            <a:endParaRPr lang="en-GB" sz="2800" b="1" dirty="0">
              <a:solidFill>
                <a:srgbClr val="FFFFFF"/>
              </a:solidFill>
              <a:latin typeface="Arial" charset="0"/>
            </a:endParaRPr>
          </a:p>
        </p:txBody>
      </p:sp>
      <p:sp>
        <p:nvSpPr>
          <p:cNvPr id="10242"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Among black male barbershop patrons with uncontrolled hypertension, health promotion by barbers resulted in larger blood-pressure reduction when coupled with medication management in barbershops by specialty-trained pharmacists.</a:t>
            </a:r>
            <a:endParaRPr lang="en-GB" sz="2000" b="0" dirty="0">
              <a:latin typeface="Arial" charset="0"/>
            </a:endParaRPr>
          </a:p>
        </p:txBody>
      </p:sp>
      <p:pic>
        <p:nvPicPr>
          <p:cNvPr id="10243"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Gothic"/>
        <a:cs typeface="Gothic"/>
      </a:majorFont>
      <a:minorFont>
        <a:latin typeface="Times New Roman"/>
        <a:ea typeface="Gothic"/>
        <a:cs typeface="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2820</TotalTime>
  <Words>7</Words>
  <Application>Microsoft Office PowerPoint</Application>
  <PresentationFormat>Custom</PresentationFormat>
  <Paragraphs>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Bob Starbird</dc:creator>
  <cp:lastModifiedBy>bstarbird</cp:lastModifiedBy>
  <cp:revision>15</cp:revision>
  <dcterms:modified xsi:type="dcterms:W3CDTF">2010-05-03T14:18:33Z</dcterms:modified>
</cp:coreProperties>
</file>