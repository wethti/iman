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Rectangle 1"/>
          <p:cNvSpPr/>
          <p:nvPr/>
        </p:nvSpPr>
        <p:spPr>
          <a:xfrm>
            <a:off x="6858000" y="0"/>
            <a:ext cx="5333695" cy="6858000"/>
          </a:xfrm>
          <a:prstGeom prst="rect">
            <a:avLst/>
          </a:prstGeom>
          <a:solidFill>
            <a:srgbClr val="152B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0" y="0"/>
            <a:ext cx="5333695" cy="6858000"/>
          </a:xfrm>
          <a:prstGeom prst="rect">
            <a:avLst/>
          </a:prstGeom>
          <a:solidFill>
            <a:srgbClr val="152B15"/>
          </a:solid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40880" y="3063240"/>
            <a:ext cx="4967935" cy="731520"/>
          </a:xfrm>
          <a:prstGeom prst="rect">
            <a:avLst/>
          </a:prstGeom>
          <a:noFill/>
        </p:spPr>
        <p:txBody>
          <a:bodyPr wrap="square">
            <a:spAutoFit/>
          </a:bodyPr>
          <a:lstStyle/>
          <a:p>
            <a:pPr algn="ctr"/>
            <a:r>
              <a:rPr sz="900" b="0" i="1">
                <a:solidFill>
                  <a:srgbClr val="7A8E7A"/>
                </a:solidFill>
                <a:latin typeface="Barlow"/>
              </a:rPr>
              <a:t>📷  IMAN community engagement team, Englewood</a:t>
            </a:r>
          </a:p>
        </p:txBody>
      </p:sp>
      <p:sp>
        <p:nvSpPr>
          <p:cNvPr id="5" name="Rectangle 4"/>
          <p:cNvSpPr/>
          <p:nvPr/>
        </p:nvSpPr>
        <p:spPr>
          <a:xfrm>
            <a:off x="457200" y="502920"/>
            <a:ext cx="3840480" cy="292608"/>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30352"/>
            <a:ext cx="3749039" cy="256032"/>
          </a:xfrm>
          <a:prstGeom prst="rect">
            <a:avLst/>
          </a:prstGeom>
          <a:noFill/>
        </p:spPr>
        <p:txBody>
          <a:bodyPr wrap="square">
            <a:spAutoFit/>
          </a:bodyPr>
          <a:lstStyle/>
          <a:p>
            <a:pPr algn="l"/>
            <a:r>
              <a:rPr sz="800" b="1" i="0">
                <a:solidFill>
                  <a:srgbClr val="7FBA00"/>
                </a:solidFill>
                <a:latin typeface="Barlow"/>
              </a:rPr>
              <a:t>IMAN · INNER-CITY MUSLIM ACTION NETWORK</a:t>
            </a:r>
          </a:p>
        </p:txBody>
      </p:sp>
      <p:sp>
        <p:nvSpPr>
          <p:cNvPr id="7" name="TextBox 6"/>
          <p:cNvSpPr txBox="1"/>
          <p:nvPr/>
        </p:nvSpPr>
        <p:spPr>
          <a:xfrm>
            <a:off x="411480" y="914400"/>
            <a:ext cx="6217920" cy="3200400"/>
          </a:xfrm>
          <a:prstGeom prst="rect">
            <a:avLst/>
          </a:prstGeom>
          <a:noFill/>
        </p:spPr>
        <p:txBody>
          <a:bodyPr wrap="square">
            <a:spAutoFit/>
          </a:bodyPr>
          <a:lstStyle/>
          <a:p>
            <a:pPr algn="l"/>
            <a:r>
              <a:rPr sz="8800" b="1" i="0">
                <a:solidFill>
                  <a:srgbClr val="FFFFFF"/>
                </a:solidFill>
                <a:latin typeface="Oswald"/>
              </a:rPr>
              <a:t>PEACE
CORRIDOR™</a:t>
            </a:r>
          </a:p>
        </p:txBody>
      </p:sp>
      <p:sp>
        <p:nvSpPr>
          <p:cNvPr id="8" name="TextBox 7"/>
          <p:cNvSpPr txBox="1"/>
          <p:nvPr/>
        </p:nvSpPr>
        <p:spPr>
          <a:xfrm>
            <a:off x="457200" y="4297680"/>
            <a:ext cx="5943600" cy="640080"/>
          </a:xfrm>
          <a:prstGeom prst="rect">
            <a:avLst/>
          </a:prstGeom>
          <a:noFill/>
        </p:spPr>
        <p:txBody>
          <a:bodyPr wrap="square">
            <a:spAutoFit/>
          </a:bodyPr>
          <a:lstStyle/>
          <a:p>
            <a:pPr algn="l"/>
            <a:r>
              <a:rPr sz="1300" b="0" i="0">
                <a:solidFill>
                  <a:srgbClr val="DDEEDD"/>
                </a:solidFill>
                <a:latin typeface="Barlow"/>
              </a:rPr>
              <a:t>Street Outreach · Transitional Employment · Hospital Intervention
A holistic approach to ending gun violence in Englewood.</a:t>
            </a:r>
          </a:p>
        </p:txBody>
      </p:sp>
      <p:sp>
        <p:nvSpPr>
          <p:cNvPr id="9" name="TextBox 8"/>
          <p:cNvSpPr txBox="1"/>
          <p:nvPr/>
        </p:nvSpPr>
        <p:spPr>
          <a:xfrm>
            <a:off x="457200" y="5120640"/>
            <a:ext cx="2743200" cy="320040"/>
          </a:xfrm>
          <a:prstGeom prst="rect">
            <a:avLst/>
          </a:prstGeom>
          <a:noFill/>
        </p:spPr>
        <p:txBody>
          <a:bodyPr wrap="square">
            <a:spAutoFit/>
          </a:bodyPr>
          <a:lstStyle/>
          <a:p>
            <a:pPr algn="l"/>
            <a:r>
              <a:rPr sz="900" b="1" i="0">
                <a:solidFill>
                  <a:srgbClr val="7A8E7A"/>
                </a:solidFill>
                <a:latin typeface="Barlow"/>
              </a:rPr>
              <a:t>— ENGLEWOOD, CHICAGO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Rectangle 1"/>
          <p:cNvSpPr/>
          <p:nvPr/>
        </p:nvSpPr>
        <p:spPr>
          <a:xfrm>
            <a:off x="5641848" y="1005840"/>
            <a:ext cx="548640" cy="38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188720"/>
            <a:ext cx="10362895" cy="4114800"/>
          </a:xfrm>
          <a:prstGeom prst="rect">
            <a:avLst/>
          </a:prstGeom>
          <a:noFill/>
        </p:spPr>
        <p:txBody>
          <a:bodyPr wrap="square">
            <a:spAutoFit/>
          </a:bodyPr>
          <a:lstStyle/>
          <a:p>
            <a:pPr algn="l"/>
            <a:r>
              <a:rPr sz="2600" b="1" i="0">
                <a:solidFill>
                  <a:srgbClr val="FFFFFF"/>
                </a:solidFill>
                <a:latin typeface="Barlow"/>
              </a:rPr>
              <a:t>Peace Corridor </a:t>
            </a:r>
          </a:p>
        </p:txBody>
      </p:sp>
      <p:sp>
        <p:nvSpPr>
          <p:cNvPr id="4" name="TextBox 3"/>
          <p:cNvSpPr txBox="1"/>
          <p:nvPr/>
        </p:nvSpPr>
        <p:spPr>
          <a:xfrm>
            <a:off x="914400" y="1188720"/>
            <a:ext cx="10362895" cy="4572000"/>
          </a:xfrm>
          <a:prstGeom prst="rect">
            <a:avLst/>
          </a:prstGeom>
          <a:noFill/>
        </p:spPr>
        <p:txBody>
          <a:bodyPr wrap="square">
            <a:spAutoFit/>
          </a:bodyPr>
          <a:lstStyle/>
          <a:p>
            <a:pPr algn="ctr"/>
            <a:r>
              <a:rPr sz="2200" b="1" i="0">
                <a:solidFill>
                  <a:srgbClr val="FFFFFF"/>
                </a:solidFill>
                <a:latin typeface="Barlow"/>
              </a:rPr>
              <a:t>Peace Corridor</a:t>
            </a:r>
            <a:r>
              <a:rPr sz="2200" b="0" i="0">
                <a:solidFill>
                  <a:srgbClr val="DDEEDD"/>
                </a:solidFill>
                <a:latin typeface="Barlow"/>
              </a:rPr>
              <a:t> provides street-level violence interruption, transitional employment, cognitive behavioral therapy, and hospital-based crisis intervention for </a:t>
            </a:r>
            <a:r>
              <a:rPr sz="2200" b="1" i="0">
                <a:solidFill>
                  <a:srgbClr val="FFFFFF"/>
                </a:solidFill>
                <a:latin typeface="Barlow"/>
              </a:rPr>
              <a:t>highest-risk individuals and justice-involved youth</a:t>
            </a:r>
            <a:r>
              <a:rPr sz="2200" b="0" i="0">
                <a:solidFill>
                  <a:srgbClr val="DDEEDD"/>
                </a:solidFill>
                <a:latin typeface="Barlow"/>
              </a:rPr>
              <a:t>, as a holistic approach to </a:t>
            </a:r>
            <a:r>
              <a:rPr sz="2200" b="1" i="0">
                <a:solidFill>
                  <a:srgbClr val="7FBA00"/>
                </a:solidFill>
                <a:latin typeface="Barlow"/>
              </a:rPr>
              <a:t>ending gun violence, preventing premature death, and restoring safety to Englewood's streets</a:t>
            </a:r>
            <a:r>
              <a:rPr sz="2200" b="0" i="0">
                <a:solidFill>
                  <a:srgbClr val="DDEEDD"/>
                </a:solidFill>
                <a:latin typeface="Barlow"/>
              </a:rPr>
              <a:t>.</a:t>
            </a:r>
          </a:p>
        </p:txBody>
      </p:sp>
      <p:sp>
        <p:nvSpPr>
          <p:cNvPr id="5" name="Rectangle 4"/>
          <p:cNvSpPr/>
          <p:nvPr/>
        </p:nvSpPr>
        <p:spPr>
          <a:xfrm>
            <a:off x="5641848" y="5852160"/>
            <a:ext cx="548640" cy="38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6217920"/>
            <a:ext cx="12191695" cy="320040"/>
          </a:xfrm>
          <a:prstGeom prst="rect">
            <a:avLst/>
          </a:prstGeom>
          <a:noFill/>
        </p:spPr>
        <p:txBody>
          <a:bodyPr wrap="square">
            <a:spAutoFit/>
          </a:bodyPr>
          <a:lstStyle/>
          <a:p>
            <a:pPr algn="ctr"/>
            <a:r>
              <a:rPr sz="900" b="1" i="0">
                <a:solidFill>
                  <a:srgbClr val="7A8E7A"/>
                </a:solidFill>
                <a:latin typeface="Barlow"/>
              </a:rPr>
              <a:t>IMAN  ·  PEACE CORRIDOR™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a:spAutoFit/>
          </a:bodyPr>
          <a:lstStyle/>
          <a:p>
            <a:pPr algn="l"/>
            <a:r>
              <a:rPr sz="900" b="1" i="0">
                <a:solidFill>
                  <a:srgbClr val="7FBA00"/>
                </a:solidFill>
                <a:latin typeface="Barlow"/>
              </a:rPr>
              <a:t>THREE CORE PROGRAM TRACKS</a:t>
            </a:r>
          </a:p>
        </p:txBody>
      </p:sp>
      <p:sp>
        <p:nvSpPr>
          <p:cNvPr id="3" name="Rectangle 2"/>
          <p:cNvSpPr/>
          <p:nvPr/>
        </p:nvSpPr>
        <p:spPr>
          <a:xfrm>
            <a:off x="457200" y="640080"/>
            <a:ext cx="3657600" cy="4937760"/>
          </a:xfrm>
          <a:prstGeom prst="rect">
            <a:avLst/>
          </a:prstGeom>
          <a:solidFill>
            <a:srgbClr val="152B15"/>
          </a:solidFill>
          <a:ln w="12700">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40080"/>
            <a:ext cx="3657600" cy="508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777240"/>
            <a:ext cx="3383280" cy="365760"/>
          </a:xfrm>
          <a:prstGeom prst="rect">
            <a:avLst/>
          </a:prstGeom>
          <a:noFill/>
        </p:spPr>
        <p:txBody>
          <a:bodyPr wrap="square">
            <a:spAutoFit/>
          </a:bodyPr>
          <a:lstStyle/>
          <a:p>
            <a:pPr algn="l"/>
            <a:r>
              <a:rPr sz="2200" b="0" i="0">
                <a:solidFill>
                  <a:srgbClr val="FFFFFF"/>
                </a:solidFill>
                <a:latin typeface="Barlow"/>
              </a:rPr>
              <a:t>📢</a:t>
            </a:r>
          </a:p>
        </p:txBody>
      </p:sp>
      <p:sp>
        <p:nvSpPr>
          <p:cNvPr id="6" name="TextBox 5"/>
          <p:cNvSpPr txBox="1"/>
          <p:nvPr/>
        </p:nvSpPr>
        <p:spPr>
          <a:xfrm>
            <a:off x="594360" y="1234440"/>
            <a:ext cx="3383280" cy="822960"/>
          </a:xfrm>
          <a:prstGeom prst="rect">
            <a:avLst/>
          </a:prstGeom>
          <a:noFill/>
        </p:spPr>
        <p:txBody>
          <a:bodyPr wrap="square">
            <a:spAutoFit/>
          </a:bodyPr>
          <a:lstStyle/>
          <a:p>
            <a:pPr algn="l"/>
            <a:r>
              <a:rPr sz="1700" b="1" i="0">
                <a:solidFill>
                  <a:srgbClr val="FFFFFF"/>
                </a:solidFill>
                <a:latin typeface="Oswald"/>
              </a:rPr>
              <a:t>STREET OUTREACH
&amp; INTERRUPTION</a:t>
            </a:r>
          </a:p>
        </p:txBody>
      </p:sp>
      <p:sp>
        <p:nvSpPr>
          <p:cNvPr id="7" name="TextBox 6"/>
          <p:cNvSpPr txBox="1"/>
          <p:nvPr/>
        </p:nvSpPr>
        <p:spPr>
          <a:xfrm>
            <a:off x="594360" y="2148840"/>
            <a:ext cx="3383280" cy="2651760"/>
          </a:xfrm>
          <a:prstGeom prst="rect">
            <a:avLst/>
          </a:prstGeom>
          <a:noFill/>
        </p:spPr>
        <p:txBody>
          <a:bodyPr wrap="square">
            <a:spAutoFit/>
          </a:bodyPr>
          <a:lstStyle/>
          <a:p>
            <a:pPr algn="l"/>
            <a:r>
              <a:rPr sz="1150" b="0" i="0">
                <a:solidFill>
                  <a:srgbClr val="DDEEDD"/>
                </a:solidFill>
                <a:latin typeface="Barlow"/>
              </a:rPr>
              <a:t>Credible messengers embedded in Englewood's highest-shooting blocks detect conflicts before they escalate, mediate disputes, and connect highest-risk individuals to services. Built on the Cure Violence model — proven to reduce shootings by 30–60%.</a:t>
            </a:r>
          </a:p>
        </p:txBody>
      </p:sp>
      <p:sp>
        <p:nvSpPr>
          <p:cNvPr id="8" name="Rectangle 7"/>
          <p:cNvSpPr/>
          <p:nvPr/>
        </p:nvSpPr>
        <p:spPr>
          <a:xfrm>
            <a:off x="594360" y="5074920"/>
            <a:ext cx="3383280" cy="347472"/>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166360"/>
            <a:ext cx="3200400" cy="256032"/>
          </a:xfrm>
          <a:prstGeom prst="rect">
            <a:avLst/>
          </a:prstGeom>
          <a:noFill/>
        </p:spPr>
        <p:txBody>
          <a:bodyPr wrap="square">
            <a:spAutoFit/>
          </a:bodyPr>
          <a:lstStyle/>
          <a:p>
            <a:pPr algn="l"/>
            <a:r>
              <a:rPr sz="800" b="1" i="0">
                <a:solidFill>
                  <a:srgbClr val="7FBA00"/>
                </a:solidFill>
                <a:latin typeface="Barlow"/>
              </a:rPr>
              <a:t>FULL-TIME · COMMUNITY-EMBEDDED</a:t>
            </a:r>
          </a:p>
        </p:txBody>
      </p:sp>
      <p:sp>
        <p:nvSpPr>
          <p:cNvPr id="10" name="Rectangle 9"/>
          <p:cNvSpPr/>
          <p:nvPr/>
        </p:nvSpPr>
        <p:spPr>
          <a:xfrm>
            <a:off x="4361688" y="640080"/>
            <a:ext cx="3657600" cy="4937760"/>
          </a:xfrm>
          <a:prstGeom prst="rect">
            <a:avLst/>
          </a:prstGeom>
          <a:solidFill>
            <a:srgbClr val="152B15"/>
          </a:solidFill>
          <a:ln w="12700">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1688" y="640080"/>
            <a:ext cx="3657600" cy="508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777240"/>
            <a:ext cx="3383280" cy="365760"/>
          </a:xfrm>
          <a:prstGeom prst="rect">
            <a:avLst/>
          </a:prstGeom>
          <a:noFill/>
        </p:spPr>
        <p:txBody>
          <a:bodyPr wrap="square">
            <a:spAutoFit/>
          </a:bodyPr>
          <a:lstStyle/>
          <a:p>
            <a:pPr algn="l"/>
            <a:r>
              <a:rPr sz="2200" b="0" i="0">
                <a:solidFill>
                  <a:srgbClr val="FFFFFF"/>
                </a:solidFill>
                <a:latin typeface="Barlow"/>
              </a:rPr>
              <a:t>🧠</a:t>
            </a:r>
          </a:p>
        </p:txBody>
      </p:sp>
      <p:sp>
        <p:nvSpPr>
          <p:cNvPr id="13" name="TextBox 12"/>
          <p:cNvSpPr txBox="1"/>
          <p:nvPr/>
        </p:nvSpPr>
        <p:spPr>
          <a:xfrm>
            <a:off x="4498848" y="1234440"/>
            <a:ext cx="3383280" cy="822960"/>
          </a:xfrm>
          <a:prstGeom prst="rect">
            <a:avLst/>
          </a:prstGeom>
          <a:noFill/>
        </p:spPr>
        <p:txBody>
          <a:bodyPr wrap="square">
            <a:spAutoFit/>
          </a:bodyPr>
          <a:lstStyle/>
          <a:p>
            <a:pPr algn="l"/>
            <a:r>
              <a:rPr sz="1700" b="1" i="0">
                <a:solidFill>
                  <a:srgbClr val="FFFFFF"/>
                </a:solidFill>
                <a:latin typeface="Oswald"/>
              </a:rPr>
              <a:t>CBT + TRANSITIONAL
EMPLOYMENT</a:t>
            </a:r>
          </a:p>
        </p:txBody>
      </p:sp>
      <p:sp>
        <p:nvSpPr>
          <p:cNvPr id="14" name="TextBox 13"/>
          <p:cNvSpPr txBox="1"/>
          <p:nvPr/>
        </p:nvSpPr>
        <p:spPr>
          <a:xfrm>
            <a:off x="4498848" y="2148840"/>
            <a:ext cx="3383280" cy="2651760"/>
          </a:xfrm>
          <a:prstGeom prst="rect">
            <a:avLst/>
          </a:prstGeom>
          <a:noFill/>
        </p:spPr>
        <p:txBody>
          <a:bodyPr wrap="square">
            <a:spAutoFit/>
          </a:bodyPr>
          <a:lstStyle/>
          <a:p>
            <a:pPr algn="l"/>
            <a:r>
              <a:rPr sz="1150" b="0" i="0">
                <a:solidFill>
                  <a:srgbClr val="DDEEDD"/>
                </a:solidFill>
                <a:latin typeface="Barlow"/>
              </a:rPr>
              <a:t>18-month program combining cognitive behavioral therapy with paid transitional jobs, modeled after READI Chicago — shown to reduce violent crime involvement by 79% among highest-risk men. Direct pipeline into IMAN's Green ReEntry trades training.</a:t>
            </a:r>
          </a:p>
        </p:txBody>
      </p:sp>
      <p:sp>
        <p:nvSpPr>
          <p:cNvPr id="15" name="Rectangle 14"/>
          <p:cNvSpPr/>
          <p:nvPr/>
        </p:nvSpPr>
        <p:spPr>
          <a:xfrm>
            <a:off x="4498848" y="5074920"/>
            <a:ext cx="3383280" cy="347472"/>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4568" y="5166360"/>
            <a:ext cx="3200400" cy="256032"/>
          </a:xfrm>
          <a:prstGeom prst="rect">
            <a:avLst/>
          </a:prstGeom>
          <a:noFill/>
        </p:spPr>
        <p:txBody>
          <a:bodyPr wrap="square">
            <a:spAutoFit/>
          </a:bodyPr>
          <a:lstStyle/>
          <a:p>
            <a:pPr algn="l"/>
            <a:r>
              <a:rPr sz="800" b="1" i="0">
                <a:solidFill>
                  <a:srgbClr val="7FBA00"/>
                </a:solidFill>
                <a:latin typeface="Barlow"/>
              </a:rPr>
              <a:t>18 MONTHS · WEEKDAYS</a:t>
            </a:r>
          </a:p>
        </p:txBody>
      </p:sp>
      <p:sp>
        <p:nvSpPr>
          <p:cNvPr id="17" name="Rectangle 16"/>
          <p:cNvSpPr/>
          <p:nvPr/>
        </p:nvSpPr>
        <p:spPr>
          <a:xfrm>
            <a:off x="8266176" y="640080"/>
            <a:ext cx="3657600" cy="4937760"/>
          </a:xfrm>
          <a:prstGeom prst="rect">
            <a:avLst/>
          </a:prstGeom>
          <a:solidFill>
            <a:srgbClr val="152B15"/>
          </a:solidFill>
          <a:ln w="12700">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66176" y="640080"/>
            <a:ext cx="3657600" cy="508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03336" y="777240"/>
            <a:ext cx="3383280" cy="365760"/>
          </a:xfrm>
          <a:prstGeom prst="rect">
            <a:avLst/>
          </a:prstGeom>
          <a:noFill/>
        </p:spPr>
        <p:txBody>
          <a:bodyPr wrap="square">
            <a:spAutoFit/>
          </a:bodyPr>
          <a:lstStyle/>
          <a:p>
            <a:pPr algn="l"/>
            <a:r>
              <a:rPr sz="2200" b="0" i="0">
                <a:solidFill>
                  <a:srgbClr val="FFFFFF"/>
                </a:solidFill>
                <a:latin typeface="Barlow"/>
              </a:rPr>
              <a:t>🏥</a:t>
            </a:r>
          </a:p>
        </p:txBody>
      </p:sp>
      <p:sp>
        <p:nvSpPr>
          <p:cNvPr id="20" name="TextBox 19"/>
          <p:cNvSpPr txBox="1"/>
          <p:nvPr/>
        </p:nvSpPr>
        <p:spPr>
          <a:xfrm>
            <a:off x="8403336" y="1234440"/>
            <a:ext cx="3383280" cy="822960"/>
          </a:xfrm>
          <a:prstGeom prst="rect">
            <a:avLst/>
          </a:prstGeom>
          <a:noFill/>
        </p:spPr>
        <p:txBody>
          <a:bodyPr wrap="square">
            <a:spAutoFit/>
          </a:bodyPr>
          <a:lstStyle/>
          <a:p>
            <a:pPr algn="l"/>
            <a:r>
              <a:rPr sz="1700" b="1" i="0">
                <a:solidFill>
                  <a:srgbClr val="FFFFFF"/>
                </a:solidFill>
                <a:latin typeface="Oswald"/>
              </a:rPr>
              <a:t>HOSPITAL-BASED
INTERVENTION</a:t>
            </a:r>
          </a:p>
        </p:txBody>
      </p:sp>
      <p:sp>
        <p:nvSpPr>
          <p:cNvPr id="21" name="TextBox 20"/>
          <p:cNvSpPr txBox="1"/>
          <p:nvPr/>
        </p:nvSpPr>
        <p:spPr>
          <a:xfrm>
            <a:off x="8403336" y="2148840"/>
            <a:ext cx="3383280" cy="2651760"/>
          </a:xfrm>
          <a:prstGeom prst="rect">
            <a:avLst/>
          </a:prstGeom>
          <a:noFill/>
        </p:spPr>
        <p:txBody>
          <a:bodyPr wrap="square">
            <a:spAutoFit/>
          </a:bodyPr>
          <a:lstStyle/>
          <a:p>
            <a:pPr algn="l"/>
            <a:r>
              <a:rPr sz="1150" b="0" i="0">
                <a:solidFill>
                  <a:srgbClr val="DDEEDD"/>
                </a:solidFill>
                <a:latin typeface="Barlow"/>
              </a:rPr>
              <a:t>Violence intervention specialists embedded in the trauma bay reach shooting victims at the moment of highest motivation for change — before discharge, before retaliation. A 30-minute conversation at that moment saves lives.</a:t>
            </a:r>
          </a:p>
        </p:txBody>
      </p:sp>
      <p:sp>
        <p:nvSpPr>
          <p:cNvPr id="22" name="Rectangle 21"/>
          <p:cNvSpPr/>
          <p:nvPr/>
        </p:nvSpPr>
        <p:spPr>
          <a:xfrm>
            <a:off x="8403336" y="5074920"/>
            <a:ext cx="3383280" cy="347472"/>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49056" y="5166360"/>
            <a:ext cx="3200400" cy="256032"/>
          </a:xfrm>
          <a:prstGeom prst="rect">
            <a:avLst/>
          </a:prstGeom>
          <a:noFill/>
        </p:spPr>
        <p:txBody>
          <a:bodyPr wrap="square">
            <a:spAutoFit/>
          </a:bodyPr>
          <a:lstStyle/>
          <a:p>
            <a:pPr algn="l"/>
            <a:r>
              <a:rPr sz="800" b="1" i="0">
                <a:solidFill>
                  <a:srgbClr val="7FBA00"/>
                </a:solidFill>
                <a:latin typeface="Barlow"/>
              </a:rPr>
              <a:t>24/7 · ON-CALL</a:t>
            </a:r>
          </a:p>
        </p:txBody>
      </p:sp>
      <p:sp>
        <p:nvSpPr>
          <p:cNvPr id="24" name="TextBox 23"/>
          <p:cNvSpPr txBox="1"/>
          <p:nvPr/>
        </p:nvSpPr>
        <p:spPr>
          <a:xfrm>
            <a:off x="0" y="6492240"/>
            <a:ext cx="12191695" cy="274320"/>
          </a:xfrm>
          <a:prstGeom prst="rect">
            <a:avLst/>
          </a:prstGeom>
          <a:noFill/>
        </p:spPr>
        <p:txBody>
          <a:bodyPr wrap="square">
            <a:spAutoFit/>
          </a:bodyPr>
          <a:lstStyle/>
          <a:p>
            <a:pPr algn="r"/>
            <a:r>
              <a:rPr sz="800" b="1" i="0">
                <a:solidFill>
                  <a:srgbClr val="7A8E7A"/>
                </a:solidFill>
                <a:latin typeface="Barlow"/>
              </a:rPr>
              <a:t>IMAN  ·  PEACE CORRIDOR™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a:spAutoFit/>
          </a:bodyPr>
          <a:lstStyle/>
          <a:p>
            <a:pPr algn="l"/>
            <a:r>
              <a:rPr sz="900" b="1" i="0">
                <a:solidFill>
                  <a:srgbClr val="7FBA00"/>
                </a:solidFill>
                <a:latin typeface="Barlow"/>
              </a:rPr>
              <a:t>WRAPAROUND SUPPORT SERVICES</a:t>
            </a:r>
          </a:p>
        </p:txBody>
      </p:sp>
      <p:sp>
        <p:nvSpPr>
          <p:cNvPr id="3" name="Rectangle 2"/>
          <p:cNvSpPr/>
          <p:nvPr/>
        </p:nvSpPr>
        <p:spPr>
          <a:xfrm>
            <a:off x="457200" y="685800"/>
            <a:ext cx="3657600" cy="3474720"/>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85800"/>
            <a:ext cx="3657600" cy="38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841248"/>
            <a:ext cx="3383280" cy="457200"/>
          </a:xfrm>
          <a:prstGeom prst="rect">
            <a:avLst/>
          </a:prstGeom>
          <a:noFill/>
        </p:spPr>
        <p:txBody>
          <a:bodyPr wrap="square">
            <a:spAutoFit/>
          </a:bodyPr>
          <a:lstStyle/>
          <a:p>
            <a:pPr algn="l"/>
            <a:r>
              <a:rPr sz="1400" b="1" i="0">
                <a:solidFill>
                  <a:srgbClr val="7FBA00"/>
                </a:solidFill>
                <a:latin typeface="Oswald"/>
              </a:rPr>
              <a:t>LEGAL SERVICES</a:t>
            </a:r>
          </a:p>
        </p:txBody>
      </p:sp>
      <p:sp>
        <p:nvSpPr>
          <p:cNvPr id="6" name="TextBox 5"/>
          <p:cNvSpPr txBox="1"/>
          <p:nvPr/>
        </p:nvSpPr>
        <p:spPr>
          <a:xfrm>
            <a:off x="594360" y="1389888"/>
            <a:ext cx="3383280" cy="2560320"/>
          </a:xfrm>
          <a:prstGeom prst="rect">
            <a:avLst/>
          </a:prstGeom>
          <a:noFill/>
        </p:spPr>
        <p:txBody>
          <a:bodyPr wrap="square">
            <a:spAutoFit/>
          </a:bodyPr>
          <a:lstStyle/>
          <a:p>
            <a:pPr algn="l"/>
            <a:r>
              <a:rPr sz="1200" b="0" i="0">
                <a:solidFill>
                  <a:srgbClr val="DDEEDD"/>
                </a:solidFill>
                <a:latin typeface="Barlow"/>
              </a:rPr>
              <a:t>Expungement, record sealing, and civil legal aid — removing the criminal record barriers that block housing, employment, and stability. Partnerships with clinics across family, housing, and civil rights law.</a:t>
            </a:r>
          </a:p>
        </p:txBody>
      </p:sp>
      <p:sp>
        <p:nvSpPr>
          <p:cNvPr id="7" name="Rectangle 6"/>
          <p:cNvSpPr/>
          <p:nvPr/>
        </p:nvSpPr>
        <p:spPr>
          <a:xfrm>
            <a:off x="4361688" y="685800"/>
            <a:ext cx="3657600" cy="3474720"/>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61688" y="685800"/>
            <a:ext cx="3657600" cy="38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8848" y="841248"/>
            <a:ext cx="3383280" cy="457200"/>
          </a:xfrm>
          <a:prstGeom prst="rect">
            <a:avLst/>
          </a:prstGeom>
          <a:noFill/>
        </p:spPr>
        <p:txBody>
          <a:bodyPr wrap="square">
            <a:spAutoFit/>
          </a:bodyPr>
          <a:lstStyle/>
          <a:p>
            <a:pPr algn="l"/>
            <a:r>
              <a:rPr sz="1400" b="1" i="0">
                <a:solidFill>
                  <a:srgbClr val="7FBA00"/>
                </a:solidFill>
                <a:latin typeface="Oswald"/>
              </a:rPr>
              <a:t>WORKFORCE PLACEMENT</a:t>
            </a:r>
          </a:p>
        </p:txBody>
      </p:sp>
      <p:sp>
        <p:nvSpPr>
          <p:cNvPr id="10" name="TextBox 9"/>
          <p:cNvSpPr txBox="1"/>
          <p:nvPr/>
        </p:nvSpPr>
        <p:spPr>
          <a:xfrm>
            <a:off x="4498848" y="1389888"/>
            <a:ext cx="3383280" cy="2560320"/>
          </a:xfrm>
          <a:prstGeom prst="rect">
            <a:avLst/>
          </a:prstGeom>
          <a:noFill/>
        </p:spPr>
        <p:txBody>
          <a:bodyPr wrap="square">
            <a:spAutoFit/>
          </a:bodyPr>
          <a:lstStyle/>
          <a:p>
            <a:pPr algn="l"/>
            <a:r>
              <a:rPr sz="1200" b="0" i="0">
                <a:solidFill>
                  <a:srgbClr val="DDEEDD"/>
                </a:solidFill>
                <a:latin typeface="Barlow"/>
              </a:rPr>
              <a:t>Direct pipeline into IMAN's Green ReEntry trades program. Graduates earn NCCER-accredited certifications in carpentry, welding, HVAC, and EV technology with living-wage job placement assistance.</a:t>
            </a:r>
          </a:p>
        </p:txBody>
      </p:sp>
      <p:sp>
        <p:nvSpPr>
          <p:cNvPr id="11" name="Rectangle 10"/>
          <p:cNvSpPr/>
          <p:nvPr/>
        </p:nvSpPr>
        <p:spPr>
          <a:xfrm>
            <a:off x="8266176" y="685800"/>
            <a:ext cx="3657600" cy="3474720"/>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66176" y="685800"/>
            <a:ext cx="3657600" cy="38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03336" y="841248"/>
            <a:ext cx="3383280" cy="457200"/>
          </a:xfrm>
          <a:prstGeom prst="rect">
            <a:avLst/>
          </a:prstGeom>
          <a:noFill/>
        </p:spPr>
        <p:txBody>
          <a:bodyPr wrap="square">
            <a:spAutoFit/>
          </a:bodyPr>
          <a:lstStyle/>
          <a:p>
            <a:pPr algn="l"/>
            <a:r>
              <a:rPr sz="1400" b="1" i="0">
                <a:solidFill>
                  <a:srgbClr val="7FBA00"/>
                </a:solidFill>
                <a:latin typeface="Oswald"/>
              </a:rPr>
              <a:t>ALUMNI LEADERSHIP</a:t>
            </a:r>
          </a:p>
        </p:txBody>
      </p:sp>
      <p:sp>
        <p:nvSpPr>
          <p:cNvPr id="14" name="TextBox 13"/>
          <p:cNvSpPr txBox="1"/>
          <p:nvPr/>
        </p:nvSpPr>
        <p:spPr>
          <a:xfrm>
            <a:off x="8403336" y="1389888"/>
            <a:ext cx="3383280" cy="2560320"/>
          </a:xfrm>
          <a:prstGeom prst="rect">
            <a:avLst/>
          </a:prstGeom>
          <a:noFill/>
        </p:spPr>
        <p:txBody>
          <a:bodyPr wrap="square">
            <a:spAutoFit/>
          </a:bodyPr>
          <a:lstStyle/>
          <a:p>
            <a:pPr algn="l"/>
            <a:r>
              <a:rPr sz="1200" b="0" i="0">
                <a:solidFill>
                  <a:srgbClr val="DDEEDD"/>
                </a:solidFill>
                <a:latin typeface="Barlow"/>
              </a:rPr>
              <a:t>Program graduates become paid Peace Corridor outreach workers and community safety ambassadors — turning lived experience into professional credibility and cycles into careers.</a:t>
            </a:r>
          </a:p>
        </p:txBody>
      </p:sp>
      <p:sp>
        <p:nvSpPr>
          <p:cNvPr id="15" name="Rectangle 14"/>
          <p:cNvSpPr/>
          <p:nvPr/>
        </p:nvSpPr>
        <p:spPr>
          <a:xfrm>
            <a:off x="457200" y="4663440"/>
            <a:ext cx="11277295" cy="1371600"/>
          </a:xfrm>
          <a:prstGeom prst="rect">
            <a:avLst/>
          </a:prstGeom>
          <a:solidFill>
            <a:srgbClr val="153015"/>
          </a:solid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773168"/>
            <a:ext cx="11002975" cy="228600"/>
          </a:xfrm>
          <a:prstGeom prst="rect">
            <a:avLst/>
          </a:prstGeom>
          <a:noFill/>
        </p:spPr>
        <p:txBody>
          <a:bodyPr wrap="square">
            <a:spAutoFit/>
          </a:bodyPr>
          <a:lstStyle/>
          <a:p>
            <a:pPr algn="l"/>
            <a:r>
              <a:rPr sz="800" b="1" i="0">
                <a:solidFill>
                  <a:srgbClr val="7FBA00"/>
                </a:solidFill>
                <a:latin typeface="Barlow"/>
              </a:rPr>
              <a:t>NO HANDOFFS. ONE TEAM.</a:t>
            </a:r>
          </a:p>
        </p:txBody>
      </p:sp>
      <p:sp>
        <p:nvSpPr>
          <p:cNvPr id="17" name="TextBox 16"/>
          <p:cNvSpPr txBox="1"/>
          <p:nvPr/>
        </p:nvSpPr>
        <p:spPr>
          <a:xfrm>
            <a:off x="594360" y="5010912"/>
            <a:ext cx="11002975" cy="914400"/>
          </a:xfrm>
          <a:prstGeom prst="rect">
            <a:avLst/>
          </a:prstGeom>
          <a:noFill/>
        </p:spPr>
        <p:txBody>
          <a:bodyPr wrap="square">
            <a:spAutoFit/>
          </a:bodyPr>
          <a:lstStyle/>
          <a:p>
            <a:pPr algn="l"/>
            <a:r>
              <a:rPr sz="1100" b="0" i="1">
                <a:solidFill>
                  <a:srgbClr val="DDEEDD"/>
                </a:solidFill>
                <a:latin typeface="Barlow"/>
              </a:rPr>
              <a:t>Every participant moves through a single integrated pathway — from first contact on the block or in a trauma bay, to stable employment, housing, and legal standing.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TextBox 1"/>
          <p:cNvSpPr txBox="1"/>
          <p:nvPr/>
        </p:nvSpPr>
        <p:spPr>
          <a:xfrm>
            <a:off x="457200" y="411480"/>
            <a:ext cx="6583680" cy="2560320"/>
          </a:xfrm>
          <a:prstGeom prst="rect">
            <a:avLst/>
          </a:prstGeom>
          <a:noFill/>
        </p:spPr>
        <p:txBody>
          <a:bodyPr wrap="square">
            <a:spAutoFit/>
          </a:bodyPr>
          <a:lstStyle/>
          <a:p>
            <a:pPr algn="l"/>
            <a:r>
              <a:rPr sz="2800" b="1" i="0">
                <a:solidFill>
                  <a:srgbClr val="FFFFFF"/>
                </a:solidFill>
                <a:latin typeface="Oswald"/>
              </a:rPr>
              <a:t>"Everyone in Englewood wants to live.
Not everyone has been given
a reason to believe they will."</a:t>
            </a:r>
          </a:p>
        </p:txBody>
      </p:sp>
      <p:sp>
        <p:nvSpPr>
          <p:cNvPr id="3" name="Rectangle 2"/>
          <p:cNvSpPr/>
          <p:nvPr/>
        </p:nvSpPr>
        <p:spPr>
          <a:xfrm>
            <a:off x="457200" y="3108960"/>
            <a:ext cx="548640" cy="38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337560"/>
            <a:ext cx="6400800" cy="2194560"/>
          </a:xfrm>
          <a:prstGeom prst="rect">
            <a:avLst/>
          </a:prstGeom>
          <a:noFill/>
        </p:spPr>
        <p:txBody>
          <a:bodyPr wrap="square">
            <a:spAutoFit/>
          </a:bodyPr>
          <a:lstStyle/>
          <a:p>
            <a:pPr algn="l"/>
            <a:r>
              <a:rPr sz="1300" b="0" i="0">
                <a:solidFill>
                  <a:srgbClr val="DDEEDD"/>
                </a:solidFill>
                <a:latin typeface="Barlow"/>
              </a:rPr>
              <a:t>If individuals at the highest risk of being shot or incarcerated are reached by credible messengers, provided with economic alternatives through transitional employment and CBT, and connected to healthcare, housing, and legal support — then they will be on a thriving pathway to financial, physical, social-emotional, and spiritual growth that will impact themselves, their families, and their community.</a:t>
            </a:r>
          </a:p>
        </p:txBody>
      </p:sp>
      <p:sp>
        <p:nvSpPr>
          <p:cNvPr id="5" name="TextBox 4"/>
          <p:cNvSpPr txBox="1"/>
          <p:nvPr/>
        </p:nvSpPr>
        <p:spPr>
          <a:xfrm>
            <a:off x="457200" y="5623560"/>
            <a:ext cx="6400800" cy="594360"/>
          </a:xfrm>
          <a:prstGeom prst="rect">
            <a:avLst/>
          </a:prstGeom>
          <a:noFill/>
        </p:spPr>
        <p:txBody>
          <a:bodyPr wrap="square">
            <a:spAutoFit/>
          </a:bodyPr>
          <a:lstStyle/>
          <a:p>
            <a:pPr algn="l"/>
            <a:r>
              <a:rPr sz="1200" b="1" i="1">
                <a:solidFill>
                  <a:srgbClr val="7FBA00"/>
                </a:solidFill>
                <a:latin typeface="Barlow"/>
              </a:rPr>
              <a:t>The evidence is not theoretical. It is documented.
What Englewood has been missing is not proof — it is investment.</a:t>
            </a:r>
          </a:p>
        </p:txBody>
      </p:sp>
      <p:sp>
        <p:nvSpPr>
          <p:cNvPr id="6" name="Rectangle 5"/>
          <p:cNvSpPr/>
          <p:nvPr/>
        </p:nvSpPr>
        <p:spPr>
          <a:xfrm>
            <a:off x="7315200" y="0"/>
            <a:ext cx="4876495" cy="6858000"/>
          </a:xfrm>
          <a:prstGeom prst="rect">
            <a:avLst/>
          </a:prstGeom>
          <a:solidFill>
            <a:srgbClr val="152B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0" y="0"/>
            <a:ext cx="4876495" cy="6858000"/>
          </a:xfrm>
          <a:prstGeom prst="rect">
            <a:avLst/>
          </a:prstGeom>
          <a:solidFill>
            <a:srgbClr val="152B15"/>
          </a:solid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0" y="3063240"/>
            <a:ext cx="4510735" cy="731520"/>
          </a:xfrm>
          <a:prstGeom prst="rect">
            <a:avLst/>
          </a:prstGeom>
          <a:noFill/>
        </p:spPr>
        <p:txBody>
          <a:bodyPr wrap="square">
            <a:spAutoFit/>
          </a:bodyPr>
          <a:lstStyle/>
          <a:p>
            <a:pPr algn="ctr"/>
            <a:r>
              <a:rPr sz="900" b="0" i="1">
                <a:solidFill>
                  <a:srgbClr val="7A8E7A"/>
                </a:solidFill>
                <a:latin typeface="Barlow"/>
              </a:rPr>
              <a:t>📷  IMAN community safety team member — in action on the block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Rectangle 1"/>
          <p:cNvSpPr/>
          <p:nvPr/>
        </p:nvSpPr>
        <p:spPr>
          <a:xfrm>
            <a:off x="0" y="0"/>
            <a:ext cx="777240" cy="6858000"/>
          </a:xfrm>
          <a:prstGeom prst="rect">
            <a:avLst/>
          </a:prstGeom>
          <a:solidFill>
            <a:srgbClr val="152B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560320" y="2103120"/>
            <a:ext cx="5943600" cy="548640"/>
          </a:xfrm>
          <a:prstGeom prst="rect">
            <a:avLst/>
          </a:prstGeom>
          <a:noFill/>
        </p:spPr>
        <p:txBody>
          <a:bodyPr wrap="square">
            <a:spAutoFit/>
          </a:bodyPr>
          <a:lstStyle/>
          <a:p>
            <a:pPr algn="l"/>
            <a:r>
              <a:rPr sz="1400" b="1" i="0">
                <a:solidFill>
                  <a:srgbClr val="7FBA00"/>
                </a:solidFill>
                <a:latin typeface="Oswald"/>
              </a:rPr>
              <a:t>A HOLISTIC APPROACH</a:t>
            </a:r>
          </a:p>
        </p:txBody>
      </p:sp>
      <p:sp>
        <p:nvSpPr>
          <p:cNvPr id="4" name="Rectangle 3"/>
          <p:cNvSpPr/>
          <p:nvPr/>
        </p:nvSpPr>
        <p:spPr>
          <a:xfrm>
            <a:off x="868680" y="640080"/>
            <a:ext cx="38100" cy="164592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640080"/>
            <a:ext cx="6858000" cy="365760"/>
          </a:xfrm>
          <a:prstGeom prst="rect">
            <a:avLst/>
          </a:prstGeom>
          <a:noFill/>
        </p:spPr>
        <p:txBody>
          <a:bodyPr wrap="square">
            <a:spAutoFit/>
          </a:bodyPr>
          <a:lstStyle/>
          <a:p>
            <a:pPr algn="l"/>
            <a:r>
              <a:rPr sz="1200" b="1" i="0">
                <a:solidFill>
                  <a:srgbClr val="7FBA00"/>
                </a:solidFill>
                <a:latin typeface="Barlow"/>
              </a:rPr>
              <a:t>Crisis-to-stability continuum for every participant</a:t>
            </a:r>
          </a:p>
        </p:txBody>
      </p:sp>
      <p:sp>
        <p:nvSpPr>
          <p:cNvPr id="6" name="TextBox 5"/>
          <p:cNvSpPr txBox="1"/>
          <p:nvPr/>
        </p:nvSpPr>
        <p:spPr>
          <a:xfrm>
            <a:off x="1097280" y="1024128"/>
            <a:ext cx="6858000" cy="1371600"/>
          </a:xfrm>
          <a:prstGeom prst="rect">
            <a:avLst/>
          </a:prstGeom>
          <a:noFill/>
        </p:spPr>
        <p:txBody>
          <a:bodyPr wrap="square">
            <a:spAutoFit/>
          </a:bodyPr>
          <a:lstStyle/>
          <a:p>
            <a:pPr algn="l"/>
            <a:r>
              <a:rPr sz="1150" b="0" i="0">
                <a:solidFill>
                  <a:srgbClr val="DDEEDD"/>
                </a:solidFill>
                <a:latin typeface="Barlow"/>
              </a:rPr>
              <a:t>From the moment of contact — whether on the block or in a hospital trauma bay — every Peace Corridor participant is enrolled in a structured pathway: outreach → CBT → employment → housing → healthcare → legal. No handoffs. One team.</a:t>
            </a:r>
          </a:p>
        </p:txBody>
      </p:sp>
      <p:sp>
        <p:nvSpPr>
          <p:cNvPr id="7" name="Rectangle 6"/>
          <p:cNvSpPr/>
          <p:nvPr/>
        </p:nvSpPr>
        <p:spPr>
          <a:xfrm>
            <a:off x="868680" y="2606040"/>
            <a:ext cx="38100" cy="164592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606040"/>
            <a:ext cx="6858000" cy="365760"/>
          </a:xfrm>
          <a:prstGeom prst="rect">
            <a:avLst/>
          </a:prstGeom>
          <a:noFill/>
        </p:spPr>
        <p:txBody>
          <a:bodyPr wrap="square">
            <a:spAutoFit/>
          </a:bodyPr>
          <a:lstStyle/>
          <a:p>
            <a:pPr algn="l"/>
            <a:r>
              <a:rPr sz="1200" b="1" i="0">
                <a:solidFill>
                  <a:srgbClr val="7FBA00"/>
                </a:solidFill>
                <a:latin typeface="Barlow"/>
              </a:rPr>
              <a:t>Weekly therapy, financial literacy &amp; behavioral health</a:t>
            </a:r>
          </a:p>
        </p:txBody>
      </p:sp>
      <p:sp>
        <p:nvSpPr>
          <p:cNvPr id="9" name="TextBox 8"/>
          <p:cNvSpPr txBox="1"/>
          <p:nvPr/>
        </p:nvSpPr>
        <p:spPr>
          <a:xfrm>
            <a:off x="1097280" y="2990088"/>
            <a:ext cx="6858000" cy="1371600"/>
          </a:xfrm>
          <a:prstGeom prst="rect">
            <a:avLst/>
          </a:prstGeom>
          <a:noFill/>
        </p:spPr>
        <p:txBody>
          <a:bodyPr wrap="square">
            <a:spAutoFit/>
          </a:bodyPr>
          <a:lstStyle/>
          <a:p>
            <a:pPr algn="l"/>
            <a:r>
              <a:rPr sz="1150" b="0" i="0">
                <a:solidFill>
                  <a:srgbClr val="DDEEDD"/>
                </a:solidFill>
                <a:latin typeface="Barlow"/>
              </a:rPr>
              <a:t>Every participant receives 1 hour of individual therapy and 1 hour of life coaching per week, plus weekly group sessions in financial literacy, trauma recovery, and spiritual grounding — gaining more than a job, gaining a foundation.</a:t>
            </a:r>
          </a:p>
        </p:txBody>
      </p:sp>
      <p:sp>
        <p:nvSpPr>
          <p:cNvPr id="10" name="Rectangle 9"/>
          <p:cNvSpPr/>
          <p:nvPr/>
        </p:nvSpPr>
        <p:spPr>
          <a:xfrm>
            <a:off x="868680" y="4572000"/>
            <a:ext cx="38100" cy="164592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572000"/>
            <a:ext cx="6858000" cy="365760"/>
          </a:xfrm>
          <a:prstGeom prst="rect">
            <a:avLst/>
          </a:prstGeom>
          <a:noFill/>
        </p:spPr>
        <p:txBody>
          <a:bodyPr wrap="square">
            <a:spAutoFit/>
          </a:bodyPr>
          <a:lstStyle/>
          <a:p>
            <a:pPr algn="l"/>
            <a:r>
              <a:rPr sz="1200" b="1" i="0">
                <a:solidFill>
                  <a:srgbClr val="7FBA00"/>
                </a:solidFill>
                <a:latin typeface="Barlow"/>
              </a:rPr>
              <a:t>Full integration with IMAN's Health Center, Green ReEntry &amp; Griot Plaza</a:t>
            </a:r>
          </a:p>
        </p:txBody>
      </p:sp>
      <p:sp>
        <p:nvSpPr>
          <p:cNvPr id="12" name="TextBox 11"/>
          <p:cNvSpPr txBox="1"/>
          <p:nvPr/>
        </p:nvSpPr>
        <p:spPr>
          <a:xfrm>
            <a:off x="1097280" y="4956048"/>
            <a:ext cx="6858000" cy="1371600"/>
          </a:xfrm>
          <a:prstGeom prst="rect">
            <a:avLst/>
          </a:prstGeom>
          <a:noFill/>
        </p:spPr>
        <p:txBody>
          <a:bodyPr wrap="square">
            <a:spAutoFit/>
          </a:bodyPr>
          <a:lstStyle/>
          <a:p>
            <a:pPr algn="l"/>
            <a:r>
              <a:rPr sz="1150" b="0" i="0">
                <a:solidFill>
                  <a:srgbClr val="DDEEDD"/>
                </a:solidFill>
                <a:latin typeface="Barlow"/>
              </a:rPr>
              <a:t>Peace Corridor participants are enrolled in IMAN's FQHC, connected to Green ReEntry's workforce pipeline, housed in transitional units, and anchored at Griot Plaza. This is the full IMAN ecosystem — activated for Englewood's most vulnerable.</a:t>
            </a:r>
          </a:p>
        </p:txBody>
      </p:sp>
      <p:sp>
        <p:nvSpPr>
          <p:cNvPr id="13" name="Rectangle 12"/>
          <p:cNvSpPr/>
          <p:nvPr/>
        </p:nvSpPr>
        <p:spPr>
          <a:xfrm>
            <a:off x="8595360" y="1097280"/>
            <a:ext cx="3200400" cy="3200400"/>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326880" y="1828800"/>
            <a:ext cx="1737360" cy="1737360"/>
          </a:xfrm>
          <a:prstGeom prst="rect">
            <a:avLst/>
          </a:prstGeom>
          <a:noFill/>
          <a:ln w="6350">
            <a:solidFill>
              <a:srgbClr val="508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0" y="2331720"/>
            <a:ext cx="1188720" cy="731520"/>
          </a:xfrm>
          <a:prstGeom prst="rect">
            <a:avLst/>
          </a:prstGeom>
          <a:noFill/>
        </p:spPr>
        <p:txBody>
          <a:bodyPr wrap="square">
            <a:spAutoFit/>
          </a:bodyPr>
          <a:lstStyle/>
          <a:p>
            <a:pPr algn="ctr"/>
            <a:r>
              <a:rPr sz="900" b="1" i="0">
                <a:solidFill>
                  <a:srgbClr val="FFFFFF"/>
                </a:solidFill>
                <a:latin typeface="Oswald"/>
              </a:rPr>
              <a:t>PEACE
CORRIDOR</a:t>
            </a:r>
          </a:p>
        </p:txBody>
      </p:sp>
      <p:sp>
        <p:nvSpPr>
          <p:cNvPr id="16" name="TextBox 15"/>
          <p:cNvSpPr txBox="1"/>
          <p:nvPr/>
        </p:nvSpPr>
        <p:spPr>
          <a:xfrm>
            <a:off x="9784080" y="896112"/>
            <a:ext cx="822960" cy="256032"/>
          </a:xfrm>
          <a:prstGeom prst="rect">
            <a:avLst/>
          </a:prstGeom>
          <a:noFill/>
        </p:spPr>
        <p:txBody>
          <a:bodyPr wrap="square">
            <a:spAutoFit/>
          </a:bodyPr>
          <a:lstStyle/>
          <a:p>
            <a:pPr algn="l"/>
            <a:r>
              <a:rPr sz="800" b="1" i="0">
                <a:solidFill>
                  <a:srgbClr val="7FBA00"/>
                </a:solidFill>
                <a:latin typeface="Barlow"/>
              </a:rPr>
              <a:t>Outreach</a:t>
            </a:r>
          </a:p>
        </p:txBody>
      </p:sp>
      <p:sp>
        <p:nvSpPr>
          <p:cNvPr id="17" name="TextBox 16"/>
          <p:cNvSpPr txBox="1"/>
          <p:nvPr/>
        </p:nvSpPr>
        <p:spPr>
          <a:xfrm>
            <a:off x="11795760" y="1645920"/>
            <a:ext cx="822960" cy="256032"/>
          </a:xfrm>
          <a:prstGeom prst="rect">
            <a:avLst/>
          </a:prstGeom>
          <a:noFill/>
        </p:spPr>
        <p:txBody>
          <a:bodyPr wrap="square">
            <a:spAutoFit/>
          </a:bodyPr>
          <a:lstStyle/>
          <a:p>
            <a:pPr algn="l"/>
            <a:r>
              <a:rPr sz="800" b="1" i="0">
                <a:solidFill>
                  <a:srgbClr val="7FBA00"/>
                </a:solidFill>
                <a:latin typeface="Barlow"/>
              </a:rPr>
              <a:t>CBT</a:t>
            </a:r>
          </a:p>
        </p:txBody>
      </p:sp>
      <p:sp>
        <p:nvSpPr>
          <p:cNvPr id="18" name="TextBox 17"/>
          <p:cNvSpPr txBox="1"/>
          <p:nvPr/>
        </p:nvSpPr>
        <p:spPr>
          <a:xfrm>
            <a:off x="11795760" y="3108960"/>
            <a:ext cx="822960" cy="256032"/>
          </a:xfrm>
          <a:prstGeom prst="rect">
            <a:avLst/>
          </a:prstGeom>
          <a:noFill/>
        </p:spPr>
        <p:txBody>
          <a:bodyPr wrap="square">
            <a:spAutoFit/>
          </a:bodyPr>
          <a:lstStyle/>
          <a:p>
            <a:pPr algn="l"/>
            <a:r>
              <a:rPr sz="800" b="1" i="0">
                <a:solidFill>
                  <a:srgbClr val="7FBA00"/>
                </a:solidFill>
                <a:latin typeface="Barlow"/>
              </a:rPr>
              <a:t>Jobs</a:t>
            </a:r>
          </a:p>
        </p:txBody>
      </p:sp>
      <p:sp>
        <p:nvSpPr>
          <p:cNvPr id="19" name="TextBox 18"/>
          <p:cNvSpPr txBox="1"/>
          <p:nvPr/>
        </p:nvSpPr>
        <p:spPr>
          <a:xfrm>
            <a:off x="9784080" y="4187952"/>
            <a:ext cx="822960" cy="256032"/>
          </a:xfrm>
          <a:prstGeom prst="rect">
            <a:avLst/>
          </a:prstGeom>
          <a:noFill/>
        </p:spPr>
        <p:txBody>
          <a:bodyPr wrap="square">
            <a:spAutoFit/>
          </a:bodyPr>
          <a:lstStyle/>
          <a:p>
            <a:pPr algn="l"/>
            <a:r>
              <a:rPr sz="800" b="1" i="0">
                <a:solidFill>
                  <a:srgbClr val="7FBA00"/>
                </a:solidFill>
                <a:latin typeface="Barlow"/>
              </a:rPr>
              <a:t>Housing</a:t>
            </a:r>
          </a:p>
        </p:txBody>
      </p:sp>
      <p:sp>
        <p:nvSpPr>
          <p:cNvPr id="20" name="TextBox 19"/>
          <p:cNvSpPr txBox="1"/>
          <p:nvPr/>
        </p:nvSpPr>
        <p:spPr>
          <a:xfrm>
            <a:off x="8092440" y="3108960"/>
            <a:ext cx="822960" cy="256032"/>
          </a:xfrm>
          <a:prstGeom prst="rect">
            <a:avLst/>
          </a:prstGeom>
          <a:noFill/>
        </p:spPr>
        <p:txBody>
          <a:bodyPr wrap="square">
            <a:spAutoFit/>
          </a:bodyPr>
          <a:lstStyle/>
          <a:p>
            <a:pPr algn="l"/>
            <a:r>
              <a:rPr sz="800" b="1" i="0">
                <a:solidFill>
                  <a:srgbClr val="7FBA00"/>
                </a:solidFill>
                <a:latin typeface="Barlow"/>
              </a:rPr>
              <a:t>Health</a:t>
            </a:r>
          </a:p>
        </p:txBody>
      </p:sp>
      <p:sp>
        <p:nvSpPr>
          <p:cNvPr id="21" name="TextBox 20"/>
          <p:cNvSpPr txBox="1"/>
          <p:nvPr/>
        </p:nvSpPr>
        <p:spPr>
          <a:xfrm>
            <a:off x="8092440" y="1645920"/>
            <a:ext cx="822960" cy="256032"/>
          </a:xfrm>
          <a:prstGeom prst="rect">
            <a:avLst/>
          </a:prstGeom>
          <a:noFill/>
        </p:spPr>
        <p:txBody>
          <a:bodyPr wrap="square">
            <a:spAutoFit/>
          </a:bodyPr>
          <a:lstStyle/>
          <a:p>
            <a:pPr algn="l"/>
            <a:r>
              <a:rPr sz="800" b="1" i="0">
                <a:solidFill>
                  <a:srgbClr val="7FBA00"/>
                </a:solidFill>
                <a:latin typeface="Barlow"/>
              </a:rPr>
              <a:t>Legal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TextBox 1"/>
          <p:cNvSpPr txBox="1"/>
          <p:nvPr/>
        </p:nvSpPr>
        <p:spPr>
          <a:xfrm>
            <a:off x="457200" y="274320"/>
            <a:ext cx="10058400" cy="274320"/>
          </a:xfrm>
          <a:prstGeom prst="rect">
            <a:avLst/>
          </a:prstGeom>
          <a:noFill/>
        </p:spPr>
        <p:txBody>
          <a:bodyPr wrap="square">
            <a:spAutoFit/>
          </a:bodyPr>
          <a:lstStyle/>
          <a:p>
            <a:pPr algn="l"/>
            <a:r>
              <a:rPr sz="900" b="1" i="0">
                <a:solidFill>
                  <a:srgbClr val="7FBA00"/>
                </a:solidFill>
                <a:latin typeface="Barlow"/>
              </a:rPr>
              <a:t>BACKED BY THE STRONGEST EVIDENCE IN PUBLIC HEALTH.</a:t>
            </a:r>
          </a:p>
        </p:txBody>
      </p:sp>
      <p:sp>
        <p:nvSpPr>
          <p:cNvPr id="3" name="TextBox 2"/>
          <p:cNvSpPr txBox="1"/>
          <p:nvPr/>
        </p:nvSpPr>
        <p:spPr>
          <a:xfrm>
            <a:off x="457200" y="594360"/>
            <a:ext cx="6858000" cy="1005840"/>
          </a:xfrm>
          <a:prstGeom prst="rect">
            <a:avLst/>
          </a:prstGeom>
          <a:noFill/>
        </p:spPr>
        <p:txBody>
          <a:bodyPr wrap="square">
            <a:spAutoFit/>
          </a:bodyPr>
          <a:lstStyle/>
          <a:p>
            <a:pPr algn="l"/>
            <a:r>
              <a:rPr sz="2600" b="1" i="0">
                <a:solidFill>
                  <a:srgbClr val="FFFFFF"/>
                </a:solidFill>
                <a:latin typeface="Oswald"/>
              </a:rPr>
              <a:t>The Most Rigorously Tested Violence Intervention Models in the U.S.
— Applied in Englewood.</a:t>
            </a:r>
          </a:p>
        </p:txBody>
      </p:sp>
      <p:sp>
        <p:nvSpPr>
          <p:cNvPr id="4" name="Rectangle 3"/>
          <p:cNvSpPr/>
          <p:nvPr/>
        </p:nvSpPr>
        <p:spPr>
          <a:xfrm>
            <a:off x="457200" y="1737360"/>
            <a:ext cx="50800" cy="118872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737360"/>
            <a:ext cx="6583680" cy="274320"/>
          </a:xfrm>
          <a:prstGeom prst="rect">
            <a:avLst/>
          </a:prstGeom>
          <a:noFill/>
        </p:spPr>
        <p:txBody>
          <a:bodyPr wrap="square">
            <a:spAutoFit/>
          </a:bodyPr>
          <a:lstStyle/>
          <a:p>
            <a:pPr algn="l"/>
            <a:r>
              <a:rPr sz="900" b="1" i="0">
                <a:solidFill>
                  <a:srgbClr val="7FBA00"/>
                </a:solidFill>
                <a:latin typeface="Barlow"/>
              </a:rPr>
              <a:t>Street Outreach — Cure Violence</a:t>
            </a:r>
          </a:p>
        </p:txBody>
      </p:sp>
      <p:sp>
        <p:nvSpPr>
          <p:cNvPr id="6" name="TextBox 5"/>
          <p:cNvSpPr txBox="1"/>
          <p:nvPr/>
        </p:nvSpPr>
        <p:spPr>
          <a:xfrm>
            <a:off x="594360" y="2011680"/>
            <a:ext cx="6583680" cy="502920"/>
          </a:xfrm>
          <a:prstGeom prst="rect">
            <a:avLst/>
          </a:prstGeom>
          <a:noFill/>
        </p:spPr>
        <p:txBody>
          <a:bodyPr wrap="square">
            <a:spAutoFit/>
          </a:bodyPr>
          <a:lstStyle/>
          <a:p>
            <a:pPr algn="l"/>
            <a:r>
              <a:rPr sz="1700" b="1" i="0">
                <a:solidFill>
                  <a:srgbClr val="FFFFFF"/>
                </a:solidFill>
                <a:latin typeface="Barlow Condensed"/>
              </a:rPr>
              <a:t>30–60% reduction in shootings · 56% homicide drop in Baltimore</a:t>
            </a:r>
          </a:p>
        </p:txBody>
      </p:sp>
      <p:sp>
        <p:nvSpPr>
          <p:cNvPr id="7" name="TextBox 6"/>
          <p:cNvSpPr txBox="1"/>
          <p:nvPr/>
        </p:nvSpPr>
        <p:spPr>
          <a:xfrm>
            <a:off x="594360" y="2542032"/>
            <a:ext cx="6583680" cy="274320"/>
          </a:xfrm>
          <a:prstGeom prst="rect">
            <a:avLst/>
          </a:prstGeom>
          <a:noFill/>
        </p:spPr>
        <p:txBody>
          <a:bodyPr wrap="square">
            <a:spAutoFit/>
          </a:bodyPr>
          <a:lstStyle/>
          <a:p>
            <a:pPr algn="l"/>
            <a:r>
              <a:rPr sz="900" b="0" i="1">
                <a:solidFill>
                  <a:srgbClr val="7A8E7A"/>
                </a:solidFill>
                <a:latin typeface="Barlow"/>
              </a:rPr>
              <a:t>Ransford et al., systematic review; Johns Hopkins evaluation</a:t>
            </a:r>
          </a:p>
        </p:txBody>
      </p:sp>
      <p:sp>
        <p:nvSpPr>
          <p:cNvPr id="8" name="Rectangle 7"/>
          <p:cNvSpPr/>
          <p:nvPr/>
        </p:nvSpPr>
        <p:spPr>
          <a:xfrm>
            <a:off x="457200" y="3246120"/>
            <a:ext cx="50800" cy="118872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246120"/>
            <a:ext cx="6583680" cy="274320"/>
          </a:xfrm>
          <a:prstGeom prst="rect">
            <a:avLst/>
          </a:prstGeom>
          <a:noFill/>
        </p:spPr>
        <p:txBody>
          <a:bodyPr wrap="square">
            <a:spAutoFit/>
          </a:bodyPr>
          <a:lstStyle/>
          <a:p>
            <a:pPr algn="l"/>
            <a:r>
              <a:rPr sz="900" b="1" i="0">
                <a:solidFill>
                  <a:srgbClr val="7FBA00"/>
                </a:solidFill>
                <a:latin typeface="Barlow"/>
              </a:rPr>
              <a:t>CBT + Employment — READI Chicago</a:t>
            </a:r>
          </a:p>
        </p:txBody>
      </p:sp>
      <p:sp>
        <p:nvSpPr>
          <p:cNvPr id="10" name="TextBox 9"/>
          <p:cNvSpPr txBox="1"/>
          <p:nvPr/>
        </p:nvSpPr>
        <p:spPr>
          <a:xfrm>
            <a:off x="594360" y="3520440"/>
            <a:ext cx="6583680" cy="502920"/>
          </a:xfrm>
          <a:prstGeom prst="rect">
            <a:avLst/>
          </a:prstGeom>
          <a:noFill/>
        </p:spPr>
        <p:txBody>
          <a:bodyPr wrap="square">
            <a:spAutoFit/>
          </a:bodyPr>
          <a:lstStyle/>
          <a:p>
            <a:pPr algn="l"/>
            <a:r>
              <a:rPr sz="1700" b="1" i="0">
                <a:solidFill>
                  <a:srgbClr val="FFFFFF"/>
                </a:solidFill>
                <a:latin typeface="Barlow Condensed"/>
              </a:rPr>
              <a:t>79% reduction in violent crime involvement</a:t>
            </a:r>
          </a:p>
        </p:txBody>
      </p:sp>
      <p:sp>
        <p:nvSpPr>
          <p:cNvPr id="11" name="TextBox 10"/>
          <p:cNvSpPr txBox="1"/>
          <p:nvPr/>
        </p:nvSpPr>
        <p:spPr>
          <a:xfrm>
            <a:off x="594360" y="4050792"/>
            <a:ext cx="6583680" cy="274320"/>
          </a:xfrm>
          <a:prstGeom prst="rect">
            <a:avLst/>
          </a:prstGeom>
          <a:noFill/>
        </p:spPr>
        <p:txBody>
          <a:bodyPr wrap="square">
            <a:spAutoFit/>
          </a:bodyPr>
          <a:lstStyle/>
          <a:p>
            <a:pPr algn="l"/>
            <a:r>
              <a:rPr sz="900" b="0" i="1">
                <a:solidFill>
                  <a:srgbClr val="7A8E7A"/>
                </a:solidFill>
                <a:latin typeface="Barlow"/>
              </a:rPr>
              <a:t>University of Chicago Crime Lab, 2023</a:t>
            </a:r>
          </a:p>
        </p:txBody>
      </p:sp>
      <p:sp>
        <p:nvSpPr>
          <p:cNvPr id="12" name="Rectangle 11"/>
          <p:cNvSpPr/>
          <p:nvPr/>
        </p:nvSpPr>
        <p:spPr>
          <a:xfrm>
            <a:off x="457200" y="4754880"/>
            <a:ext cx="50800" cy="118872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4754880"/>
            <a:ext cx="6583680" cy="274320"/>
          </a:xfrm>
          <a:prstGeom prst="rect">
            <a:avLst/>
          </a:prstGeom>
          <a:noFill/>
        </p:spPr>
        <p:txBody>
          <a:bodyPr wrap="square">
            <a:spAutoFit/>
          </a:bodyPr>
          <a:lstStyle/>
          <a:p>
            <a:pPr algn="l"/>
            <a:r>
              <a:rPr sz="900" b="1" i="0">
                <a:solidFill>
                  <a:srgbClr val="7FBA00"/>
                </a:solidFill>
                <a:latin typeface="Barlow"/>
              </a:rPr>
              <a:t>Hospital-Based Intervention</a:t>
            </a:r>
          </a:p>
        </p:txBody>
      </p:sp>
      <p:sp>
        <p:nvSpPr>
          <p:cNvPr id="14" name="TextBox 13"/>
          <p:cNvSpPr txBox="1"/>
          <p:nvPr/>
        </p:nvSpPr>
        <p:spPr>
          <a:xfrm>
            <a:off x="594360" y="5029200"/>
            <a:ext cx="6583680" cy="502920"/>
          </a:xfrm>
          <a:prstGeom prst="rect">
            <a:avLst/>
          </a:prstGeom>
          <a:noFill/>
        </p:spPr>
        <p:txBody>
          <a:bodyPr wrap="square">
            <a:spAutoFit/>
          </a:bodyPr>
          <a:lstStyle/>
          <a:p>
            <a:pPr algn="l"/>
            <a:r>
              <a:rPr sz="1700" b="1" i="0">
                <a:solidFill>
                  <a:srgbClr val="FFFFFF"/>
                </a:solidFill>
                <a:latin typeface="Barlow Condensed"/>
              </a:rPr>
              <a:t>3–5× more likely to engage when reached in trauma bay</a:t>
            </a:r>
          </a:p>
        </p:txBody>
      </p:sp>
      <p:sp>
        <p:nvSpPr>
          <p:cNvPr id="15" name="TextBox 14"/>
          <p:cNvSpPr txBox="1"/>
          <p:nvPr/>
        </p:nvSpPr>
        <p:spPr>
          <a:xfrm>
            <a:off x="594360" y="5559552"/>
            <a:ext cx="6583680" cy="274320"/>
          </a:xfrm>
          <a:prstGeom prst="rect">
            <a:avLst/>
          </a:prstGeom>
          <a:noFill/>
        </p:spPr>
        <p:txBody>
          <a:bodyPr wrap="square">
            <a:spAutoFit/>
          </a:bodyPr>
          <a:lstStyle/>
          <a:p>
            <a:pPr algn="l"/>
            <a:r>
              <a:rPr sz="900" b="0" i="1">
                <a:solidFill>
                  <a:srgbClr val="7A8E7A"/>
                </a:solidFill>
                <a:latin typeface="Barlow"/>
              </a:rPr>
              <a:t>National Network of Hospital-Based Violence Intervention Programs</a:t>
            </a:r>
          </a:p>
        </p:txBody>
      </p:sp>
      <p:sp>
        <p:nvSpPr>
          <p:cNvPr id="16" name="Rectangle 15"/>
          <p:cNvSpPr/>
          <p:nvPr/>
        </p:nvSpPr>
        <p:spPr>
          <a:xfrm>
            <a:off x="7772400" y="457200"/>
            <a:ext cx="4114800" cy="5943600"/>
          </a:xfrm>
          <a:prstGeom prst="rect">
            <a:avLst/>
          </a:prstGeom>
          <a:solidFill>
            <a:srgbClr val="152B15"/>
          </a:solid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55280" y="3063240"/>
            <a:ext cx="3749040" cy="731520"/>
          </a:xfrm>
          <a:prstGeom prst="rect">
            <a:avLst/>
          </a:prstGeom>
          <a:noFill/>
        </p:spPr>
        <p:txBody>
          <a:bodyPr wrap="square">
            <a:spAutoFit/>
          </a:bodyPr>
          <a:lstStyle/>
          <a:p>
            <a:pPr algn="ctr"/>
            <a:r>
              <a:rPr sz="900" b="0" i="1">
                <a:solidFill>
                  <a:srgbClr val="7A8E7A"/>
                </a:solidFill>
                <a:latin typeface="Barlow"/>
              </a:rPr>
              <a:t>📷  Participant in skills training or counseling session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TextBox 1"/>
          <p:cNvSpPr txBox="1"/>
          <p:nvPr/>
        </p:nvSpPr>
        <p:spPr>
          <a:xfrm>
            <a:off x="457200" y="320040"/>
            <a:ext cx="7315200" cy="1371600"/>
          </a:xfrm>
          <a:prstGeom prst="rect">
            <a:avLst/>
          </a:prstGeom>
          <a:noFill/>
        </p:spPr>
        <p:txBody>
          <a:bodyPr wrap="square">
            <a:spAutoFit/>
          </a:bodyPr>
          <a:lstStyle/>
          <a:p>
            <a:pPr algn="l"/>
            <a:r>
              <a:rPr sz="4800" b="1" i="0">
                <a:solidFill>
                  <a:srgbClr val="FFFFFF"/>
                </a:solidFill>
                <a:latin typeface="Oswald"/>
              </a:rPr>
              <a:t>STREET OUTREACH
&amp; INTERRUPTION</a:t>
            </a:r>
          </a:p>
        </p:txBody>
      </p:sp>
      <p:sp>
        <p:nvSpPr>
          <p:cNvPr id="3" name="TextBox 2"/>
          <p:cNvSpPr txBox="1"/>
          <p:nvPr/>
        </p:nvSpPr>
        <p:spPr>
          <a:xfrm>
            <a:off x="457200" y="1874519"/>
            <a:ext cx="11277295" cy="2926080"/>
          </a:xfrm>
          <a:prstGeom prst="rect">
            <a:avLst/>
          </a:prstGeom>
          <a:noFill/>
        </p:spPr>
        <p:txBody>
          <a:bodyPr wrap="square">
            <a:spAutoFit/>
          </a:bodyPr>
          <a:lstStyle/>
          <a:p>
            <a:pPr>
              <a:spcBef>
                <a:spcPts val="400"/>
              </a:spcBef>
            </a:pPr>
            <a:r>
              <a:rPr sz="900">
                <a:solidFill>
                  <a:srgbClr val="7FBA00"/>
                </a:solidFill>
                <a:latin typeface="Barlow"/>
              </a:rPr>
              <a:t>● </a:t>
            </a:r>
            <a:r>
              <a:rPr b="1" sz="1300">
                <a:solidFill>
                  <a:srgbClr val="FFFFFF"/>
                </a:solidFill>
                <a:latin typeface="Barlow"/>
              </a:rPr>
              <a:t>Cure Violence model proven in 30+ US cities</a:t>
            </a:r>
            <a:r>
              <a:rPr sz="1300">
                <a:solidFill>
                  <a:srgbClr val="DDEEDD"/>
                </a:solidFill>
                <a:latin typeface="Barlow"/>
              </a:rPr>
              <a:t> — average 30–60% reduction in shootings when implemented with fidelity; 56% homicide reduction in Baltimore's highest-violence district</a:t>
            </a:r>
          </a:p>
          <a:p>
            <a:pPr>
              <a:spcBef>
                <a:spcPts val="400"/>
              </a:spcBef>
            </a:pPr>
            <a:r>
              <a:rPr sz="900">
                <a:solidFill>
                  <a:srgbClr val="7FBA00"/>
                </a:solidFill>
                <a:latin typeface="Barlow"/>
              </a:rPr>
              <a:t>● </a:t>
            </a:r>
            <a:r>
              <a:rPr b="1" sz="1300">
                <a:solidFill>
                  <a:srgbClr val="FFFFFF"/>
                </a:solidFill>
                <a:latin typeface="Barlow"/>
              </a:rPr>
              <a:t>Outreach workers are credible messengers</a:t>
            </a:r>
            <a:r>
              <a:rPr sz="1300">
                <a:solidFill>
                  <a:srgbClr val="DDEEDD"/>
                </a:solidFill>
                <a:latin typeface="Barlow"/>
              </a:rPr>
              <a:t> — formerly justice-involved individuals from the same blocks, trained in conflict mediation, CBT techniques, and case management; the only messengers high-risk individuals trust</a:t>
            </a:r>
          </a:p>
          <a:p>
            <a:pPr>
              <a:spcBef>
                <a:spcPts val="400"/>
              </a:spcBef>
            </a:pPr>
            <a:r>
              <a:rPr sz="900">
                <a:solidFill>
                  <a:srgbClr val="7FBA00"/>
                </a:solidFill>
                <a:latin typeface="Barlow"/>
              </a:rPr>
              <a:t>● </a:t>
            </a:r>
            <a:r>
              <a:rPr b="1" sz="1300">
                <a:solidFill>
                  <a:srgbClr val="FFFFFF"/>
                </a:solidFill>
                <a:latin typeface="Barlow"/>
              </a:rPr>
              <a:t>Real-time intelligence layer</a:t>
            </a:r>
            <a:r>
              <a:rPr sz="1300">
                <a:solidFill>
                  <a:srgbClr val="DDEEDD"/>
                </a:solidFill>
                <a:latin typeface="Barlow"/>
              </a:rPr>
              <a:t> — outreach workers in Englewood's highest-shooting corridors detect brewing conflicts before police or hospitals see them, coordinating with IMAN's existing community safety team</a:t>
            </a:r>
          </a:p>
        </p:txBody>
      </p:sp>
      <p:sp>
        <p:nvSpPr>
          <p:cNvPr id="4" name="Rectangle 3"/>
          <p:cNvSpPr/>
          <p:nvPr/>
        </p:nvSpPr>
        <p:spPr>
          <a:xfrm>
            <a:off x="457200" y="5120640"/>
            <a:ext cx="11277295" cy="1188720"/>
          </a:xfrm>
          <a:prstGeom prst="rect">
            <a:avLst/>
          </a:prstGeom>
          <a:solidFill>
            <a:srgbClr val="153015"/>
          </a:solid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5230368"/>
            <a:ext cx="11002975" cy="228600"/>
          </a:xfrm>
          <a:prstGeom prst="rect">
            <a:avLst/>
          </a:prstGeom>
          <a:noFill/>
        </p:spPr>
        <p:txBody>
          <a:bodyPr wrap="square">
            <a:spAutoFit/>
          </a:bodyPr>
          <a:lstStyle/>
          <a:p>
            <a:pPr algn="l"/>
            <a:r>
              <a:rPr sz="800" b="1" i="0">
                <a:solidFill>
                  <a:srgbClr val="7FBA00"/>
                </a:solidFill>
                <a:latin typeface="Barlow"/>
              </a:rPr>
              <a:t>YEAR 1 PROJECTION</a:t>
            </a:r>
          </a:p>
        </p:txBody>
      </p:sp>
      <p:sp>
        <p:nvSpPr>
          <p:cNvPr id="6" name="TextBox 5"/>
          <p:cNvSpPr txBox="1"/>
          <p:nvPr/>
        </p:nvSpPr>
        <p:spPr>
          <a:xfrm>
            <a:off x="594360" y="5468112"/>
            <a:ext cx="11002975" cy="731520"/>
          </a:xfrm>
          <a:prstGeom prst="rect">
            <a:avLst/>
          </a:prstGeom>
          <a:noFill/>
        </p:spPr>
        <p:txBody>
          <a:bodyPr wrap="square">
            <a:spAutoFit/>
          </a:bodyPr>
          <a:lstStyle/>
          <a:p>
            <a:pPr algn="l"/>
            <a:r>
              <a:rPr sz="1100" b="0" i="1">
                <a:solidFill>
                  <a:srgbClr val="DDEEDD"/>
                </a:solidFill>
                <a:latin typeface="Barlow"/>
              </a:rPr>
              <a:t>6–10 full-time outreach workers covering Englewood's highest-risk corridors · Estimated 30–50% reduction in shootings in target area within 24 months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TextBox 1"/>
          <p:cNvSpPr txBox="1"/>
          <p:nvPr/>
        </p:nvSpPr>
        <p:spPr>
          <a:xfrm>
            <a:off x="457200" y="320040"/>
            <a:ext cx="7315200" cy="1371600"/>
          </a:xfrm>
          <a:prstGeom prst="rect">
            <a:avLst/>
          </a:prstGeom>
          <a:noFill/>
        </p:spPr>
        <p:txBody>
          <a:bodyPr wrap="square">
            <a:spAutoFit/>
          </a:bodyPr>
          <a:lstStyle/>
          <a:p>
            <a:pPr algn="l"/>
            <a:r>
              <a:rPr sz="4800" b="1" i="0">
                <a:solidFill>
                  <a:srgbClr val="FFFFFF"/>
                </a:solidFill>
                <a:latin typeface="Oswald"/>
              </a:rPr>
              <a:t>CBT + TRANSITIONAL
EMPLOYMENT</a:t>
            </a:r>
          </a:p>
        </p:txBody>
      </p:sp>
      <p:sp>
        <p:nvSpPr>
          <p:cNvPr id="3" name="TextBox 2"/>
          <p:cNvSpPr txBox="1"/>
          <p:nvPr/>
        </p:nvSpPr>
        <p:spPr>
          <a:xfrm>
            <a:off x="457200" y="1874519"/>
            <a:ext cx="11277295" cy="2926080"/>
          </a:xfrm>
          <a:prstGeom prst="rect">
            <a:avLst/>
          </a:prstGeom>
          <a:noFill/>
        </p:spPr>
        <p:txBody>
          <a:bodyPr wrap="square">
            <a:spAutoFit/>
          </a:bodyPr>
          <a:lstStyle/>
          <a:p>
            <a:pPr>
              <a:spcBef>
                <a:spcPts val="400"/>
              </a:spcBef>
            </a:pPr>
            <a:r>
              <a:rPr sz="900">
                <a:solidFill>
                  <a:srgbClr val="7FBA00"/>
                </a:solidFill>
                <a:latin typeface="Barlow"/>
              </a:rPr>
              <a:t>● </a:t>
            </a:r>
            <a:r>
              <a:rPr b="1" sz="1300">
                <a:solidFill>
                  <a:srgbClr val="FFFFFF"/>
                </a:solidFill>
                <a:latin typeface="Barlow"/>
              </a:rPr>
              <a:t>79% reduction in violent crime involvement</a:t>
            </a:r>
            <a:r>
              <a:rPr sz="1300">
                <a:solidFill>
                  <a:srgbClr val="DDEEDD"/>
                </a:solidFill>
                <a:latin typeface="Barlow"/>
              </a:rPr>
              <a:t> among READI Chicago participants — highest-risk men who received 18 months of transitional employment + CBT vs. control group (UChicago Crime Lab, 2023)</a:t>
            </a:r>
          </a:p>
          <a:p>
            <a:pPr>
              <a:spcBef>
                <a:spcPts val="400"/>
              </a:spcBef>
            </a:pPr>
            <a:r>
              <a:rPr sz="900">
                <a:solidFill>
                  <a:srgbClr val="7FBA00"/>
                </a:solidFill>
                <a:latin typeface="Barlow"/>
              </a:rPr>
              <a:t>● </a:t>
            </a:r>
            <a:r>
              <a:rPr b="1" sz="1300">
                <a:solidFill>
                  <a:srgbClr val="FFFFFF"/>
                </a:solidFill>
                <a:latin typeface="Barlow"/>
              </a:rPr>
              <a:t>Direct pipeline into Green ReEntry</a:t>
            </a:r>
            <a:r>
              <a:rPr sz="1300">
                <a:solidFill>
                  <a:srgbClr val="DDEEDD"/>
                </a:solidFill>
                <a:latin typeface="Barlow"/>
              </a:rPr>
              <a:t> — participants earn NCCER-accredited certifications in carpentry, welding, HVAC, and EV technology with living-wage job placement assistance</a:t>
            </a:r>
          </a:p>
          <a:p>
            <a:pPr>
              <a:spcBef>
                <a:spcPts val="400"/>
              </a:spcBef>
            </a:pPr>
            <a:r>
              <a:rPr sz="900">
                <a:solidFill>
                  <a:srgbClr val="7FBA00"/>
                </a:solidFill>
                <a:latin typeface="Barlow"/>
              </a:rPr>
              <a:t>● </a:t>
            </a:r>
            <a:r>
              <a:rPr b="1" sz="1300">
                <a:solidFill>
                  <a:srgbClr val="FFFFFF"/>
                </a:solidFill>
                <a:latin typeface="Barlow"/>
              </a:rPr>
              <a:t>91% retention rate in 2024</a:t>
            </a:r>
            <a:r>
              <a:rPr sz="1300">
                <a:solidFill>
                  <a:srgbClr val="DDEEDD"/>
                </a:solidFill>
                <a:latin typeface="Barlow"/>
              </a:rPr>
              <a:t> across 350 Green ReEntry participants — proving IMAN's workforce model holds even for the highest-risk populations</a:t>
            </a:r>
          </a:p>
        </p:txBody>
      </p:sp>
      <p:sp>
        <p:nvSpPr>
          <p:cNvPr id="4" name="Rectangle 3"/>
          <p:cNvSpPr/>
          <p:nvPr/>
        </p:nvSpPr>
        <p:spPr>
          <a:xfrm>
            <a:off x="457200" y="5120640"/>
            <a:ext cx="11277295" cy="1188720"/>
          </a:xfrm>
          <a:prstGeom prst="rect">
            <a:avLst/>
          </a:prstGeom>
          <a:solidFill>
            <a:srgbClr val="153015"/>
          </a:solid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5230368"/>
            <a:ext cx="11002975" cy="228600"/>
          </a:xfrm>
          <a:prstGeom prst="rect">
            <a:avLst/>
          </a:prstGeom>
          <a:noFill/>
        </p:spPr>
        <p:txBody>
          <a:bodyPr wrap="square">
            <a:spAutoFit/>
          </a:bodyPr>
          <a:lstStyle/>
          <a:p>
            <a:pPr algn="l"/>
            <a:r>
              <a:rPr sz="800" b="1" i="0">
                <a:solidFill>
                  <a:srgbClr val="7FBA00"/>
                </a:solidFill>
                <a:latin typeface="Barlow"/>
              </a:rPr>
              <a:t>SUCCESS STORY</a:t>
            </a:r>
          </a:p>
        </p:txBody>
      </p:sp>
      <p:sp>
        <p:nvSpPr>
          <p:cNvPr id="6" name="TextBox 5"/>
          <p:cNvSpPr txBox="1"/>
          <p:nvPr/>
        </p:nvSpPr>
        <p:spPr>
          <a:xfrm>
            <a:off x="594360" y="5468112"/>
            <a:ext cx="11002975" cy="731520"/>
          </a:xfrm>
          <a:prstGeom prst="rect">
            <a:avLst/>
          </a:prstGeom>
          <a:noFill/>
        </p:spPr>
        <p:txBody>
          <a:bodyPr wrap="square">
            <a:spAutoFit/>
          </a:bodyPr>
          <a:lstStyle/>
          <a:p>
            <a:pPr algn="l"/>
            <a:r>
              <a:rPr sz="1100" b="0" i="1">
                <a:solidFill>
                  <a:srgbClr val="DDEEDD"/>
                </a:solidFill>
                <a:latin typeface="Barlow"/>
              </a:rPr>
              <a:t>One Green ReEntry graduate is now a certified instructor at City Colleges of Chicago — teaching the next cohort the same skills that changed his life.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TextBox 1"/>
          <p:cNvSpPr txBox="1"/>
          <p:nvPr/>
        </p:nvSpPr>
        <p:spPr>
          <a:xfrm>
            <a:off x="457200" y="320040"/>
            <a:ext cx="6858000" cy="1371600"/>
          </a:xfrm>
          <a:prstGeom prst="rect">
            <a:avLst/>
          </a:prstGeom>
          <a:noFill/>
        </p:spPr>
        <p:txBody>
          <a:bodyPr wrap="square">
            <a:spAutoFit/>
          </a:bodyPr>
          <a:lstStyle/>
          <a:p>
            <a:pPr algn="l"/>
            <a:r>
              <a:rPr sz="4800" b="1" i="0">
                <a:solidFill>
                  <a:srgbClr val="FFFFFF"/>
                </a:solidFill>
                <a:latin typeface="Oswald"/>
              </a:rPr>
              <a:t>LEGAL
SERVICES</a:t>
            </a:r>
          </a:p>
        </p:txBody>
      </p:sp>
      <p:sp>
        <p:nvSpPr>
          <p:cNvPr id="3" name="TextBox 2"/>
          <p:cNvSpPr txBox="1"/>
          <p:nvPr/>
        </p:nvSpPr>
        <p:spPr>
          <a:xfrm>
            <a:off x="457200" y="1874519"/>
            <a:ext cx="6858000" cy="2743200"/>
          </a:xfrm>
          <a:prstGeom prst="rect">
            <a:avLst/>
          </a:prstGeom>
          <a:noFill/>
        </p:spPr>
        <p:txBody>
          <a:bodyPr wrap="square">
            <a:spAutoFit/>
          </a:bodyPr>
          <a:lstStyle/>
          <a:p>
            <a:pPr>
              <a:spcBef>
                <a:spcPts val="400"/>
              </a:spcBef>
            </a:pPr>
            <a:r>
              <a:rPr sz="900">
                <a:solidFill>
                  <a:srgbClr val="7FBA00"/>
                </a:solidFill>
                <a:latin typeface="Barlow"/>
              </a:rPr>
              <a:t>● </a:t>
            </a:r>
            <a:r>
              <a:rPr b="1" sz="1300">
                <a:solidFill>
                  <a:srgbClr val="FFFFFF"/>
                </a:solidFill>
                <a:latin typeface="Barlow"/>
              </a:rPr>
              <a:t>Criminal records are the wall</a:t>
            </a:r>
            <a:r>
              <a:rPr sz="1300">
                <a:solidFill>
                  <a:srgbClr val="DDEEDD"/>
                </a:solidFill>
                <a:latin typeface="Barlow"/>
              </a:rPr>
              <a:t> between graduates and stability — expungement and record sealing remove the single biggest structural barrier to housing, employment, and financial access</a:t>
            </a:r>
          </a:p>
          <a:p>
            <a:pPr>
              <a:spcBef>
                <a:spcPts val="400"/>
              </a:spcBef>
            </a:pPr>
            <a:r>
              <a:rPr sz="900">
                <a:solidFill>
                  <a:srgbClr val="7FBA00"/>
                </a:solidFill>
                <a:latin typeface="Barlow"/>
              </a:rPr>
              <a:t>● </a:t>
            </a:r>
            <a:r>
              <a:rPr b="1" sz="1300">
                <a:solidFill>
                  <a:srgbClr val="FFFFFF"/>
                </a:solidFill>
                <a:latin typeface="Barlow"/>
              </a:rPr>
              <a:t>Partnerships with legal clinics and firms</a:t>
            </a:r>
            <a:r>
              <a:rPr sz="1300">
                <a:solidFill>
                  <a:srgbClr val="DDEEDD"/>
                </a:solidFill>
                <a:latin typeface="Barlow"/>
              </a:rPr>
              <a:t> across family law, housing law, driving records, and civil rights — the same infrastructure IMAN uses in Green ReEntry, now extended to Peace Corridor</a:t>
            </a:r>
          </a:p>
          <a:p>
            <a:pPr>
              <a:spcBef>
                <a:spcPts val="400"/>
              </a:spcBef>
            </a:pPr>
            <a:r>
              <a:rPr sz="900">
                <a:solidFill>
                  <a:srgbClr val="7FBA00"/>
                </a:solidFill>
                <a:latin typeface="Barlow"/>
              </a:rPr>
              <a:t>● </a:t>
            </a:r>
            <a:r>
              <a:rPr b="1" sz="1300">
                <a:solidFill>
                  <a:srgbClr val="FFFFFF"/>
                </a:solidFill>
                <a:latin typeface="Barlow"/>
              </a:rPr>
              <a:t>Know Your Rights workshops</a:t>
            </a:r>
            <a:r>
              <a:rPr sz="1300">
                <a:solidFill>
                  <a:srgbClr val="DDEEDD"/>
                </a:solidFill>
                <a:latin typeface="Barlow"/>
              </a:rPr>
              <a:t> — every participant understands their rights in police encounters, housing disputes, and employment — because knowledge is the first form of protection</a:t>
            </a:r>
          </a:p>
        </p:txBody>
      </p:sp>
      <p:sp>
        <p:nvSpPr>
          <p:cNvPr id="4" name="TextBox 3"/>
          <p:cNvSpPr txBox="1"/>
          <p:nvPr/>
        </p:nvSpPr>
        <p:spPr>
          <a:xfrm>
            <a:off x="457200" y="5029200"/>
            <a:ext cx="6858000" cy="685800"/>
          </a:xfrm>
          <a:prstGeom prst="rect">
            <a:avLst/>
          </a:prstGeom>
          <a:noFill/>
        </p:spPr>
        <p:txBody>
          <a:bodyPr wrap="square">
            <a:spAutoFit/>
          </a:bodyPr>
          <a:lstStyle/>
          <a:p>
            <a:pPr algn="l"/>
            <a:r>
              <a:rPr sz="1000" b="0" i="1">
                <a:solidFill>
                  <a:srgbClr val="7A8E7A"/>
                </a:solidFill>
                <a:latin typeface="Barlow"/>
              </a:rPr>
              <a:t>Green ReEntry has secured expungements for 20+ participants and hosted Know Your Rights workshops for nearly 50. Peace Corridor extends this to 50+ participants annually in Year 1.</a:t>
            </a:r>
          </a:p>
        </p:txBody>
      </p:sp>
      <p:sp>
        <p:nvSpPr>
          <p:cNvPr id="5" name="Rectangle 4"/>
          <p:cNvSpPr/>
          <p:nvPr/>
        </p:nvSpPr>
        <p:spPr>
          <a:xfrm>
            <a:off x="7589520" y="457200"/>
            <a:ext cx="4297680" cy="5943600"/>
          </a:xfrm>
          <a:prstGeom prst="rect">
            <a:avLst/>
          </a:prstGeom>
          <a:solidFill>
            <a:srgbClr val="152B15"/>
          </a:solid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3063240"/>
            <a:ext cx="3931920" cy="731520"/>
          </a:xfrm>
          <a:prstGeom prst="rect">
            <a:avLst/>
          </a:prstGeom>
          <a:noFill/>
        </p:spPr>
        <p:txBody>
          <a:bodyPr wrap="square">
            <a:spAutoFit/>
          </a:bodyPr>
          <a:lstStyle/>
          <a:p>
            <a:pPr algn="ctr"/>
            <a:r>
              <a:rPr sz="900" b="0" i="1">
                <a:solidFill>
                  <a:srgbClr val="7A8E7A"/>
                </a:solidFill>
                <a:latin typeface="Barlow"/>
              </a:rPr>
              <a:t>📷  IMAN participants at the Illinois State Capitol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TextBox 1"/>
          <p:cNvSpPr txBox="1"/>
          <p:nvPr/>
        </p:nvSpPr>
        <p:spPr>
          <a:xfrm>
            <a:off x="457200" y="320040"/>
            <a:ext cx="7315200" cy="1371600"/>
          </a:xfrm>
          <a:prstGeom prst="rect">
            <a:avLst/>
          </a:prstGeom>
          <a:noFill/>
        </p:spPr>
        <p:txBody>
          <a:bodyPr wrap="square">
            <a:spAutoFit/>
          </a:bodyPr>
          <a:lstStyle/>
          <a:p>
            <a:pPr algn="l"/>
            <a:r>
              <a:rPr sz="4800" b="1" i="0">
                <a:solidFill>
                  <a:srgbClr val="FFFFFF"/>
                </a:solidFill>
                <a:latin typeface="Oswald"/>
              </a:rPr>
              <a:t>A FOCUS ON
HEALING</a:t>
            </a:r>
          </a:p>
        </p:txBody>
      </p:sp>
      <p:sp>
        <p:nvSpPr>
          <p:cNvPr id="3" name="TextBox 2"/>
          <p:cNvSpPr txBox="1"/>
          <p:nvPr/>
        </p:nvSpPr>
        <p:spPr>
          <a:xfrm>
            <a:off x="457200" y="1783080"/>
            <a:ext cx="11277295" cy="502920"/>
          </a:xfrm>
          <a:prstGeom prst="rect">
            <a:avLst/>
          </a:prstGeom>
          <a:noFill/>
        </p:spPr>
        <p:txBody>
          <a:bodyPr wrap="square">
            <a:spAutoFit/>
          </a:bodyPr>
          <a:lstStyle/>
          <a:p>
            <a:pPr algn="l"/>
            <a:r>
              <a:rPr sz="1300" b="1" i="0">
                <a:solidFill>
                  <a:srgbClr val="DDEEDD"/>
                </a:solidFill>
                <a:latin typeface="Barlow"/>
              </a:rPr>
              <a:t>As part of IMAN's holistic model, all Peace Corridor participants receive regular primary and behavioral health care through IMAN's Federally Qualified Health Center:</a:t>
            </a:r>
          </a:p>
        </p:txBody>
      </p:sp>
      <p:sp>
        <p:nvSpPr>
          <p:cNvPr id="4" name="TextBox 3"/>
          <p:cNvSpPr txBox="1"/>
          <p:nvPr/>
        </p:nvSpPr>
        <p:spPr>
          <a:xfrm>
            <a:off x="457200" y="2423160"/>
            <a:ext cx="11277295" cy="2286000"/>
          </a:xfrm>
          <a:prstGeom prst="rect">
            <a:avLst/>
          </a:prstGeom>
          <a:noFill/>
        </p:spPr>
        <p:txBody>
          <a:bodyPr wrap="square">
            <a:spAutoFit/>
          </a:bodyPr>
          <a:lstStyle/>
          <a:p>
            <a:pPr>
              <a:spcBef>
                <a:spcPts val="400"/>
              </a:spcBef>
            </a:pPr>
            <a:r>
              <a:rPr sz="900">
                <a:solidFill>
                  <a:srgbClr val="7FBA00"/>
                </a:solidFill>
                <a:latin typeface="Barlow"/>
              </a:rPr>
              <a:t>● </a:t>
            </a:r>
            <a:r>
              <a:rPr b="1" sz="1300">
                <a:solidFill>
                  <a:srgbClr val="FFFFFF"/>
                </a:solidFill>
                <a:latin typeface="Barlow"/>
              </a:rPr>
              <a:t>IMAN's Behavioral Health team has seen over 2,000 patients from Green ReEntry</a:t>
            </a:r>
            <a:r>
              <a:rPr sz="1300">
                <a:solidFill>
                  <a:srgbClr val="DDEEDD"/>
                </a:solidFill>
                <a:latin typeface="Barlow"/>
              </a:rPr>
              <a:t> — the same integrated care infrastructure, already proven, now extended to Peace Corridor's highest-risk population</a:t>
            </a:r>
          </a:p>
          <a:p>
            <a:pPr>
              <a:spcBef>
                <a:spcPts val="400"/>
              </a:spcBef>
            </a:pPr>
            <a:r>
              <a:rPr sz="900">
                <a:solidFill>
                  <a:srgbClr val="7FBA00"/>
                </a:solidFill>
                <a:latin typeface="Barlow"/>
              </a:rPr>
              <a:t>● </a:t>
            </a:r>
            <a:r>
              <a:rPr b="1" sz="1300">
                <a:solidFill>
                  <a:srgbClr val="FFFFFF"/>
                </a:solidFill>
                <a:latin typeface="Barlow"/>
              </a:rPr>
              <a:t>Specialized trauma recovery groups</a:t>
            </a:r>
            <a:r>
              <a:rPr sz="1300">
                <a:solidFill>
                  <a:srgbClr val="DDEEDD"/>
                </a:solidFill>
                <a:latin typeface="Barlow"/>
              </a:rPr>
              <a:t> — trauma recovery, grief counseling, parenting skills, and spiritual care — offered in community, not in a clinic</a:t>
            </a:r>
          </a:p>
        </p:txBody>
      </p:sp>
      <p:sp>
        <p:nvSpPr>
          <p:cNvPr id="5" name="TextBox 4"/>
          <p:cNvSpPr txBox="1"/>
          <p:nvPr/>
        </p:nvSpPr>
        <p:spPr>
          <a:xfrm>
            <a:off x="457200" y="5074920"/>
            <a:ext cx="11277295" cy="685800"/>
          </a:xfrm>
          <a:prstGeom prst="rect">
            <a:avLst/>
          </a:prstGeom>
          <a:noFill/>
        </p:spPr>
        <p:txBody>
          <a:bodyPr wrap="square">
            <a:spAutoFit/>
          </a:bodyPr>
          <a:lstStyle/>
          <a:p>
            <a:pPr algn="l"/>
            <a:r>
              <a:rPr sz="1400" b="1" i="1">
                <a:solidFill>
                  <a:srgbClr val="7FBA00"/>
                </a:solidFill>
                <a:latin typeface="Barlow"/>
              </a:rPr>
              <a:t>Gun violence is not only a public safety crisis. It is a public health crisis.
Peace Corridor treats it as both.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Rectangle 1"/>
          <p:cNvSpPr/>
          <p:nvPr/>
        </p:nvSpPr>
        <p:spPr>
          <a:xfrm>
            <a:off x="411480" y="502920"/>
            <a:ext cx="63500" cy="585216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9144000" cy="1005840"/>
          </a:xfrm>
          <a:prstGeom prst="rect">
            <a:avLst/>
          </a:prstGeom>
          <a:noFill/>
        </p:spPr>
        <p:txBody>
          <a:bodyPr wrap="square">
            <a:spAutoFit/>
          </a:bodyPr>
          <a:lstStyle/>
          <a:p>
            <a:pPr algn="l"/>
            <a:r>
              <a:rPr sz="4200" b="1" i="0">
                <a:solidFill>
                  <a:srgbClr val="FFFFFF"/>
                </a:solidFill>
                <a:latin typeface="Oswald"/>
              </a:rPr>
              <a:t>YEAR 1–2 PROJECTED HIGHLIGHTS</a:t>
            </a:r>
          </a:p>
        </p:txBody>
      </p:sp>
      <p:sp>
        <p:nvSpPr>
          <p:cNvPr id="4" name="TextBox 3"/>
          <p:cNvSpPr txBox="1"/>
          <p:nvPr/>
        </p:nvSpPr>
        <p:spPr>
          <a:xfrm>
            <a:off x="731520" y="1508760"/>
            <a:ext cx="3200400" cy="868680"/>
          </a:xfrm>
          <a:prstGeom prst="rect">
            <a:avLst/>
          </a:prstGeom>
          <a:noFill/>
        </p:spPr>
        <p:txBody>
          <a:bodyPr wrap="square">
            <a:spAutoFit/>
          </a:bodyPr>
          <a:lstStyle/>
          <a:p>
            <a:pPr algn="l"/>
            <a:r>
              <a:rPr sz="5200" b="1" i="0">
                <a:solidFill>
                  <a:srgbClr val="7FBA00"/>
                </a:solidFill>
                <a:latin typeface="Oswald"/>
              </a:rPr>
              <a:t>50–75</a:t>
            </a:r>
          </a:p>
        </p:txBody>
      </p:sp>
      <p:sp>
        <p:nvSpPr>
          <p:cNvPr id="5" name="TextBox 4"/>
          <p:cNvSpPr txBox="1"/>
          <p:nvPr/>
        </p:nvSpPr>
        <p:spPr>
          <a:xfrm>
            <a:off x="3840480" y="1600200"/>
            <a:ext cx="7955279" cy="822960"/>
          </a:xfrm>
          <a:prstGeom prst="rect">
            <a:avLst/>
          </a:prstGeom>
          <a:noFill/>
        </p:spPr>
        <p:txBody>
          <a:bodyPr wrap="square">
            <a:spAutoFit/>
          </a:bodyPr>
          <a:lstStyle/>
          <a:p>
            <a:r>
              <a:rPr sz="1400" b="1">
                <a:solidFill>
                  <a:srgbClr val="FFFFFF"/>
                </a:solidFill>
                <a:latin typeface="Barlow"/>
              </a:rPr>
              <a:t>highest-risk individuals </a:t>
            </a:r>
            <a:r>
              <a:rPr sz="1300">
                <a:solidFill>
                  <a:srgbClr val="DDEEDD"/>
                </a:solidFill>
                <a:latin typeface="Barlow"/>
              </a:rPr>
              <a:t>enrolled in CBT + transitional employment in Year 1, drawn from Englewood's documented highest-risk population (projected)</a:t>
            </a:r>
          </a:p>
        </p:txBody>
      </p:sp>
      <p:sp>
        <p:nvSpPr>
          <p:cNvPr id="6" name="TextBox 5"/>
          <p:cNvSpPr txBox="1"/>
          <p:nvPr/>
        </p:nvSpPr>
        <p:spPr>
          <a:xfrm>
            <a:off x="731520" y="3108960"/>
            <a:ext cx="3200400" cy="868680"/>
          </a:xfrm>
          <a:prstGeom prst="rect">
            <a:avLst/>
          </a:prstGeom>
          <a:noFill/>
        </p:spPr>
        <p:txBody>
          <a:bodyPr wrap="square">
            <a:spAutoFit/>
          </a:bodyPr>
          <a:lstStyle/>
          <a:p>
            <a:pPr algn="l"/>
            <a:r>
              <a:rPr sz="5200" b="1" i="0">
                <a:solidFill>
                  <a:srgbClr val="7FBA00"/>
                </a:solidFill>
                <a:latin typeface="Oswald"/>
              </a:rPr>
              <a:t>200+</a:t>
            </a:r>
          </a:p>
        </p:txBody>
      </p:sp>
      <p:sp>
        <p:nvSpPr>
          <p:cNvPr id="7" name="TextBox 6"/>
          <p:cNvSpPr txBox="1"/>
          <p:nvPr/>
        </p:nvSpPr>
        <p:spPr>
          <a:xfrm>
            <a:off x="3840480" y="3200400"/>
            <a:ext cx="7955279" cy="822960"/>
          </a:xfrm>
          <a:prstGeom prst="rect">
            <a:avLst/>
          </a:prstGeom>
          <a:noFill/>
        </p:spPr>
        <p:txBody>
          <a:bodyPr wrap="square">
            <a:spAutoFit/>
          </a:bodyPr>
          <a:lstStyle/>
          <a:p>
            <a:r>
              <a:rPr sz="1400" b="1">
                <a:solidFill>
                  <a:srgbClr val="FFFFFF"/>
                </a:solidFill>
                <a:latin typeface="Barlow"/>
              </a:rPr>
              <a:t>conflict mediations </a:t>
            </a:r>
            <a:r>
              <a:rPr sz="1300">
                <a:solidFill>
                  <a:srgbClr val="DDEEDD"/>
                </a:solidFill>
                <a:latin typeface="Barlow"/>
              </a:rPr>
              <a:t>conducted by street outreach team in Year 1 — each one a potential life saved before it becomes a shooting statistic (projected)</a:t>
            </a:r>
          </a:p>
        </p:txBody>
      </p:sp>
      <p:sp>
        <p:nvSpPr>
          <p:cNvPr id="8" name="TextBox 7"/>
          <p:cNvSpPr txBox="1"/>
          <p:nvPr/>
        </p:nvSpPr>
        <p:spPr>
          <a:xfrm>
            <a:off x="731520" y="4709160"/>
            <a:ext cx="3200400" cy="868680"/>
          </a:xfrm>
          <a:prstGeom prst="rect">
            <a:avLst/>
          </a:prstGeom>
          <a:noFill/>
        </p:spPr>
        <p:txBody>
          <a:bodyPr wrap="square">
            <a:spAutoFit/>
          </a:bodyPr>
          <a:lstStyle/>
          <a:p>
            <a:pPr algn="l"/>
            <a:r>
              <a:rPr sz="5200" b="1" i="0">
                <a:solidFill>
                  <a:srgbClr val="7FBA00"/>
                </a:solidFill>
                <a:latin typeface="Oswald"/>
              </a:rPr>
              <a:t>30–50%</a:t>
            </a:r>
          </a:p>
        </p:txBody>
      </p:sp>
      <p:sp>
        <p:nvSpPr>
          <p:cNvPr id="9" name="TextBox 8"/>
          <p:cNvSpPr txBox="1"/>
          <p:nvPr/>
        </p:nvSpPr>
        <p:spPr>
          <a:xfrm>
            <a:off x="3840480" y="4800600"/>
            <a:ext cx="7955279" cy="822960"/>
          </a:xfrm>
          <a:prstGeom prst="rect">
            <a:avLst/>
          </a:prstGeom>
          <a:noFill/>
        </p:spPr>
        <p:txBody>
          <a:bodyPr wrap="square">
            <a:spAutoFit/>
          </a:bodyPr>
          <a:lstStyle/>
          <a:p>
            <a:r>
              <a:rPr sz="1400" b="1">
                <a:solidFill>
                  <a:srgbClr val="FFFFFF"/>
                </a:solidFill>
                <a:latin typeface="Barlow"/>
              </a:rPr>
              <a:t>projected reduction in shootings </a:t>
            </a:r>
            <a:r>
              <a:rPr sz="1300">
                <a:solidFill>
                  <a:srgbClr val="DDEEDD"/>
                </a:solidFill>
                <a:latin typeface="Barlow"/>
              </a:rPr>
              <a:t>in target corridors within 24 months — consistent with Cure Violence outcomes in comparable cities (projected)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Rectangle 1"/>
          <p:cNvSpPr/>
          <p:nvPr/>
        </p:nvSpPr>
        <p:spPr>
          <a:xfrm>
            <a:off x="0" y="0"/>
            <a:ext cx="777240" cy="6858000"/>
          </a:xfrm>
          <a:prstGeom prst="rect">
            <a:avLst/>
          </a:prstGeom>
          <a:solidFill>
            <a:srgbClr val="152B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0" y="1828800"/>
            <a:ext cx="6858000" cy="640080"/>
          </a:xfrm>
          <a:prstGeom prst="rect">
            <a:avLst/>
          </a:prstGeom>
          <a:noFill/>
        </p:spPr>
        <p:txBody>
          <a:bodyPr wrap="square">
            <a:spAutoFit/>
          </a:bodyPr>
          <a:lstStyle/>
          <a:p>
            <a:pPr algn="l"/>
            <a:r>
              <a:rPr sz="1400" b="1" i="0">
                <a:solidFill>
                  <a:srgbClr val="7FBA00"/>
                </a:solidFill>
                <a:latin typeface="Oswald"/>
              </a:rPr>
              <a:t>BUILDING THE FUTURE</a:t>
            </a:r>
          </a:p>
        </p:txBody>
      </p:sp>
      <p:sp>
        <p:nvSpPr>
          <p:cNvPr id="4" name="Rectangle 3"/>
          <p:cNvSpPr/>
          <p:nvPr/>
        </p:nvSpPr>
        <p:spPr>
          <a:xfrm>
            <a:off x="960120" y="411480"/>
            <a:ext cx="3474720" cy="320040"/>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457200"/>
            <a:ext cx="3291840" cy="256032"/>
          </a:xfrm>
          <a:prstGeom prst="rect">
            <a:avLst/>
          </a:prstGeom>
          <a:noFill/>
        </p:spPr>
        <p:txBody>
          <a:bodyPr wrap="square">
            <a:spAutoFit/>
          </a:bodyPr>
          <a:lstStyle/>
          <a:p>
            <a:pPr algn="l"/>
            <a:r>
              <a:rPr sz="900" b="1" i="0">
                <a:solidFill>
                  <a:srgbClr val="FFFFFF"/>
                </a:solidFill>
                <a:latin typeface="Barlow"/>
              </a:rPr>
              <a:t>PROGRAM SCALE</a:t>
            </a:r>
          </a:p>
        </p:txBody>
      </p:sp>
      <p:sp>
        <p:nvSpPr>
          <p:cNvPr id="6" name="TextBox 5"/>
          <p:cNvSpPr txBox="1"/>
          <p:nvPr/>
        </p:nvSpPr>
        <p:spPr>
          <a:xfrm>
            <a:off x="960120" y="960120"/>
            <a:ext cx="3474720" cy="347472"/>
          </a:xfrm>
          <a:prstGeom prst="rect">
            <a:avLst/>
          </a:prstGeom>
          <a:noFill/>
        </p:spPr>
        <p:txBody>
          <a:bodyPr wrap="square">
            <a:spAutoFit/>
          </a:bodyPr>
          <a:lstStyle/>
          <a:p>
            <a:pPr algn="l"/>
            <a:r>
              <a:rPr sz="1200" b="1" i="0">
                <a:solidFill>
                  <a:srgbClr val="7FBA00"/>
                </a:solidFill>
                <a:latin typeface="Barlow"/>
              </a:rPr>
              <a:t>Grow to 100-Person Cohorts</a:t>
            </a:r>
          </a:p>
        </p:txBody>
      </p:sp>
      <p:sp>
        <p:nvSpPr>
          <p:cNvPr id="7" name="TextBox 6"/>
          <p:cNvSpPr txBox="1"/>
          <p:nvPr/>
        </p:nvSpPr>
        <p:spPr>
          <a:xfrm>
            <a:off x="960120" y="1325880"/>
            <a:ext cx="3474720" cy="2103120"/>
          </a:xfrm>
          <a:prstGeom prst="rect">
            <a:avLst/>
          </a:prstGeom>
          <a:noFill/>
        </p:spPr>
        <p:txBody>
          <a:bodyPr wrap="square">
            <a:spAutoFit/>
          </a:bodyPr>
          <a:lstStyle/>
          <a:p>
            <a:pPr algn="l"/>
            <a:r>
              <a:rPr sz="1100" b="0" i="0">
                <a:solidFill>
                  <a:srgbClr val="DDEEDD"/>
                </a:solidFill>
                <a:latin typeface="Barlow"/>
              </a:rPr>
              <a:t>Double the CBT + employment cohort as the Regenerator opens — providing on-site housing, pharmacy, and FQHC for the program's highest-need participants</a:t>
            </a:r>
          </a:p>
        </p:txBody>
      </p:sp>
      <p:sp>
        <p:nvSpPr>
          <p:cNvPr id="8" name="TextBox 7"/>
          <p:cNvSpPr txBox="1"/>
          <p:nvPr/>
        </p:nvSpPr>
        <p:spPr>
          <a:xfrm>
            <a:off x="960120" y="3657600"/>
            <a:ext cx="3474720" cy="347472"/>
          </a:xfrm>
          <a:prstGeom prst="rect">
            <a:avLst/>
          </a:prstGeom>
          <a:noFill/>
        </p:spPr>
        <p:txBody>
          <a:bodyPr wrap="square">
            <a:spAutoFit/>
          </a:bodyPr>
          <a:lstStyle/>
          <a:p>
            <a:pPr algn="l"/>
            <a:r>
              <a:rPr sz="1200" b="1" i="0">
                <a:solidFill>
                  <a:srgbClr val="7FBA00"/>
                </a:solidFill>
                <a:latin typeface="Barlow"/>
              </a:rPr>
              <a:t>Expand to Chicago Lawn</a:t>
            </a:r>
          </a:p>
        </p:txBody>
      </p:sp>
      <p:sp>
        <p:nvSpPr>
          <p:cNvPr id="9" name="TextBox 8"/>
          <p:cNvSpPr txBox="1"/>
          <p:nvPr/>
        </p:nvSpPr>
        <p:spPr>
          <a:xfrm>
            <a:off x="960120" y="4023360"/>
            <a:ext cx="3474720" cy="2103120"/>
          </a:xfrm>
          <a:prstGeom prst="rect">
            <a:avLst/>
          </a:prstGeom>
          <a:noFill/>
        </p:spPr>
        <p:txBody>
          <a:bodyPr wrap="square">
            <a:spAutoFit/>
          </a:bodyPr>
          <a:lstStyle/>
          <a:p>
            <a:pPr algn="l"/>
            <a:r>
              <a:rPr sz="1100" b="0" i="0">
                <a:solidFill>
                  <a:srgbClr val="DDEEDD"/>
                </a:solidFill>
                <a:latin typeface="Barlow"/>
              </a:rPr>
              <a:t>Extend street outreach and hospital-based intervention to IMAN's second primary service neighborhood, building a South Side-wide safety infrastructure</a:t>
            </a:r>
          </a:p>
        </p:txBody>
      </p:sp>
      <p:sp>
        <p:nvSpPr>
          <p:cNvPr id="10" name="Rectangle 9"/>
          <p:cNvSpPr/>
          <p:nvPr/>
        </p:nvSpPr>
        <p:spPr>
          <a:xfrm>
            <a:off x="4507992" y="411480"/>
            <a:ext cx="12700" cy="6035040"/>
          </a:xfrm>
          <a:prstGeom prst="rect">
            <a:avLst/>
          </a:prstGeom>
          <a:solidFill>
            <a:srgbClr val="2A4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36008" y="411480"/>
            <a:ext cx="3474720" cy="320040"/>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27448" y="457200"/>
            <a:ext cx="3291840" cy="256032"/>
          </a:xfrm>
          <a:prstGeom prst="rect">
            <a:avLst/>
          </a:prstGeom>
          <a:noFill/>
        </p:spPr>
        <p:txBody>
          <a:bodyPr wrap="square">
            <a:spAutoFit/>
          </a:bodyPr>
          <a:lstStyle/>
          <a:p>
            <a:pPr algn="l"/>
            <a:r>
              <a:rPr sz="900" b="1" i="0">
                <a:solidFill>
                  <a:srgbClr val="FFFFFF"/>
                </a:solidFill>
                <a:latin typeface="Barlow"/>
              </a:rPr>
              <a:t>WORKFORCE INTEGRATION</a:t>
            </a:r>
          </a:p>
        </p:txBody>
      </p:sp>
      <p:sp>
        <p:nvSpPr>
          <p:cNvPr id="13" name="TextBox 12"/>
          <p:cNvSpPr txBox="1"/>
          <p:nvPr/>
        </p:nvSpPr>
        <p:spPr>
          <a:xfrm>
            <a:off x="4636008" y="960120"/>
            <a:ext cx="3474720" cy="347472"/>
          </a:xfrm>
          <a:prstGeom prst="rect">
            <a:avLst/>
          </a:prstGeom>
          <a:noFill/>
        </p:spPr>
        <p:txBody>
          <a:bodyPr wrap="square">
            <a:spAutoFit/>
          </a:bodyPr>
          <a:lstStyle/>
          <a:p>
            <a:pPr algn="l"/>
            <a:r>
              <a:rPr sz="1200" b="1" i="0">
                <a:solidFill>
                  <a:srgbClr val="7FBA00"/>
                </a:solidFill>
                <a:latin typeface="Barlow"/>
              </a:rPr>
              <a:t>Culinary, Automotive &amp; EV Trades</a:t>
            </a:r>
          </a:p>
        </p:txBody>
      </p:sp>
      <p:sp>
        <p:nvSpPr>
          <p:cNvPr id="14" name="TextBox 13"/>
          <p:cNvSpPr txBox="1"/>
          <p:nvPr/>
        </p:nvSpPr>
        <p:spPr>
          <a:xfrm>
            <a:off x="4636008" y="1325880"/>
            <a:ext cx="3474720" cy="2103120"/>
          </a:xfrm>
          <a:prstGeom prst="rect">
            <a:avLst/>
          </a:prstGeom>
          <a:noFill/>
        </p:spPr>
        <p:txBody>
          <a:bodyPr wrap="square">
            <a:spAutoFit/>
          </a:bodyPr>
          <a:lstStyle/>
          <a:p>
            <a:pPr algn="l"/>
            <a:r>
              <a:rPr sz="1100" b="0" i="0">
                <a:solidFill>
                  <a:srgbClr val="DDEEDD"/>
                </a:solidFill>
                <a:latin typeface="Barlow"/>
              </a:rPr>
              <a:t>As Green ReEntry expands into three new trades tracks, Peace Corridor graduates gain additional pathways including the growing EV infrastructure sector</a:t>
            </a:r>
          </a:p>
        </p:txBody>
      </p:sp>
      <p:sp>
        <p:nvSpPr>
          <p:cNvPr id="15" name="TextBox 14"/>
          <p:cNvSpPr txBox="1"/>
          <p:nvPr/>
        </p:nvSpPr>
        <p:spPr>
          <a:xfrm>
            <a:off x="4636008" y="3657600"/>
            <a:ext cx="3474720" cy="347472"/>
          </a:xfrm>
          <a:prstGeom prst="rect">
            <a:avLst/>
          </a:prstGeom>
          <a:noFill/>
        </p:spPr>
        <p:txBody>
          <a:bodyPr wrap="square">
            <a:spAutoFit/>
          </a:bodyPr>
          <a:lstStyle/>
          <a:p>
            <a:pPr algn="l"/>
            <a:r>
              <a:rPr sz="1200" b="1" i="0">
                <a:solidFill>
                  <a:srgbClr val="7FBA00"/>
                </a:solidFill>
                <a:latin typeface="Barlow"/>
              </a:rPr>
              <a:t>Formalize the Alumni Pipeline</a:t>
            </a:r>
          </a:p>
        </p:txBody>
      </p:sp>
      <p:sp>
        <p:nvSpPr>
          <p:cNvPr id="16" name="TextBox 15"/>
          <p:cNvSpPr txBox="1"/>
          <p:nvPr/>
        </p:nvSpPr>
        <p:spPr>
          <a:xfrm>
            <a:off x="4636008" y="4023360"/>
            <a:ext cx="3474720" cy="2103120"/>
          </a:xfrm>
          <a:prstGeom prst="rect">
            <a:avLst/>
          </a:prstGeom>
          <a:noFill/>
        </p:spPr>
        <p:txBody>
          <a:bodyPr wrap="square">
            <a:spAutoFit/>
          </a:bodyPr>
          <a:lstStyle/>
          <a:p>
            <a:pPr algn="l"/>
            <a:r>
              <a:rPr sz="1100" b="0" i="0">
                <a:solidFill>
                  <a:srgbClr val="DDEEDD"/>
                </a:solidFill>
                <a:latin typeface="Barlow"/>
              </a:rPr>
              <a:t>Structured career track: participant → graduate → paid outreach worker → program staff — turning lived experience into a profession</a:t>
            </a:r>
          </a:p>
        </p:txBody>
      </p:sp>
      <p:sp>
        <p:nvSpPr>
          <p:cNvPr id="17" name="Rectangle 16"/>
          <p:cNvSpPr/>
          <p:nvPr/>
        </p:nvSpPr>
        <p:spPr>
          <a:xfrm>
            <a:off x="8183880" y="411480"/>
            <a:ext cx="12700" cy="6035040"/>
          </a:xfrm>
          <a:prstGeom prst="rect">
            <a:avLst/>
          </a:prstGeom>
          <a:solidFill>
            <a:srgbClr val="2A4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11896" y="411480"/>
            <a:ext cx="3474720" cy="320040"/>
          </a:xfrm>
          <a:prstGeom prst="rect">
            <a:avLst/>
          </a:prstGeom>
          <a:no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03336" y="457200"/>
            <a:ext cx="3291840" cy="256032"/>
          </a:xfrm>
          <a:prstGeom prst="rect">
            <a:avLst/>
          </a:prstGeom>
          <a:noFill/>
        </p:spPr>
        <p:txBody>
          <a:bodyPr wrap="square">
            <a:spAutoFit/>
          </a:bodyPr>
          <a:lstStyle/>
          <a:p>
            <a:pPr algn="l"/>
            <a:r>
              <a:rPr sz="900" b="1" i="0">
                <a:solidFill>
                  <a:srgbClr val="FFFFFF"/>
                </a:solidFill>
                <a:latin typeface="Barlow"/>
              </a:rPr>
              <a:t>HOSPITAL PARTNERSHIPS</a:t>
            </a:r>
          </a:p>
        </p:txBody>
      </p:sp>
      <p:sp>
        <p:nvSpPr>
          <p:cNvPr id="20" name="TextBox 19"/>
          <p:cNvSpPr txBox="1"/>
          <p:nvPr/>
        </p:nvSpPr>
        <p:spPr>
          <a:xfrm>
            <a:off x="8311896" y="960120"/>
            <a:ext cx="3474720" cy="347472"/>
          </a:xfrm>
          <a:prstGeom prst="rect">
            <a:avLst/>
          </a:prstGeom>
          <a:noFill/>
        </p:spPr>
        <p:txBody>
          <a:bodyPr wrap="square">
            <a:spAutoFit/>
          </a:bodyPr>
          <a:lstStyle/>
          <a:p>
            <a:pPr algn="l"/>
            <a:r>
              <a:rPr sz="1200" b="1" i="0">
                <a:solidFill>
                  <a:srgbClr val="7FBA00"/>
                </a:solidFill>
                <a:latin typeface="Barlow"/>
              </a:rPr>
              <a:t>2–3 South Side Trauma Centers</a:t>
            </a:r>
          </a:p>
        </p:txBody>
      </p:sp>
      <p:sp>
        <p:nvSpPr>
          <p:cNvPr id="21" name="TextBox 20"/>
          <p:cNvSpPr txBox="1"/>
          <p:nvPr/>
        </p:nvSpPr>
        <p:spPr>
          <a:xfrm>
            <a:off x="8311896" y="1325880"/>
            <a:ext cx="3474720" cy="2103120"/>
          </a:xfrm>
          <a:prstGeom prst="rect">
            <a:avLst/>
          </a:prstGeom>
          <a:noFill/>
        </p:spPr>
        <p:txBody>
          <a:bodyPr wrap="square">
            <a:spAutoFit/>
          </a:bodyPr>
          <a:lstStyle/>
          <a:p>
            <a:pPr algn="l"/>
            <a:r>
              <a:rPr sz="1100" b="0" i="0">
                <a:solidFill>
                  <a:srgbClr val="DDEEDD"/>
                </a:solidFill>
                <a:latin typeface="Barlow"/>
              </a:rPr>
              <a:t>Expand hospital-based intervention to reach shooting victims at every major South Side trauma bay — including U of C Medical Center and Advocate Christ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F0A"/>
        </a:solidFill>
        <a:effectLst/>
      </p:bgPr>
    </p:bg>
    <p:spTree>
      <p:nvGrpSpPr>
        <p:cNvPr id="1" name=""/>
        <p:cNvGrpSpPr/>
        <p:nvPr/>
      </p:nvGrpSpPr>
      <p:grpSpPr/>
      <p:sp>
        <p:nvSpPr>
          <p:cNvPr id="2" name="Rectangle 1"/>
          <p:cNvSpPr/>
          <p:nvPr/>
        </p:nvSpPr>
        <p:spPr>
          <a:xfrm>
            <a:off x="457200" y="320040"/>
            <a:ext cx="4114800" cy="594360"/>
          </a:xfrm>
          <a:prstGeom prst="rect">
            <a:avLst/>
          </a:prstGeom>
          <a:noFill/>
          <a:ln w="19050">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3931920" cy="502920"/>
          </a:xfrm>
          <a:prstGeom prst="rect">
            <a:avLst/>
          </a:prstGeom>
          <a:noFill/>
        </p:spPr>
        <p:txBody>
          <a:bodyPr wrap="square">
            <a:spAutoFit/>
          </a:bodyPr>
          <a:lstStyle/>
          <a:p>
            <a:pPr algn="l"/>
            <a:r>
              <a:rPr sz="2600" b="1" i="0">
                <a:solidFill>
                  <a:srgbClr val="FFFFFF"/>
                </a:solidFill>
                <a:latin typeface="Oswald"/>
              </a:rPr>
              <a:t>IN THE NEWS:</a:t>
            </a:r>
          </a:p>
        </p:txBody>
      </p:sp>
      <p:sp>
        <p:nvSpPr>
          <p:cNvPr id="4" name="TextBox 3"/>
          <p:cNvSpPr txBox="1"/>
          <p:nvPr/>
        </p:nvSpPr>
        <p:spPr>
          <a:xfrm>
            <a:off x="457200" y="1097280"/>
            <a:ext cx="11277295" cy="292608"/>
          </a:xfrm>
          <a:prstGeom prst="rect">
            <a:avLst/>
          </a:prstGeom>
          <a:noFill/>
        </p:spPr>
        <p:txBody>
          <a:bodyPr wrap="square">
            <a:spAutoFit/>
          </a:bodyPr>
          <a:lstStyle/>
          <a:p>
            <a:pPr algn="l"/>
            <a:r>
              <a:rPr sz="1000" b="1" i="0">
                <a:solidFill>
                  <a:srgbClr val="7FBA00"/>
                </a:solidFill>
                <a:latin typeface="Barlow"/>
              </a:rPr>
              <a:t>CHICAGO TRIBUNE</a:t>
            </a:r>
          </a:p>
        </p:txBody>
      </p:sp>
      <p:sp>
        <p:nvSpPr>
          <p:cNvPr id="5" name="TextBox 4"/>
          <p:cNvSpPr txBox="1"/>
          <p:nvPr/>
        </p:nvSpPr>
        <p:spPr>
          <a:xfrm>
            <a:off x="457200" y="1389888"/>
            <a:ext cx="11277295" cy="640080"/>
          </a:xfrm>
          <a:prstGeom prst="rect">
            <a:avLst/>
          </a:prstGeom>
          <a:noFill/>
        </p:spPr>
        <p:txBody>
          <a:bodyPr wrap="square">
            <a:spAutoFit/>
          </a:bodyPr>
          <a:lstStyle/>
          <a:p>
            <a:pPr algn="l"/>
            <a:r>
              <a:rPr sz="1300" b="0" i="0">
                <a:solidFill>
                  <a:srgbClr val="DDEEDD"/>
                </a:solidFill>
                <a:latin typeface="Barlow"/>
              </a:rPr>
              <a:t>'I always thought I'd be a statistic': South Side program helps men rebuild after prison</a:t>
            </a:r>
          </a:p>
        </p:txBody>
      </p:sp>
      <p:sp>
        <p:nvSpPr>
          <p:cNvPr id="6" name="Rectangle 5"/>
          <p:cNvSpPr/>
          <p:nvPr/>
        </p:nvSpPr>
        <p:spPr>
          <a:xfrm>
            <a:off x="457200" y="2057400"/>
            <a:ext cx="11277295" cy="6350"/>
          </a:xfrm>
          <a:prstGeom prst="rect">
            <a:avLst/>
          </a:prstGeom>
          <a:solidFill>
            <a:srgbClr val="2A4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377440"/>
            <a:ext cx="11277295" cy="292608"/>
          </a:xfrm>
          <a:prstGeom prst="rect">
            <a:avLst/>
          </a:prstGeom>
          <a:noFill/>
        </p:spPr>
        <p:txBody>
          <a:bodyPr wrap="square">
            <a:spAutoFit/>
          </a:bodyPr>
          <a:lstStyle/>
          <a:p>
            <a:pPr algn="l"/>
            <a:r>
              <a:rPr sz="1000" b="1" i="0">
                <a:solidFill>
                  <a:srgbClr val="7FBA00"/>
                </a:solidFill>
                <a:latin typeface="Barlow"/>
              </a:rPr>
              <a:t>CBS CHICAGO</a:t>
            </a:r>
          </a:p>
        </p:txBody>
      </p:sp>
      <p:sp>
        <p:nvSpPr>
          <p:cNvPr id="8" name="TextBox 7"/>
          <p:cNvSpPr txBox="1"/>
          <p:nvPr/>
        </p:nvSpPr>
        <p:spPr>
          <a:xfrm>
            <a:off x="457200" y="2670048"/>
            <a:ext cx="11277295" cy="640080"/>
          </a:xfrm>
          <a:prstGeom prst="rect">
            <a:avLst/>
          </a:prstGeom>
          <a:noFill/>
        </p:spPr>
        <p:txBody>
          <a:bodyPr wrap="square">
            <a:spAutoFit/>
          </a:bodyPr>
          <a:lstStyle/>
          <a:p>
            <a:pPr algn="l"/>
            <a:r>
              <a:rPr sz="1300" b="0" i="0">
                <a:solidFill>
                  <a:srgbClr val="DDEEDD"/>
                </a:solidFill>
                <a:latin typeface="Barlow"/>
              </a:rPr>
              <a:t>'Green ReEntry' Program Seeks To Reduce Recidivism By Getting Formerly Incarcerated Work Experience</a:t>
            </a:r>
          </a:p>
        </p:txBody>
      </p:sp>
      <p:sp>
        <p:nvSpPr>
          <p:cNvPr id="9" name="Rectangle 8"/>
          <p:cNvSpPr/>
          <p:nvPr/>
        </p:nvSpPr>
        <p:spPr>
          <a:xfrm>
            <a:off x="457200" y="3337560"/>
            <a:ext cx="11277295" cy="6350"/>
          </a:xfrm>
          <a:prstGeom prst="rect">
            <a:avLst/>
          </a:prstGeom>
          <a:solidFill>
            <a:srgbClr val="2A4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657600"/>
            <a:ext cx="11277295" cy="292608"/>
          </a:xfrm>
          <a:prstGeom prst="rect">
            <a:avLst/>
          </a:prstGeom>
          <a:noFill/>
        </p:spPr>
        <p:txBody>
          <a:bodyPr wrap="square">
            <a:spAutoFit/>
          </a:bodyPr>
          <a:lstStyle/>
          <a:p>
            <a:pPr algn="l"/>
            <a:r>
              <a:rPr sz="1000" b="1" i="0">
                <a:solidFill>
                  <a:srgbClr val="7FBA00"/>
                </a:solidFill>
                <a:latin typeface="Barlow"/>
              </a:rPr>
              <a:t>NPR</a:t>
            </a:r>
          </a:p>
        </p:txBody>
      </p:sp>
      <p:sp>
        <p:nvSpPr>
          <p:cNvPr id="11" name="TextBox 10"/>
          <p:cNvSpPr txBox="1"/>
          <p:nvPr/>
        </p:nvSpPr>
        <p:spPr>
          <a:xfrm>
            <a:off x="457200" y="3950208"/>
            <a:ext cx="11277295" cy="640080"/>
          </a:xfrm>
          <a:prstGeom prst="rect">
            <a:avLst/>
          </a:prstGeom>
          <a:noFill/>
        </p:spPr>
        <p:txBody>
          <a:bodyPr wrap="square">
            <a:spAutoFit/>
          </a:bodyPr>
          <a:lstStyle/>
          <a:p>
            <a:pPr algn="l"/>
            <a:r>
              <a:rPr sz="1300" b="0" i="0">
                <a:solidFill>
                  <a:srgbClr val="DDEEDD"/>
                </a:solidFill>
                <a:latin typeface="Barlow"/>
              </a:rPr>
              <a:t>Green ReEntry Program Takes Holistic Approach To Reducing Recidivism</a:t>
            </a:r>
          </a:p>
        </p:txBody>
      </p:sp>
      <p:sp>
        <p:nvSpPr>
          <p:cNvPr id="12" name="Rectangle 11"/>
          <p:cNvSpPr/>
          <p:nvPr/>
        </p:nvSpPr>
        <p:spPr>
          <a:xfrm>
            <a:off x="457200" y="4617720"/>
            <a:ext cx="11277295" cy="6350"/>
          </a:xfrm>
          <a:prstGeom prst="rect">
            <a:avLst/>
          </a:prstGeom>
          <a:solidFill>
            <a:srgbClr val="2A4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4937760"/>
            <a:ext cx="11277295" cy="292608"/>
          </a:xfrm>
          <a:prstGeom prst="rect">
            <a:avLst/>
          </a:prstGeom>
          <a:noFill/>
        </p:spPr>
        <p:txBody>
          <a:bodyPr wrap="square">
            <a:spAutoFit/>
          </a:bodyPr>
          <a:lstStyle/>
          <a:p>
            <a:pPr algn="l"/>
            <a:r>
              <a:rPr sz="1000" b="1" i="0">
                <a:solidFill>
                  <a:srgbClr val="7FBA00"/>
                </a:solidFill>
                <a:latin typeface="Barlow"/>
              </a:rPr>
              <a:t>NEXT CITY</a:t>
            </a:r>
          </a:p>
        </p:txBody>
      </p:sp>
      <p:sp>
        <p:nvSpPr>
          <p:cNvPr id="14" name="TextBox 13"/>
          <p:cNvSpPr txBox="1"/>
          <p:nvPr/>
        </p:nvSpPr>
        <p:spPr>
          <a:xfrm>
            <a:off x="457200" y="5230368"/>
            <a:ext cx="11277295" cy="640080"/>
          </a:xfrm>
          <a:prstGeom prst="rect">
            <a:avLst/>
          </a:prstGeom>
          <a:noFill/>
        </p:spPr>
        <p:txBody>
          <a:bodyPr wrap="square">
            <a:spAutoFit/>
          </a:bodyPr>
          <a:lstStyle/>
          <a:p>
            <a:pPr algn="l"/>
            <a:r>
              <a:rPr sz="1300" b="0" i="0">
                <a:solidFill>
                  <a:srgbClr val="DDEEDD"/>
                </a:solidFill>
                <a:latin typeface="Barlow"/>
              </a:rPr>
              <a:t>A Safe House in Chicago Provides More Than Shelter</a:t>
            </a:r>
          </a:p>
        </p:txBody>
      </p:sp>
      <p:sp>
        <p:nvSpPr>
          <p:cNvPr id="15" name="Rectangle 14"/>
          <p:cNvSpPr/>
          <p:nvPr/>
        </p:nvSpPr>
        <p:spPr>
          <a:xfrm>
            <a:off x="457200" y="5897880"/>
            <a:ext cx="11277295" cy="6350"/>
          </a:xfrm>
          <a:prstGeom prst="rect">
            <a:avLst/>
          </a:prstGeom>
          <a:solidFill>
            <a:srgbClr val="2A4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309360"/>
            <a:ext cx="11277295" cy="411480"/>
          </a:xfrm>
          <a:prstGeom prst="rect">
            <a:avLst/>
          </a:prstGeom>
          <a:noFill/>
        </p:spPr>
        <p:txBody>
          <a:bodyPr wrap="square">
            <a:spAutoFit/>
          </a:bodyPr>
          <a:lstStyle/>
          <a:p>
            <a:pPr algn="l"/>
            <a:r>
              <a:rPr sz="1100" b="0" i="1">
                <a:solidFill>
                  <a:srgbClr val="7A8E7A"/>
                </a:solidFill>
                <a:latin typeface="Barlow"/>
              </a:rPr>
              <a:t>Peace Corridor builds on IMAN's nationally recognized track record — bringing the same credibility, the same infrastructure, and the same trust to Englewood's most urgent unmet need.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1E0C"/>
        </a:solidFill>
        <a:effectLst/>
      </p:bgPr>
    </p:bg>
    <p:spTree>
      <p:nvGrpSpPr>
        <p:cNvPr id="1" name=""/>
        <p:cNvGrpSpPr/>
        <p:nvPr/>
      </p:nvGrpSpPr>
      <p:grpSpPr/>
      <p:sp>
        <p:nvSpPr>
          <p:cNvPr id="2" name="TextBox 1"/>
          <p:cNvSpPr txBox="1"/>
          <p:nvPr/>
        </p:nvSpPr>
        <p:spPr>
          <a:xfrm>
            <a:off x="457200" y="320040"/>
            <a:ext cx="6858000" cy="1005840"/>
          </a:xfrm>
          <a:prstGeom prst="rect">
            <a:avLst/>
          </a:prstGeom>
          <a:noFill/>
        </p:spPr>
        <p:txBody>
          <a:bodyPr wrap="square">
            <a:spAutoFit/>
          </a:bodyPr>
          <a:lstStyle/>
          <a:p>
            <a:pPr algn="l"/>
            <a:r>
              <a:rPr sz="5200" b="1" i="0">
                <a:solidFill>
                  <a:srgbClr val="FFFFFF"/>
                </a:solidFill>
                <a:latin typeface="Oswald"/>
              </a:rPr>
              <a:t>ABOUT IMAN:</a:t>
            </a:r>
          </a:p>
        </p:txBody>
      </p:sp>
      <p:sp>
        <p:nvSpPr>
          <p:cNvPr id="3" name="TextBox 2"/>
          <p:cNvSpPr txBox="1"/>
          <p:nvPr/>
        </p:nvSpPr>
        <p:spPr>
          <a:xfrm>
            <a:off x="457200" y="1325880"/>
            <a:ext cx="6858000" cy="292608"/>
          </a:xfrm>
          <a:prstGeom prst="rect">
            <a:avLst/>
          </a:prstGeom>
          <a:noFill/>
        </p:spPr>
        <p:txBody>
          <a:bodyPr wrap="square">
            <a:spAutoFit/>
          </a:bodyPr>
          <a:lstStyle/>
          <a:p>
            <a:pPr algn="l"/>
            <a:r>
              <a:rPr sz="1000" b="1" i="0">
                <a:solidFill>
                  <a:srgbClr val="7FBA00"/>
                </a:solidFill>
                <a:latin typeface="Barlow"/>
              </a:rPr>
              <a:t>FOSTERING HEALTH, WELLNESS, AND HEALING</a:t>
            </a:r>
          </a:p>
        </p:txBody>
      </p:sp>
      <p:sp>
        <p:nvSpPr>
          <p:cNvPr id="4" name="Rectangle 3"/>
          <p:cNvSpPr/>
          <p:nvPr/>
        </p:nvSpPr>
        <p:spPr>
          <a:xfrm>
            <a:off x="457200" y="1691640"/>
            <a:ext cx="548640" cy="38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920240"/>
            <a:ext cx="6766560" cy="1005840"/>
          </a:xfrm>
          <a:prstGeom prst="rect">
            <a:avLst/>
          </a:prstGeom>
          <a:noFill/>
        </p:spPr>
        <p:txBody>
          <a:bodyPr wrap="square">
            <a:spAutoFit/>
          </a:bodyPr>
          <a:lstStyle/>
          <a:p>
            <a:r>
              <a:rPr sz="1250" b="0">
                <a:solidFill>
                  <a:srgbClr val="DDEEDD"/>
                </a:solidFill>
                <a:latin typeface="Barlow"/>
              </a:rPr>
              <a:t>The </a:t>
            </a:r>
            <a:r>
              <a:rPr sz="1250" b="1">
                <a:solidFill>
                  <a:srgbClr val="FFFFFF"/>
                </a:solidFill>
                <a:latin typeface="Barlow"/>
              </a:rPr>
              <a:t>Inner-City Muslim Action Network</a:t>
            </a:r>
            <a:r>
              <a:rPr sz="1250" b="0">
                <a:solidFill>
                  <a:srgbClr val="DDEEDD"/>
                </a:solidFill>
                <a:latin typeface="Barlow"/>
              </a:rPr>
              <a:t> (IMAN) is a community organization that fosters health, wellness, and healing in the inner city by organizing for social change, cultivating the arts, and operating a holistic health center.</a:t>
            </a:r>
          </a:p>
        </p:txBody>
      </p:sp>
      <p:sp>
        <p:nvSpPr>
          <p:cNvPr id="6" name="TextBox 5"/>
          <p:cNvSpPr txBox="1"/>
          <p:nvPr/>
        </p:nvSpPr>
        <p:spPr>
          <a:xfrm>
            <a:off x="457200" y="3063240"/>
            <a:ext cx="6766560" cy="1005840"/>
          </a:xfrm>
          <a:prstGeom prst="rect">
            <a:avLst/>
          </a:prstGeom>
          <a:noFill/>
        </p:spPr>
        <p:txBody>
          <a:bodyPr wrap="square">
            <a:spAutoFit/>
          </a:bodyPr>
          <a:lstStyle/>
          <a:p>
            <a:pPr algn="l"/>
            <a:r>
              <a:rPr sz="1250" b="0" i="0">
                <a:solidFill>
                  <a:srgbClr val="DDEEDD"/>
                </a:solidFill>
                <a:latin typeface="Barlow"/>
              </a:rPr>
              <a:t>IMAN incorporated as a nonprofit in 1997 through the drive of people directly affected by and deeply invested in social issues affecting communities of color living on Chicago's South Side. Since that time, IMAN has steadily grown and, in 2016, opened a second office in Atlanta.</a:t>
            </a:r>
          </a:p>
        </p:txBody>
      </p:sp>
      <p:sp>
        <p:nvSpPr>
          <p:cNvPr id="7" name="TextBox 6"/>
          <p:cNvSpPr txBox="1"/>
          <p:nvPr/>
        </p:nvSpPr>
        <p:spPr>
          <a:xfrm>
            <a:off x="457200" y="4206240"/>
            <a:ext cx="6766560" cy="1280160"/>
          </a:xfrm>
          <a:prstGeom prst="rect">
            <a:avLst/>
          </a:prstGeom>
          <a:noFill/>
        </p:spPr>
        <p:txBody>
          <a:bodyPr wrap="square">
            <a:spAutoFit/>
          </a:bodyPr>
          <a:lstStyle/>
          <a:p>
            <a:pPr algn="l"/>
            <a:r>
              <a:rPr sz="1250" b="0" i="0">
                <a:solidFill>
                  <a:srgbClr val="DDEEDD"/>
                </a:solidFill>
                <a:latin typeface="Barlow"/>
              </a:rPr>
              <a:t>The organization models an integrative approach incorporating primary and behavioral health; artistic expression; leadership development; organizing and advocacy; housing; and job training — in an effort to substantially increase the quality of life for people in marginalized communities.</a:t>
            </a:r>
          </a:p>
        </p:txBody>
      </p:sp>
      <p:sp>
        <p:nvSpPr>
          <p:cNvPr id="8" name="Rectangle 7"/>
          <p:cNvSpPr/>
          <p:nvPr/>
        </p:nvSpPr>
        <p:spPr>
          <a:xfrm>
            <a:off x="7589520" y="0"/>
            <a:ext cx="4602175" cy="6858000"/>
          </a:xfrm>
          <a:prstGeom prst="rect">
            <a:avLst/>
          </a:prstGeom>
          <a:solidFill>
            <a:srgbClr val="152B15"/>
          </a:solidFill>
          <a:ln w="9525">
            <a:solidFill>
              <a:srgbClr val="7FB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3063240"/>
            <a:ext cx="4236415" cy="731520"/>
          </a:xfrm>
          <a:prstGeom prst="rect">
            <a:avLst/>
          </a:prstGeom>
          <a:noFill/>
        </p:spPr>
        <p:txBody>
          <a:bodyPr wrap="square">
            <a:spAutoFit/>
          </a:bodyPr>
          <a:lstStyle/>
          <a:p>
            <a:pPr algn="ctr"/>
            <a:r>
              <a:rPr sz="900" b="0" i="1">
                <a:solidFill>
                  <a:srgbClr val="7A8E7A"/>
                </a:solidFill>
                <a:latin typeface="Barlow"/>
              </a:rPr>
              <a:t>📷  IMAN community march and organizing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