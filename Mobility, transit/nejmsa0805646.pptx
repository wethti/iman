
<file path=[Content_Types].xml><?xml version="1.0" encoding="utf-8"?>
<Types xmlns="http://schemas.openxmlformats.org/package/2006/content-types">
  <Default Extension="tiff" ContentType="image/tiff"/>
  <Default Extension="png" ContentType="image/png"/>
  <Default Extension="rels" ContentType="application/vnd.openxmlformats-package.relationships+xml"/>
  <Default Extension="xml" ContentType="application/xml"/>
  <Override PartName="/ppt/theme/theme2.xml" ContentType="application/vnd.openxmlformats-officedocument.theme+xml"/>
  <Override PartName="/ppt/theme/theme1.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p="http://schemas.openxmlformats.org/presentationml/2006/main" xmlns:a="http://schemas.openxmlformats.org/drawingml/2006/main" xmlns:r="http://schemas.openxmlformats.org/officeDocument/2006/relationships" strictFirstAndLastChars="0" saveSubsetFonts="1">
  <p:sldMasterIdLst>
    <p:sldMasterId id="2147483648" r:id="rId1"/>
  </p:sldMasterIdLst>
  <p:notesMasterIdLst>
    <p:notesMasterId r:id="rId11"/>
  </p:notesMasterIdLst>
  <p:sldIdLst>
    <p:sldId id="265" r:id="rId2"/>
    <p:sldId id="266" r:id="rId3"/>
    <p:sldId id="267" r:id="rId4"/>
    <p:sldId id="268" r:id="rId5"/>
    <p:sldId id="269" r:id="rId6"/>
    <p:sldId id="270" r:id="rId7"/>
    <p:sldId id="271" r:id="rId8"/>
    <p:sldId id="272" r:id="rId9"/>
    <p:sldId id="263" r:id="rId10"/>
  </p:sldIdLst>
  <p:sldSz cx="10080625" cy="7559675"/>
  <p:notesSz cx="7772400" cy="10058400"/>
  <p:defaultTextStyle>
    <a:defPPr>
      <a:defRPr lang="en-GB"/>
    </a:defPPr>
    <a:lvl1pPr algn="l" rtl="0" eaLnBrk="0" fontAlgn="base" hangingPunct="0">
      <a:spcBef>
        <a:spcPct val="0"/>
      </a:spcBef>
      <a:spcAft>
        <a:spcPct val="0"/>
      </a:spcAft>
      <a:defRPr sz="2400" kern="1200">
        <a:solidFill>
          <a:schemeClr val="tx1"/>
        </a:solidFill>
        <a:latin typeface="Times New Roman" pitchFamily="16"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6"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6"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6"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6" charset="0"/>
        <a:ea typeface="+mn-ea"/>
        <a:cs typeface="+mn-cs"/>
      </a:defRPr>
    </a:lvl5pPr>
    <a:lvl6pPr marL="2286000" algn="l" defTabSz="914400" rtl="0" eaLnBrk="1" latinLnBrk="0" hangingPunct="1">
      <a:defRPr sz="2400" kern="1200">
        <a:solidFill>
          <a:schemeClr val="tx1"/>
        </a:solidFill>
        <a:latin typeface="Times New Roman" pitchFamily="16" charset="0"/>
        <a:ea typeface="+mn-ea"/>
        <a:cs typeface="+mn-cs"/>
      </a:defRPr>
    </a:lvl6pPr>
    <a:lvl7pPr marL="2743200" algn="l" defTabSz="914400" rtl="0" eaLnBrk="1" latinLnBrk="0" hangingPunct="1">
      <a:defRPr sz="2400" kern="1200">
        <a:solidFill>
          <a:schemeClr val="tx1"/>
        </a:solidFill>
        <a:latin typeface="Times New Roman" pitchFamily="16" charset="0"/>
        <a:ea typeface="+mn-ea"/>
        <a:cs typeface="+mn-cs"/>
      </a:defRPr>
    </a:lvl7pPr>
    <a:lvl8pPr marL="3200400" algn="l" defTabSz="914400" rtl="0" eaLnBrk="1" latinLnBrk="0" hangingPunct="1">
      <a:defRPr sz="2400" kern="1200">
        <a:solidFill>
          <a:schemeClr val="tx1"/>
        </a:solidFill>
        <a:latin typeface="Times New Roman" pitchFamily="16" charset="0"/>
        <a:ea typeface="+mn-ea"/>
        <a:cs typeface="+mn-cs"/>
      </a:defRPr>
    </a:lvl8pPr>
    <a:lvl9pPr marL="3657600" algn="l" defTabSz="914400" rtl="0" eaLnBrk="1" latinLnBrk="0" hangingPunct="1">
      <a:defRPr sz="2400" kern="1200">
        <a:solidFill>
          <a:schemeClr val="tx1"/>
        </a:solidFill>
        <a:latin typeface="Times New Roman" pitchFamily="16"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432" autoAdjust="0"/>
  </p:normalViewPr>
  <p:slideViewPr>
    <p:cSldViewPr>
      <p:cViewPr varScale="1">
        <p:scale>
          <a:sx n="55" d="100"/>
          <a:sy n="55" d="100"/>
        </p:scale>
        <p:origin x="-1044" y="-78"/>
      </p:cViewPr>
      <p:guideLst>
        <p:guide orient="horz" pos="2160"/>
        <p:guide pos="2880"/>
      </p:guideLst>
    </p:cSldViewPr>
  </p:slideViewPr>
  <p:outlineViewPr>
    <p:cViewPr varScale="1">
      <p:scale>
        <a:sx n="170" d="200"/>
        <a:sy n="170" d="200"/>
      </p:scale>
      <p:origin x="-780" y="-84"/>
    </p:cViewPr>
  </p:outlineViewPr>
  <p:notesTextViewPr>
    <p:cViewPr>
      <p:scale>
        <a:sx n="100" d="100"/>
        <a:sy n="100" d="100"/>
      </p:scale>
      <p:origin x="0" y="0"/>
    </p:cViewPr>
  </p:notesTextViewPr>
  <p:notesViewPr>
    <p:cSldViewPr>
      <p:cViewPr varScale="1">
        <p:scale>
          <a:sx n="59" d="100"/>
          <a:sy n="59" d="100"/>
        </p:scale>
        <p:origin x="-1752" y="-72"/>
      </p:cViewPr>
      <p:guideLst>
        <p:guide orient="horz" pos="2880"/>
        <p:guide pos="2160"/>
      </p:guideLst>
    </p:cSldViewPr>
  </p:notesViewPr>
  <p:gridSpacing cx="78028800" cy="78028800"/>
</p:viewPr>
</file>

<file path=ppt/_rels/presentation.xml.rels><Relationships xmlns="http://schemas.openxmlformats.org/package/2006/relationships"><Relationship Id="rId11" Type="http://schemas.openxmlformats.org/officeDocument/2006/relationships/notesMaster" Target="notesMasters/notesMaster1.xml"/><Relationship Id="rId15" Type="http://schemas.openxmlformats.org/officeDocument/2006/relationships/tableStyles" Target="tableStyles.xml"/><Relationship Id="rId1" Type="http://schemas.openxmlformats.org/officeDocument/2006/relationships/slideMaster" Target="slideMasters/slideMaster1.xml"/><Relationship Id="rId14" Type="http://schemas.openxmlformats.org/officeDocument/2006/relationships/theme" Target="theme/theme1.xml"/><Relationship Id="rId13" Type="http://schemas.openxmlformats.org/officeDocument/2006/relationships/viewProps" Target="viewProps.xml"/><Relationship Id="rId12" Type="http://schemas.openxmlformats.org/officeDocument/2006/relationships/presProps" Target="presProp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s>

</file>

<file path=ppt/notesMasters/_rels/notesMaster1.xml.rel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9" name="Rectangle 1"/>
          <p:cNvSpPr>
            <a:spLocks noGrp="1" noRot="1" noChangeAspect="1" noChangeArrowheads="1" noTextEdit="1"/>
          </p:cNvSpPr>
          <p:nvPr>
            <p:ph type="sldImg"/>
          </p:nvPr>
        </p:nvSpPr>
        <p:spPr bwMode="auto">
          <a:xfrm>
            <a:off x="1587500" y="1006475"/>
            <a:ext cx="4595813" cy="3448050"/>
          </a:xfrm>
          <a:prstGeom prst="rect">
            <a:avLst/>
          </a:prstGeom>
          <a:solidFill>
            <a:srgbClr val="FFFFFF"/>
          </a:solidFill>
          <a:ln w="9525">
            <a:solidFill>
              <a:srgbClr val="000000"/>
            </a:solidFill>
            <a:miter lim="800000"/>
            <a:headEnd/>
            <a:tailEnd/>
          </a:ln>
          <a:effectLst/>
        </p:spPr>
      </p:sp>
      <p:sp>
        <p:nvSpPr>
          <p:cNvPr id="2050" name="Rectangle 2"/>
          <p:cNvSpPr txBox="1">
            <a:spLocks noGrp="1" noChangeArrowheads="1"/>
          </p:cNvSpPr>
          <p:nvPr>
            <p:ph type="body" idx="1"/>
          </p:nvPr>
        </p:nvSpPr>
        <p:spPr bwMode="auto">
          <a:xfrm>
            <a:off x="1185863" y="4787900"/>
            <a:ext cx="5407025" cy="382587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endParaRPr lang="en-US" smtClean="0"/>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Relationships xmlns="http://schemas.openxmlformats.org/package/2006/relationships"><Relationship Id="rId1" Type="http://schemas.openxmlformats.org/officeDocument/2006/relationships/notesMaster" Target="../notesMasters/notesMaster1.xml"/><Relationship Id="rId3" Type="http://schemas.openxmlformats.org/officeDocument/2006/relationships/slide" Target="../slides/slide2.xml"/></Relationships>

</file>

<file path=ppt/notesSlides/_rels/notesSlide3.xml.rels><Relationships xmlns="http://schemas.openxmlformats.org/package/2006/relationships"><Relationship Id="rId1" Type="http://schemas.openxmlformats.org/officeDocument/2006/relationships/notesMaster" Target="../notesMasters/notesMaster1.xml"/><Relationship Id="rId4" Type="http://schemas.openxmlformats.org/officeDocument/2006/relationships/slide" Target="../slides/slide3.xml"/></Relationships>

</file>

<file path=ppt/notesSlides/_rels/notesSlide4.xml.rels><Relationships xmlns="http://schemas.openxmlformats.org/package/2006/relationships"><Relationship Id="rId1" Type="http://schemas.openxmlformats.org/officeDocument/2006/relationships/notesMaster" Target="../notesMasters/notesMaster1.xml"/><Relationship Id="rId5" Type="http://schemas.openxmlformats.org/officeDocument/2006/relationships/slide" Target="../slides/slide4.xml"/></Relationships>

</file>

<file path=ppt/notesSlides/_rels/notesSlide5.xml.rels><Relationships xmlns="http://schemas.openxmlformats.org/package/2006/relationships"><Relationship Id="rId1" Type="http://schemas.openxmlformats.org/officeDocument/2006/relationships/notesMaster" Target="../notesMasters/notesMaster1.xml"/><Relationship Id="rId6" Type="http://schemas.openxmlformats.org/officeDocument/2006/relationships/slide" Target="../slides/slide5.xml"/></Relationships>

</file>

<file path=ppt/notesSlides/_rels/notesSlide6.xml.rels><Relationships xmlns="http://schemas.openxmlformats.org/package/2006/relationships"><Relationship Id="rId1" Type="http://schemas.openxmlformats.org/officeDocument/2006/relationships/notesMaster" Target="../notesMasters/notesMaster1.xml"/><Relationship Id="rId7" Type="http://schemas.openxmlformats.org/officeDocument/2006/relationships/slide" Target="../slides/slide6.xml"/></Relationships>

</file>

<file path=ppt/notesSlides/_rels/notesSlide7.xml.rels><Relationships xmlns="http://schemas.openxmlformats.org/package/2006/relationships"><Relationship Id="rId1" Type="http://schemas.openxmlformats.org/officeDocument/2006/relationships/notesMaster" Target="../notesMasters/notesMaster1.xml"/><Relationship Id="rId8" Type="http://schemas.openxmlformats.org/officeDocument/2006/relationships/slide" Target="../slides/slide7.xml"/></Relationships>

</file>

<file path=ppt/notesSlides/_rels/notesSlide8.xml.rels><Relationships xmlns="http://schemas.openxmlformats.org/package/2006/relationships"><Relationship Id="rId1" Type="http://schemas.openxmlformats.org/officeDocument/2006/relationships/notesMaster" Target="../notesMasters/notesMaster1.xml"/><Relationship Id="rId9" Type="http://schemas.openxmlformats.org/officeDocument/2006/relationships/slide" Target="../slides/slide8.xml"/></Relationships>

</file>

<file path=ppt/notesSlides/_rels/notesSlide9.xml.rels><Relationships xmlns="http://schemas.openxmlformats.org/package/2006/relationships"><Relationship Id="rId1" Type="http://schemas.openxmlformats.org/officeDocument/2006/relationships/notesMaster" Target="../notesMasters/notesMaster1.xml"/><Relationship Id="rId10"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5" name="Rectangle 1"/>
          <p:cNvSpPr>
            <a:spLocks noGrp="1" noRot="1" noChangeAspect="1" noChangeArrowheads="1" noTextEdit="1"/>
          </p:cNvSpPr>
          <p:nvPr>
            <p:ph type="sldImg"/>
          </p:nvPr>
        </p:nvSpPr>
        <p:spPr bwMode="auto">
          <a:xfrm>
            <a:off x="1587500" y="1006475"/>
            <a:ext cx="4595813" cy="3448050"/>
          </a:xfrm>
          <a:prstGeom prst="rect">
            <a:avLst/>
          </a:prstGeom>
          <a:solidFill>
            <a:srgbClr val="FFFFFF"/>
          </a:solidFill>
          <a:ln>
            <a:solidFill>
              <a:srgbClr val="000000"/>
            </a:solidFill>
            <a:miter lim="800000"/>
            <a:headEnd/>
            <a:tailEnd/>
          </a:ln>
        </p:spPr>
      </p:sp>
      <p:sp>
        <p:nvSpPr>
          <p:cNvPr id="11266" name="Rectangle 2"/>
          <p:cNvSpPr txBox="1">
            <a:spLocks noGrp="1" noChangeArrowheads="1"/>
          </p:cNvSpPr>
          <p:nvPr>
            <p:ph type="body" idx="1"/>
          </p:nvPr>
        </p:nvSpPr>
        <p:spPr bwMode="auto">
          <a:xfrm>
            <a:off x="1185863" y="4787900"/>
            <a:ext cx="5407025" cy="3827463"/>
          </a:xfrm>
          <a:prstGeom prst="rect">
            <a:avLst/>
          </a:prstGeom>
          <a:noFill/>
          <a:ln>
            <a:miter lim="800000"/>
            <a:headEnd/>
            <a:tailEnd/>
          </a:ln>
        </p:spPr>
        <p:txBody>
          <a:bodyPr wrap="none" anchor="ctr"/>
          <a:lstStyle/>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89" name="Rectangle 1"/>
          <p:cNvSpPr>
            <a:spLocks noGrp="1" noRot="1" noChangeAspect="1" noChangeArrowheads="1" noTextEdit="1"/>
          </p:cNvSpPr>
          <p:nvPr>
            <p:ph type="sldImg"/>
          </p:nvPr>
        </p:nvSpPr>
        <p:spPr bwMode="auto">
          <a:xfrm>
            <a:off x="1587500" y="1006475"/>
            <a:ext cx="4595813" cy="3448050"/>
          </a:xfrm>
          <a:prstGeom prst="rect">
            <a:avLst/>
          </a:prstGeom>
          <a:solidFill>
            <a:srgbClr val="FFFFFF"/>
          </a:solidFill>
          <a:ln>
            <a:solidFill>
              <a:srgbClr val="000000"/>
            </a:solidFill>
            <a:miter lim="800000"/>
            <a:headEnd/>
            <a:tailEnd/>
          </a:ln>
        </p:spPr>
      </p:sp>
      <p:sp>
        <p:nvSpPr>
          <p:cNvPr id="12290" name="Rectangle 2"/>
          <p:cNvSpPr txBox="1">
            <a:spLocks noGrp="1" noChangeArrowheads="1"/>
          </p:cNvSpPr>
          <p:nvPr>
            <p:ph type="body" idx="1"/>
          </p:nvPr>
        </p:nvSpPr>
        <p:spPr bwMode="auto">
          <a:xfrm>
            <a:off x="1185863" y="4787900"/>
            <a:ext cx="5407025" cy="3827463"/>
          </a:xfrm>
          <a:prstGeom prst="rect">
            <a:avLst/>
          </a:prstGeom>
          <a:noFill/>
          <a:ln>
            <a:miter lim="800000"/>
            <a:headEnd/>
            <a:tailEnd/>
          </a:ln>
        </p:spPr>
        <p:txBody>
          <a:bodyPr wrap="none" anchor="ctr"/>
          <a:lstStyle/>
          <a:p>
            <a:endParaRPr lang="en-US" dirty="0"/>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13313" name="Rectangle 1"/>
          <p:cNvSpPr>
            <a:spLocks noGrp="1" noRot="1" noChangeAspect="1" noChangeArrowheads="1" noTextEdit="1"/>
          </p:cNvSpPr>
          <p:nvPr>
            <p:ph type="sldImg"/>
          </p:nvPr>
        </p:nvSpPr>
        <p:spPr bwMode="auto">
          <a:xfrm>
            <a:off x="1587500" y="1006475"/>
            <a:ext cx="4595813" cy="3448050"/>
          </a:xfrm>
          <a:prstGeom prst="rect">
            <a:avLst/>
          </a:prstGeom>
          <a:solidFill>
            <a:srgbClr val="FFFFFF"/>
          </a:solidFill>
          <a:ln>
            <a:solidFill>
              <a:srgbClr val="000000"/>
            </a:solidFill>
            <a:miter lim="800000"/>
            <a:headEnd/>
            <a:tailEnd/>
          </a:ln>
        </p:spPr>
      </p:sp>
      <p:sp>
        <p:nvSpPr>
          <p:cNvPr id="13314" name="Text Box 2"/>
          <p:cNvSpPr txBox="1">
            <a:spLocks noGrp="1" noChangeArrowheads="1"/>
          </p:cNvSpPr>
          <p:nvPr>
            <p:ph type="body" idx="1"/>
          </p:nvPr>
        </p:nvSpPr>
        <p:spPr bwMode="auto">
          <a:xfrm>
            <a:off x="1185863" y="4787900"/>
            <a:ext cx="5407025" cy="3827463"/>
          </a:xfrm>
          <a:prstGeom prst="rect">
            <a:avLst/>
          </a:prstGeom>
          <a:noFill/>
          <a:ln>
            <a:miter lim="800000"/>
            <a:headEnd/>
            <a:tailEnd/>
          </a:ln>
        </p:spPr>
        <p:txBody>
          <a:bodyPr lIns="0" tIns="0" rIns="0" bIns="0">
            <a:spAutoFit/>
          </a:bodyPr>
          <a:lstStyle/>
          <a:p>
            <a:pPr marL="215900" indent="-215900" eaLnBrk="1">
              <a:lnSpc>
                <a:spcPct val="97000"/>
              </a:lnSpc>
              <a:spcBef>
                <a:spcPct val="0"/>
              </a:spcBef>
              <a:buSzPct val="45000"/>
              <a:buFont typeface="StarSymbol" charset="0"/>
              <a:buNone/>
              <a:tabLst>
                <a:tab pos="723900" algn="l"/>
                <a:tab pos="1447800" algn="l"/>
                <a:tab pos="2171700" algn="l"/>
                <a:tab pos="2895600" algn="l"/>
                <a:tab pos="3619500" algn="l"/>
                <a:tab pos="4343400" algn="l"/>
                <a:tab pos="5067300" algn="l"/>
              </a:tabLst>
            </a:pPr>
            <a:r>
              <a:rPr lang="en-GB" smtClean="0">
                <a:latin typeface="Arial" charset="0"/>
                <a:ea typeface="Gothic" charset="0"/>
                <a:cs typeface="Gothic" charset="0"/>
              </a:rPr>
              <a:t>Figure 1 Distribution of Study Areas. The locations of the counties included in the study are shown in gray, and the dots represent the approximate locations of the 51 metropolitan areas in the study. The metropolitan areas are coded by number as follows: 1 — Akron, Ohio; 2 — Albuquerque, New Mexico; 3 — Allentown, Pennsylvania; 4 — Atlanta; 5 — Boise, Idaho; 6 — Boston; 7 — Buffalo, New York; 8 — Charlotte, North Carolina; 9 — Charleston, West Virginia; 10 — Chicago; 11 — Cincinnati; 12 — Cleveland; 13 — Dallas; 14 — Dayton, Ohio; 15 — Denver; 16 — El Paso, Texas; 17 — Gary, Indiana; 18 — Houston; 19 — Indianapolis; 20 — Jersey City, New Jersey; 21 — Kansas City, Missouri; 22 — Little Rock, Arkansas; 23 — Los Angeles; 24 — Minneapolis; 25 — New York City; 26 — Norfolk, Virginia; 27 — Oklahoma City; 28 — Philadelphia; 29 — Phoenix, Arizona; 30 — Pittsburgh; 31 — Portland, Oregon; 32 — Providence, Rhode Island; 33 — Pueblo, Colorado; 34 — Raleigh, North Carolina; 35 — Reno, Nevada; 36 — St. Louis; 37 — San Diego, California; 38 — San Francisco; 39 — Salt Lake City; 40 — San Jose, California; 41 — Seattle; 42 — Spokane, Washington; 43 — Springfield, Massachusetts; 44 — Steubenville, Ohio; 45 — Tampa, Florida; 46 — Topeka, Kansas; 47 — Washington, D.C.; 48 — Wichita, Kansas; 49 — Wilmington, Delaware; 50 — Worcester, Massachusetts; 51 — Youngstown, Ohio.</a:t>
            </a:r>
            <a:endParaRPr lang="en-GB" dirty="0">
              <a:latin typeface="Arial" charset="0"/>
              <a:ea typeface="Gothic" charset="0"/>
              <a:cs typeface="Gothic" charset="0"/>
            </a:endParaRP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13313" name="Rectangle 1"/>
          <p:cNvSpPr>
            <a:spLocks noGrp="1" noRot="1" noChangeAspect="1" noChangeArrowheads="1" noTextEdit="1"/>
          </p:cNvSpPr>
          <p:nvPr>
            <p:ph type="sldImg"/>
          </p:nvPr>
        </p:nvSpPr>
        <p:spPr bwMode="auto">
          <a:xfrm>
            <a:off x="1587500" y="1006475"/>
            <a:ext cx="4595813" cy="3448050"/>
          </a:xfrm>
          <a:prstGeom prst="rect">
            <a:avLst/>
          </a:prstGeom>
          <a:solidFill>
            <a:srgbClr val="FFFFFF"/>
          </a:solidFill>
          <a:ln>
            <a:solidFill>
              <a:srgbClr val="000000"/>
            </a:solidFill>
            <a:miter lim="800000"/>
            <a:headEnd/>
            <a:tailEnd/>
          </a:ln>
        </p:spPr>
      </p:sp>
      <p:sp>
        <p:nvSpPr>
          <p:cNvPr id="13314" name="Text Box 2"/>
          <p:cNvSpPr txBox="1">
            <a:spLocks noGrp="1" noChangeArrowheads="1"/>
          </p:cNvSpPr>
          <p:nvPr>
            <p:ph type="body" idx="1"/>
          </p:nvPr>
        </p:nvSpPr>
        <p:spPr bwMode="auto">
          <a:xfrm>
            <a:off x="1185863" y="4787900"/>
            <a:ext cx="5407025" cy="3827463"/>
          </a:xfrm>
          <a:prstGeom prst="rect">
            <a:avLst/>
          </a:prstGeom>
          <a:noFill/>
          <a:ln>
            <a:miter lim="800000"/>
            <a:headEnd/>
            <a:tailEnd/>
          </a:ln>
        </p:spPr>
        <p:txBody>
          <a:bodyPr lIns="0" tIns="0" rIns="0" bIns="0">
            <a:spAutoFit/>
          </a:bodyPr>
          <a:lstStyle/>
          <a:p>
            <a:pPr marL="215900" indent="-215900" eaLnBrk="1">
              <a:lnSpc>
                <a:spcPct val="97000"/>
              </a:lnSpc>
              <a:spcBef>
                <a:spcPct val="0"/>
              </a:spcBef>
              <a:buSzPct val="45000"/>
              <a:buFont typeface="StarSymbol" charset="0"/>
              <a:buNone/>
              <a:tabLst>
                <a:tab pos="723900" algn="l"/>
                <a:tab pos="1447800" algn="l"/>
                <a:tab pos="2171700" algn="l"/>
                <a:tab pos="2895600" algn="l"/>
                <a:tab pos="3619500" algn="l"/>
                <a:tab pos="4343400" algn="l"/>
                <a:tab pos="5067300" algn="l"/>
              </a:tabLst>
            </a:pPr>
            <a:r>
              <a:rPr lang="en-GB" smtClean="0">
                <a:latin typeface="Arial" charset="0"/>
                <a:ea typeface="Gothic" charset="0"/>
                <a:cs typeface="Gothic" charset="0"/>
              </a:rPr>
              <a:t>Figure 2 Cross-Sectional Life Expectancies for 1978–1982, Plotted against PM</a:t>
            </a:r>
            <a:r>
              <a:rPr lang="en-GB" smtClean="0" baseline="-25000">
                <a:latin typeface="Arial" charset="0"/>
                <a:ea typeface="Gothic" charset="0"/>
                <a:cs typeface="Gothic" charset="0"/>
              </a:rPr>
              <a:t>2.5</a:t>
            </a:r>
            <a:r>
              <a:rPr lang="en-GB" smtClean="0">
                <a:latin typeface="Arial" charset="0"/>
                <a:ea typeface="Gothic" charset="0"/>
                <a:cs typeface="Gothic" charset="0"/>
              </a:rPr>
              <a:t> Concentrations for 1979–1983. Dots and circles labeled with numbers represent population-weighted mean life expectancies at the county level and the metropolitan-area level, respectively. The solid and broken lines represent regression lines with the use of county-level and metropolitan-area–level observations, respectively. The metropolitan areas are coded by number as follows: 1 — Akron, Ohio; 2 — Albuquerque, New Mexico; 3 — Allentown, Pennsylvania; 4 — Atlanta; 5 — Boise, Idaho; 6 — Boston; 7 — Buffalo, New York; 8 — Charlotte, North Carolina; 9 — Charleston, West Virginia; 10 — Chicago; 11 — Cincinnati; 12 — Cleveland; 13 — Dallas; 14 — Dayton, Ohio; 15 — Denver; 16 — El Paso, Texas; 17 — Gary, Indiana; 18 — Houston; 19 — Indianapolis; 20 — Jersey City, New Jersey; 21 — Kansas City, Missouri; 22 — Little Rock, Arkansas; 23 — Los Angeles; 24 — Minneapolis; 25 — New York City; 26 — Norfolk, Virginia; 27 — Oklahoma City; 28 — Philadelphia; 29 — Phoenix, Arizona; 30 — Pittsburgh; 31 — Portland, Oregon; 32 — Providence, Rhode Island; 33 — Pueblo, Colorado; 34 — Raleigh, North Carolina; 35 — Reno, Nevada; 36 — St. Louis; 37 — San Diego, California; 38 — San Francisco; 39 — Salt Lake City; 40 — San Jose, California; 41 — Seattle; 42 — Spokane, Washington; 43 — Springfield, Massachusetts; 44 — Steubenville, Ohio; 45 — Tampa, Florida; 46 — Topeka, Kansas; 47 — Washington, D.C.; 48 — Wichita, Kansas; 49 — Wilmington, Delaware; 50 — Worcester, Massachusetts; 51 — Youngstown, Ohio. PM</a:t>
            </a:r>
            <a:r>
              <a:rPr lang="en-GB" smtClean="0" baseline="-25000">
                <a:latin typeface="Arial" charset="0"/>
                <a:ea typeface="Gothic" charset="0"/>
                <a:cs typeface="Gothic" charset="0"/>
              </a:rPr>
              <a:t>2.5</a:t>
            </a:r>
            <a:r>
              <a:rPr lang="en-GB" smtClean="0">
                <a:latin typeface="Arial" charset="0"/>
                <a:ea typeface="Gothic" charset="0"/>
                <a:cs typeface="Gothic" charset="0"/>
              </a:rPr>
              <a:t> denotes particulate matter with an aerodynamic diameter less than or equal to 2.5 μm. (See interactive graphic.)</a:t>
            </a:r>
            <a:endParaRPr lang="en-GB" dirty="0">
              <a:latin typeface="Arial" charset="0"/>
              <a:ea typeface="Gothic" charset="0"/>
              <a:cs typeface="Gothic" charset="0"/>
            </a:endParaRP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13313" name="Rectangle 1"/>
          <p:cNvSpPr>
            <a:spLocks noGrp="1" noRot="1" noChangeAspect="1" noChangeArrowheads="1" noTextEdit="1"/>
          </p:cNvSpPr>
          <p:nvPr>
            <p:ph type="sldImg"/>
          </p:nvPr>
        </p:nvSpPr>
        <p:spPr bwMode="auto">
          <a:xfrm>
            <a:off x="1587500" y="1006475"/>
            <a:ext cx="4595813" cy="3448050"/>
          </a:xfrm>
          <a:prstGeom prst="rect">
            <a:avLst/>
          </a:prstGeom>
          <a:solidFill>
            <a:srgbClr val="FFFFFF"/>
          </a:solidFill>
          <a:ln>
            <a:solidFill>
              <a:srgbClr val="000000"/>
            </a:solidFill>
            <a:miter lim="800000"/>
            <a:headEnd/>
            <a:tailEnd/>
          </a:ln>
        </p:spPr>
      </p:sp>
      <p:sp>
        <p:nvSpPr>
          <p:cNvPr id="13314" name="Text Box 2"/>
          <p:cNvSpPr txBox="1">
            <a:spLocks noGrp="1" noChangeArrowheads="1"/>
          </p:cNvSpPr>
          <p:nvPr>
            <p:ph type="body" idx="1"/>
          </p:nvPr>
        </p:nvSpPr>
        <p:spPr bwMode="auto">
          <a:xfrm>
            <a:off x="1185863" y="4787900"/>
            <a:ext cx="5407025" cy="3827463"/>
          </a:xfrm>
          <a:prstGeom prst="rect">
            <a:avLst/>
          </a:prstGeom>
          <a:noFill/>
          <a:ln>
            <a:miter lim="800000"/>
            <a:headEnd/>
            <a:tailEnd/>
          </a:ln>
        </p:spPr>
        <p:txBody>
          <a:bodyPr lIns="0" tIns="0" rIns="0" bIns="0">
            <a:spAutoFit/>
          </a:bodyPr>
          <a:lstStyle/>
          <a:p>
            <a:pPr marL="215900" indent="-215900" eaLnBrk="1">
              <a:lnSpc>
                <a:spcPct val="97000"/>
              </a:lnSpc>
              <a:spcBef>
                <a:spcPct val="0"/>
              </a:spcBef>
              <a:buSzPct val="45000"/>
              <a:buFont typeface="StarSymbol" charset="0"/>
              <a:buNone/>
              <a:tabLst>
                <a:tab pos="723900" algn="l"/>
                <a:tab pos="1447800" algn="l"/>
                <a:tab pos="2171700" algn="l"/>
                <a:tab pos="2895600" algn="l"/>
                <a:tab pos="3619500" algn="l"/>
                <a:tab pos="4343400" algn="l"/>
                <a:tab pos="5067300" algn="l"/>
              </a:tabLst>
            </a:pPr>
            <a:r>
              <a:rPr lang="en-GB" smtClean="0">
                <a:latin typeface="Arial" charset="0"/>
                <a:ea typeface="Gothic" charset="0"/>
                <a:cs typeface="Gothic" charset="0"/>
              </a:rPr>
              <a:t>Figure 3 Cross-Sectional Life Expectancies for 1997–2001, Plotted against PM</a:t>
            </a:r>
            <a:r>
              <a:rPr lang="en-GB" smtClean="0" baseline="-25000">
                <a:latin typeface="Arial" charset="0"/>
                <a:ea typeface="Gothic" charset="0"/>
                <a:cs typeface="Gothic" charset="0"/>
              </a:rPr>
              <a:t>2.5</a:t>
            </a:r>
            <a:r>
              <a:rPr lang="en-GB" smtClean="0">
                <a:latin typeface="Arial" charset="0"/>
                <a:ea typeface="Gothic" charset="0"/>
                <a:cs typeface="Gothic" charset="0"/>
              </a:rPr>
              <a:t> Concentrations for 1999–2000. Dots and circles labeled with numbers represent population-weighted mean life expectancies at the county level and the metropolitan-area level, respectively. The solid and broken lines represent regression lines with the use of county-level and metropolitan-area–level observations, respectively. The metropolitan areas are coded by number as follows: 1 — Akron, Ohio; 2 — Albuquerque, New Mexico; 3 — Allentown, Pennsylvania; 4 — Atlanta; 5 — Boise, Idaho; 6 — Boston; 7 — Buffalo, New York; 8 — Charlotte, North Carolina; 9 — Charleston, West Virginia; 10 — Chicago; 11 — Cincinnati; 12 — Cleveland; 13 — Dallas; 14 — Dayton, Ohio; 15 — Denver; 16 — El Paso, Texas; 17 — Gary, Indiana; 18 — Houston; 19 — Indianapolis; 20 — Jersey City, New Jersey; 21 — Kansas City, Missouri; 22 — Little Rock, Arkansas; 23 — Los Angeles; 24 — Minneapolis; 25 — New York City; 26 — Norfolk, Virginia; 27 — Oklahoma City; 28 — Philadelphia; 29 — Phoenix, Arizona; 30 — Pittsburgh; 31 — Portland, Oregon; 32 — Providence, Rhode Island; 33 — Pueblo, Colorado; 34 — Raleigh, North Carolina; 35 — Reno, Nevada; 36 — St. Louis; 37 — San Diego, California; 38 — San Francisco; 39 — Salt Lake City; 40 — San Jose, California; 41 — Seattle; 42 — Spokane, Washington; 43 — Springfield, Massachusetts; 44 — Steubenville, Ohio; 45 — Tampa, Florida; 46 — Topeka, Kansas; 47 — Washington, D.C.; 48 — Wichita, Kansas; 49 — Wilmington, Delaware; 50 — Worcester, Massachusetts; 51 — Youngstown, Ohio. PM</a:t>
            </a:r>
            <a:r>
              <a:rPr lang="en-GB" smtClean="0" baseline="-25000">
                <a:latin typeface="Arial" charset="0"/>
                <a:ea typeface="Gothic" charset="0"/>
                <a:cs typeface="Gothic" charset="0"/>
              </a:rPr>
              <a:t>2.5</a:t>
            </a:r>
            <a:r>
              <a:rPr lang="en-GB" smtClean="0">
                <a:latin typeface="Arial" charset="0"/>
                <a:ea typeface="Gothic" charset="0"/>
                <a:cs typeface="Gothic" charset="0"/>
              </a:rPr>
              <a:t> denotes particulate matter with an aerodynamic diameter less than or equal to 2.5 μm. (See interactive graphic.)</a:t>
            </a:r>
            <a:endParaRPr lang="en-GB" dirty="0">
              <a:latin typeface="Arial" charset="0"/>
              <a:ea typeface="Gothic" charset="0"/>
              <a:cs typeface="Gothic" charset="0"/>
            </a:endParaRP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13313" name="Rectangle 1"/>
          <p:cNvSpPr>
            <a:spLocks noGrp="1" noRot="1" noChangeAspect="1" noChangeArrowheads="1" noTextEdit="1"/>
          </p:cNvSpPr>
          <p:nvPr>
            <p:ph type="sldImg"/>
          </p:nvPr>
        </p:nvSpPr>
        <p:spPr bwMode="auto">
          <a:xfrm>
            <a:off x="1587500" y="1006475"/>
            <a:ext cx="4595813" cy="3448050"/>
          </a:xfrm>
          <a:prstGeom prst="rect">
            <a:avLst/>
          </a:prstGeom>
          <a:solidFill>
            <a:srgbClr val="FFFFFF"/>
          </a:solidFill>
          <a:ln>
            <a:solidFill>
              <a:srgbClr val="000000"/>
            </a:solidFill>
            <a:miter lim="800000"/>
            <a:headEnd/>
            <a:tailEnd/>
          </a:ln>
        </p:spPr>
      </p:sp>
      <p:sp>
        <p:nvSpPr>
          <p:cNvPr id="13314" name="Text Box 2"/>
          <p:cNvSpPr txBox="1">
            <a:spLocks noGrp="1" noChangeArrowheads="1"/>
          </p:cNvSpPr>
          <p:nvPr>
            <p:ph type="body" idx="1"/>
          </p:nvPr>
        </p:nvSpPr>
        <p:spPr bwMode="auto">
          <a:xfrm>
            <a:off x="1185863" y="4787900"/>
            <a:ext cx="5407025" cy="3827463"/>
          </a:xfrm>
          <a:prstGeom prst="rect">
            <a:avLst/>
          </a:prstGeom>
          <a:noFill/>
          <a:ln>
            <a:miter lim="800000"/>
            <a:headEnd/>
            <a:tailEnd/>
          </a:ln>
        </p:spPr>
        <p:txBody>
          <a:bodyPr lIns="0" tIns="0" rIns="0" bIns="0">
            <a:spAutoFit/>
          </a:bodyPr>
          <a:lstStyle/>
          <a:p>
            <a:pPr marL="215900" indent="-215900" eaLnBrk="1">
              <a:lnSpc>
                <a:spcPct val="97000"/>
              </a:lnSpc>
              <a:spcBef>
                <a:spcPct val="0"/>
              </a:spcBef>
              <a:buSzPct val="45000"/>
              <a:buFont typeface="StarSymbol" charset="0"/>
              <a:buNone/>
              <a:tabLst>
                <a:tab pos="723900" algn="l"/>
                <a:tab pos="1447800" algn="l"/>
                <a:tab pos="2171700" algn="l"/>
                <a:tab pos="2895600" algn="l"/>
                <a:tab pos="3619500" algn="l"/>
                <a:tab pos="4343400" algn="l"/>
                <a:tab pos="5067300" algn="l"/>
              </a:tabLst>
            </a:pPr>
            <a:r>
              <a:rPr lang="en-GB" smtClean="0">
                <a:latin typeface="Arial" charset="0"/>
                <a:ea typeface="Gothic" charset="0"/>
                <a:cs typeface="Gothic" charset="0"/>
              </a:rPr>
              <a:t>Figure 4 Changes in Life Expectancy for the 1980s–1990s, Plotted against Reductions in PM</a:t>
            </a:r>
            <a:r>
              <a:rPr lang="en-GB" smtClean="0" baseline="-25000">
                <a:latin typeface="Arial" charset="0"/>
                <a:ea typeface="Gothic" charset="0"/>
                <a:cs typeface="Gothic" charset="0"/>
              </a:rPr>
              <a:t>2.5</a:t>
            </a:r>
            <a:r>
              <a:rPr lang="en-GB" smtClean="0">
                <a:latin typeface="Arial" charset="0"/>
                <a:ea typeface="Gothic" charset="0"/>
                <a:cs typeface="Gothic" charset="0"/>
              </a:rPr>
              <a:t> Concentrations for 1980–2000. Dots and circles labeled with numbers represent changes in population-weighted mean life expectancies at the county level and metropolitan-area level, respectively. The solid and broken lines represent regression lines with the use of county-level and metropolitan-area–level observations, respectively. The metropolitan areas are coded by number as follows: 1 — Akron, Ohio; 2 — Albuquerque, New Mexico; 3 — Allentown, Pennsylvania; 4 — Atlanta; 5 — Boise, Idaho; 6 — Boston; 7 — Buffalo, New York; 8 — Charlotte, North Carolina; 9 — Charleston, West Virginia; 10 — Chicago; 11 — Cincinnati; 12 — Cleveland; 13 — Dallas; 14 — Dayton, Ohio; 15 — Denver; 16 — El Paso, Texas; 17 — Gary, Indiana; 18 — Houston; 19 — Indianapolis; 20 — Jersey City, New Jersey; 21 — Kansas City, Missouri; 22 — Little Rock, Arkansas; 23 — Los Angeles; 24 — Minneapolis; 25 — New York City; 26 — Norfolk, Virginia; 27 — Oklahoma City; 28 — Philadelphia; 29 — Phoenix, Arizona; 30 — Pittsburgh; 31 — Portland, Oregon; 32 — Providence, Rhode Island; 33 — Pueblo, Colorado; 34 — Raleigh, North Carolina; 35 — Reno, Nevada; 36 — St. Louis; 37 — San Diego, California; 38 — San Francisco; 39 — Salt Lake City; 40 — San Jose, California; 41 — Seattle; 42 — Spokane, Washington; 43 — Springfield, Massachusetts; 44 — Steubenville, Ohio; 45 — Tampa, Florida; 46 — Topeka, Kansas; 47 — Washington, D.C.; 48 — Wichita, Kansas; 49 — Wilmington, Delaware; 50 — Worcester, Massachusetts; 51 — Youngstown, Ohio. PM</a:t>
            </a:r>
            <a:r>
              <a:rPr lang="en-GB" smtClean="0" baseline="-25000">
                <a:latin typeface="Arial" charset="0"/>
                <a:ea typeface="Gothic" charset="0"/>
                <a:cs typeface="Gothic" charset="0"/>
              </a:rPr>
              <a:t>2.5</a:t>
            </a:r>
            <a:r>
              <a:rPr lang="en-GB" smtClean="0">
                <a:latin typeface="Arial" charset="0"/>
                <a:ea typeface="Gothic" charset="0"/>
                <a:cs typeface="Gothic" charset="0"/>
              </a:rPr>
              <a:t> denotes particulate matter with an aerodynamic diameter less than or equal to 2.5 μm. (See interactive graphic.)</a:t>
            </a:r>
            <a:endParaRPr lang="en-GB" dirty="0">
              <a:latin typeface="Arial" charset="0"/>
              <a:ea typeface="Gothic" charset="0"/>
              <a:cs typeface="Gothic" charset="0"/>
            </a:endParaRP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13313" name="Rectangle 1"/>
          <p:cNvSpPr>
            <a:spLocks noGrp="1" noRot="1" noChangeAspect="1" noChangeArrowheads="1" noTextEdit="1"/>
          </p:cNvSpPr>
          <p:nvPr>
            <p:ph type="sldImg"/>
          </p:nvPr>
        </p:nvSpPr>
        <p:spPr bwMode="auto">
          <a:xfrm>
            <a:off x="1587500" y="1006475"/>
            <a:ext cx="4595813" cy="3448050"/>
          </a:xfrm>
          <a:prstGeom prst="rect">
            <a:avLst/>
          </a:prstGeom>
          <a:solidFill>
            <a:srgbClr val="FFFFFF"/>
          </a:solidFill>
          <a:ln>
            <a:solidFill>
              <a:srgbClr val="000000"/>
            </a:solidFill>
            <a:miter lim="800000"/>
            <a:headEnd/>
            <a:tailEnd/>
          </a:ln>
        </p:spPr>
      </p:sp>
      <p:sp>
        <p:nvSpPr>
          <p:cNvPr id="13314" name="Text Box 2"/>
          <p:cNvSpPr txBox="1">
            <a:spLocks noGrp="1" noChangeArrowheads="1"/>
          </p:cNvSpPr>
          <p:nvPr>
            <p:ph type="body" idx="1"/>
          </p:nvPr>
        </p:nvSpPr>
        <p:spPr bwMode="auto">
          <a:xfrm>
            <a:off x="1185863" y="4787900"/>
            <a:ext cx="5407025" cy="3827463"/>
          </a:xfrm>
          <a:prstGeom prst="rect">
            <a:avLst/>
          </a:prstGeom>
          <a:noFill/>
          <a:ln>
            <a:miter lim="800000"/>
            <a:headEnd/>
            <a:tailEnd/>
          </a:ln>
        </p:spPr>
        <p:txBody>
          <a:bodyPr lIns="0" tIns="0" rIns="0" bIns="0">
            <a:spAutoFit/>
          </a:bodyPr>
          <a:lstStyle/>
          <a:p>
            <a:pPr marL="215900" indent="-215900" eaLnBrk="1">
              <a:lnSpc>
                <a:spcPct val="97000"/>
              </a:lnSpc>
              <a:spcBef>
                <a:spcPct val="0"/>
              </a:spcBef>
              <a:buSzPct val="45000"/>
              <a:buFont typeface="StarSymbol" charset="0"/>
              <a:buNone/>
              <a:tabLst>
                <a:tab pos="723900" algn="l"/>
                <a:tab pos="1447800" algn="l"/>
                <a:tab pos="2171700" algn="l"/>
                <a:tab pos="2895600" algn="l"/>
                <a:tab pos="3619500" algn="l"/>
                <a:tab pos="4343400" algn="l"/>
                <a:tab pos="5067300" algn="l"/>
              </a:tabLst>
            </a:pPr>
            <a:r>
              <a:rPr lang="en-GB" smtClean="0">
                <a:latin typeface="Arial" charset="0"/>
                <a:ea typeface="Gothic" charset="0"/>
                <a:cs typeface="Gothic" charset="0"/>
              </a:rPr>
              <a:t>Table 1 Summary Characteristics of the 217 Counties Analyzed.</a:t>
            </a:r>
            <a:endParaRPr lang="en-GB" dirty="0">
              <a:latin typeface="Arial" charset="0"/>
              <a:ea typeface="Gothic" charset="0"/>
              <a:cs typeface="Gothic" charset="0"/>
            </a:endParaRP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13313" name="Rectangle 1"/>
          <p:cNvSpPr>
            <a:spLocks noGrp="1" noRot="1" noChangeAspect="1" noChangeArrowheads="1" noTextEdit="1"/>
          </p:cNvSpPr>
          <p:nvPr>
            <p:ph type="sldImg"/>
          </p:nvPr>
        </p:nvSpPr>
        <p:spPr bwMode="auto">
          <a:xfrm>
            <a:off x="1587500" y="1006475"/>
            <a:ext cx="4595813" cy="3448050"/>
          </a:xfrm>
          <a:prstGeom prst="rect">
            <a:avLst/>
          </a:prstGeom>
          <a:solidFill>
            <a:srgbClr val="FFFFFF"/>
          </a:solidFill>
          <a:ln>
            <a:solidFill>
              <a:srgbClr val="000000"/>
            </a:solidFill>
            <a:miter lim="800000"/>
            <a:headEnd/>
            <a:tailEnd/>
          </a:ln>
        </p:spPr>
      </p:sp>
      <p:sp>
        <p:nvSpPr>
          <p:cNvPr id="13314" name="Text Box 2"/>
          <p:cNvSpPr txBox="1">
            <a:spLocks noGrp="1" noChangeArrowheads="1"/>
          </p:cNvSpPr>
          <p:nvPr>
            <p:ph type="body" idx="1"/>
          </p:nvPr>
        </p:nvSpPr>
        <p:spPr bwMode="auto">
          <a:xfrm>
            <a:off x="1185863" y="4787900"/>
            <a:ext cx="5407025" cy="3827463"/>
          </a:xfrm>
          <a:prstGeom prst="rect">
            <a:avLst/>
          </a:prstGeom>
          <a:noFill/>
          <a:ln>
            <a:miter lim="800000"/>
            <a:headEnd/>
            <a:tailEnd/>
          </a:ln>
        </p:spPr>
        <p:txBody>
          <a:bodyPr lIns="0" tIns="0" rIns="0" bIns="0">
            <a:spAutoFit/>
          </a:bodyPr>
          <a:lstStyle/>
          <a:p>
            <a:pPr marL="215900" indent="-215900" eaLnBrk="1">
              <a:lnSpc>
                <a:spcPct val="97000"/>
              </a:lnSpc>
              <a:spcBef>
                <a:spcPct val="0"/>
              </a:spcBef>
              <a:buSzPct val="45000"/>
              <a:buFont typeface="StarSymbol" charset="0"/>
              <a:buNone/>
              <a:tabLst>
                <a:tab pos="723900" algn="l"/>
                <a:tab pos="1447800" algn="l"/>
                <a:tab pos="2171700" algn="l"/>
                <a:tab pos="2895600" algn="l"/>
                <a:tab pos="3619500" algn="l"/>
                <a:tab pos="4343400" algn="l"/>
                <a:tab pos="5067300" algn="l"/>
              </a:tabLst>
            </a:pPr>
            <a:r>
              <a:rPr lang="en-GB" smtClean="0">
                <a:latin typeface="Arial" charset="0"/>
                <a:ea typeface="Gothic" charset="0"/>
                <a:cs typeface="Gothic" charset="0"/>
              </a:rPr>
              <a:t>Table 2 Results of Selected Regression Models, Including Estimates of the Increase in Life Expectancy Associated with a Reduction in PM</a:t>
            </a:r>
            <a:r>
              <a:rPr lang="en-GB" smtClean="0" baseline="-25000">
                <a:latin typeface="Arial" charset="0"/>
                <a:ea typeface="Gothic" charset="0"/>
                <a:cs typeface="Gothic" charset="0"/>
              </a:rPr>
              <a:t>2.5</a:t>
            </a:r>
            <a:r>
              <a:rPr lang="en-GB" smtClean="0">
                <a:latin typeface="Arial" charset="0"/>
                <a:ea typeface="Gothic" charset="0"/>
                <a:cs typeface="Gothic" charset="0"/>
              </a:rPr>
              <a:t> of 10 μg per Cubic Meter, Adjusted for Socioeconomic, Demographic, and Proxy Indicators for Prevalence of Smoking.</a:t>
            </a:r>
            <a:endParaRPr lang="en-GB" dirty="0">
              <a:latin typeface="Arial" charset="0"/>
              <a:ea typeface="Gothic" charset="0"/>
              <a:cs typeface="Gothic"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33" name="Rectangle 1"/>
          <p:cNvSpPr>
            <a:spLocks noGrp="1" noRot="1" noChangeAspect="1" noChangeArrowheads="1" noTextEdit="1"/>
          </p:cNvSpPr>
          <p:nvPr>
            <p:ph type="sldImg"/>
          </p:nvPr>
        </p:nvSpPr>
        <p:spPr bwMode="auto">
          <a:xfrm>
            <a:off x="1587500" y="1006475"/>
            <a:ext cx="4595813" cy="3448050"/>
          </a:xfrm>
          <a:prstGeom prst="rect">
            <a:avLst/>
          </a:prstGeom>
          <a:solidFill>
            <a:srgbClr val="FFFFFF"/>
          </a:solidFill>
          <a:ln>
            <a:solidFill>
              <a:srgbClr val="000000"/>
            </a:solidFill>
            <a:miter lim="800000"/>
            <a:headEnd/>
            <a:tailEnd/>
          </a:ln>
        </p:spPr>
      </p:sp>
      <p:sp>
        <p:nvSpPr>
          <p:cNvPr id="18434" name="Rectangle 2"/>
          <p:cNvSpPr txBox="1">
            <a:spLocks noGrp="1" noChangeArrowheads="1"/>
          </p:cNvSpPr>
          <p:nvPr>
            <p:ph type="body" idx="1"/>
          </p:nvPr>
        </p:nvSpPr>
        <p:spPr bwMode="auto">
          <a:xfrm>
            <a:off x="1185863" y="4787900"/>
            <a:ext cx="5407025" cy="3827463"/>
          </a:xfrm>
          <a:prstGeom prst="rect">
            <a:avLst/>
          </a:prstGeom>
          <a:noFill/>
          <a:ln>
            <a:miter lim="800000"/>
            <a:headEnd/>
            <a:tailEnd/>
          </a:ln>
        </p:spPr>
        <p:txBody>
          <a:bodyPr wrap="none" anchor="ctr"/>
          <a:lstStyle/>
          <a:p>
            <a:endParaRPr lang="en-US" dirty="0"/>
          </a:p>
        </p:txBody>
      </p:sp>
    </p:spTree>
  </p:cSld>
  <p:clrMapOvr>
    <a:masterClrMapping/>
  </p:clrMapOvr>
</p:notes>
</file>

<file path=ppt/slideLayouts/_rels/slideLayout1.xml.rels><Relationships xmlns="http://schemas.openxmlformats.org/package/2006/relationships"><Relationship Id="rId1" Type="http://schemas.openxmlformats.org/officeDocument/2006/relationships/slideMaster" Target="../slideMasters/slideMaster1.xml"/></Relationships>
</file>

<file path=ppt/slideLayouts/_rels/slideLayout2.xml.rels><Relationships xmlns="http://schemas.openxmlformats.org/package/2006/relationships"><Relationship Id="rId1" Type="http://schemas.openxmlformats.org/officeDocument/2006/relationships/slideMaster" Target="../slideMasters/slideMaster1.xml"/></Relationships>
</file>

<file path=ppt/slideLayouts/_rels/slideLayout3.xml.rels><Relationships xmlns="http://schemas.openxmlformats.org/package/2006/relationships"><Relationship Id="rId1" Type="http://schemas.openxmlformats.org/officeDocument/2006/relationships/slideMaster" Target="../slideMasters/slideMaster1.xml"/></Relationships>
</file>

<file path=ppt/slideLayouts/_rels/slideLayout4.xml.rels><Relationships xmlns="http://schemas.openxmlformats.org/package/2006/relationships"><Relationship Id="rId1" Type="http://schemas.openxmlformats.org/officeDocument/2006/relationships/slideMaster" Target="../slideMasters/slideMaster1.xml"/></Relationships>
</file>

<file path=ppt/slideLayouts/_rels/slideLayout5.xml.rels><Relationships xmlns="http://schemas.openxmlformats.org/package/2006/relationships"><Relationship Id="rId1" Type="http://schemas.openxmlformats.org/officeDocument/2006/relationships/slideMaster" Target="../slideMasters/slideMaster1.xml"/></Relationships>
</file>

<file path=ppt/slideLayouts/_rels/slideLayout6.xml.rels><Relationships xmlns="http://schemas.openxmlformats.org/package/2006/relationships"><Relationship Id="rId1" Type="http://schemas.openxmlformats.org/officeDocument/2006/relationships/slideMaster" Target="../slideMasters/slideMaster1.xml"/></Relationships>
</file>

<file path=ppt/slideLayouts/_rels/slideLayout7.xml.rels><Relationships xmlns="http://schemas.openxmlformats.org/package/2006/relationships"><Relationship Id="rId1" Type="http://schemas.openxmlformats.org/officeDocument/2006/relationships/slideMaster" Target="../slideMasters/slideMaster1.xml"/></Relationships>
</file>

<file path=ppt/slideLayouts/_rels/slideLayout8.xml.rels><Relationships xmlns="http://schemas.openxmlformats.org/package/2006/relationships"><Relationship Id="rId1" Type="http://schemas.openxmlformats.org/officeDocument/2006/relationships/slideMaster" Target="../slideMasters/slideMaster1.xml"/></Relationships>
</file>

<file path=ppt/slideLayouts/_rels/slideLayout9.xml.rels><Relationships xmlns="http://schemas.openxmlformats.org/package/2006/relationships"><Relationship Id="rId1" Type="http://schemas.openxmlformats.org/officeDocument/2006/relationships/slideMaster" Target="../slideMasters/slideMaster1.xml"/></Relationships>
</file>

<file path=ppt/slideLayouts/_rels/slideLayout10.xml.rels><Relationships xmlns="http://schemas.openxmlformats.org/package/2006/relationships"><Relationship Id="rId1" Type="http://schemas.openxmlformats.org/officeDocument/2006/relationships/slideMaster" Target="../slideMasters/slideMaster1.xml"/></Relationships>
</file>

<file path=ppt/slideLayouts/_rels/slideLayout11.xml.rel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5650" y="2347913"/>
            <a:ext cx="8569325" cy="1620837"/>
          </a:xfrm>
        </p:spPr>
        <p:txBody>
          <a:bodyPr/>
          <a:lstStyle/>
          <a:p>
            <a:r>
              <a:rPr lang="en-US" smtClean="0"/>
              <a:t>Click to edit Master title style</a:t>
            </a:r>
            <a:endParaRPr lang="en-US"/>
          </a:p>
        </p:txBody>
      </p:sp>
      <p:sp>
        <p:nvSpPr>
          <p:cNvPr id="3" name="Subtitle 2"/>
          <p:cNvSpPr>
            <a:spLocks noGrp="1"/>
          </p:cNvSpPr>
          <p:nvPr>
            <p:ph type="subTitle" idx="1"/>
          </p:nvPr>
        </p:nvSpPr>
        <p:spPr>
          <a:xfrm>
            <a:off x="1512888" y="4283075"/>
            <a:ext cx="7056437" cy="193198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6925" y="4857750"/>
            <a:ext cx="8567738" cy="15017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96925" y="3203575"/>
            <a:ext cx="8567738" cy="165417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739775" y="2101850"/>
            <a:ext cx="4225925" cy="47609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118100" y="2101850"/>
            <a:ext cx="4227513" cy="47609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3213"/>
            <a:ext cx="9072563" cy="1258887"/>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504825" y="1692275"/>
            <a:ext cx="4452938"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04825" y="2397125"/>
            <a:ext cx="4452938"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121275" y="1692275"/>
            <a:ext cx="4456113"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121275" y="2397125"/>
            <a:ext cx="4456113"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1625"/>
            <a:ext cx="3316288" cy="1279525"/>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941763" y="301625"/>
            <a:ext cx="5635625" cy="64516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504825" y="1581150"/>
            <a:ext cx="3316288" cy="51720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76438" y="5291138"/>
            <a:ext cx="6048375" cy="625475"/>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976438" y="674688"/>
            <a:ext cx="6048375" cy="45370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976438" y="5916613"/>
            <a:ext cx="6048375" cy="887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4550" y="627063"/>
            <a:ext cx="2151063" cy="6235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739775" y="627063"/>
            <a:ext cx="6302375" cy="6235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25" name="Rectangle 1"/>
          <p:cNvSpPr>
            <a:spLocks noGrp="1" noChangeArrowheads="1"/>
          </p:cNvSpPr>
          <p:nvPr>
            <p:ph type="title"/>
          </p:nvPr>
        </p:nvSpPr>
        <p:spPr bwMode="auto">
          <a:xfrm>
            <a:off x="739775" y="627063"/>
            <a:ext cx="8605838" cy="1260475"/>
          </a:xfrm>
          <a:prstGeom prst="rect">
            <a:avLst/>
          </a:prstGeom>
          <a:noFill/>
          <a:ln w="9525">
            <a:noFill/>
            <a:miter lim="800000"/>
            <a:headEnd/>
            <a:tailEnd/>
          </a:ln>
          <a:effectLst/>
        </p:spPr>
        <p:txBody>
          <a:bodyPr vert="horz" wrap="square" lIns="0" tIns="0" rIns="0" bIns="0" numCol="1" anchor="ctr" anchorCtr="0" compatLnSpc="1">
            <a:prstTxWarp prst="textNoShape">
              <a:avLst/>
            </a:prstTxWarp>
          </a:bodyPr>
          <a:lstStyle/>
          <a:p>
            <a:pPr lvl="0"/>
            <a:r>
              <a:rPr lang="en-GB" smtClean="0"/>
              <a:t>Click to edit the title text format</a:t>
            </a:r>
          </a:p>
        </p:txBody>
      </p:sp>
      <p:sp>
        <p:nvSpPr>
          <p:cNvPr id="1026" name="Rectangle 2"/>
          <p:cNvSpPr>
            <a:spLocks noGrp="1" noChangeArrowheads="1"/>
          </p:cNvSpPr>
          <p:nvPr>
            <p:ph type="body" idx="1"/>
          </p:nvPr>
        </p:nvSpPr>
        <p:spPr bwMode="auto">
          <a:xfrm>
            <a:off x="739775" y="2101850"/>
            <a:ext cx="8605838" cy="4760913"/>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GB" smtClean="0"/>
              <a:t>Click to edit the outline text format</a:t>
            </a:r>
          </a:p>
          <a:p>
            <a:pPr lvl="1"/>
            <a:r>
              <a:rPr lang="en-GB" smtClean="0"/>
              <a:t>Second Outline Level</a:t>
            </a:r>
          </a:p>
          <a:p>
            <a:pPr lvl="2"/>
            <a:r>
              <a:rPr lang="en-GB" smtClean="0"/>
              <a:t>Third Outline Level</a:t>
            </a:r>
          </a:p>
          <a:p>
            <a:pPr lvl="3"/>
            <a:r>
              <a:rPr lang="en-GB" smtClean="0"/>
              <a:t>Fourth Outline Level</a:t>
            </a:r>
          </a:p>
          <a:p>
            <a:pPr lvl="4"/>
            <a:r>
              <a:rPr lang="en-GB" smtClean="0"/>
              <a:t>Fifth Outline Level</a:t>
            </a:r>
          </a:p>
          <a:p>
            <a:pPr lvl="4"/>
            <a:r>
              <a:rPr lang="en-GB" smtClean="0"/>
              <a:t>Sixth Outline Level</a:t>
            </a:r>
          </a:p>
          <a:p>
            <a:pPr lvl="4"/>
            <a:r>
              <a:rPr lang="en-GB" smtClean="0"/>
              <a:t>Seventh Outline Level</a:t>
            </a:r>
          </a:p>
          <a:p>
            <a:pPr lvl="4"/>
            <a:r>
              <a:rPr lang="en-GB" smtClean="0"/>
              <a:t>Eighth Outline Level</a:t>
            </a:r>
          </a:p>
          <a:p>
            <a:pPr lvl="4"/>
            <a:r>
              <a:rPr lang="en-GB" smtClean="0"/>
              <a:t>Ninth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fontAlgn="base" hangingPunct="0">
        <a:lnSpc>
          <a:spcPct val="97000"/>
        </a:lnSpc>
        <a:spcBef>
          <a:spcPct val="0"/>
        </a:spcBef>
        <a:spcAft>
          <a:spcPct val="0"/>
        </a:spcAft>
        <a:buClr>
          <a:srgbClr val="FFFFFF"/>
        </a:buClr>
        <a:buSzPct val="45000"/>
        <a:buFont typeface="StarSymbol" charset="0"/>
        <a:defRPr sz="2800" b="1">
          <a:solidFill>
            <a:srgbClr val="FFFFFF"/>
          </a:solidFill>
          <a:latin typeface="+mj-lt"/>
          <a:ea typeface="+mj-ea"/>
          <a:cs typeface="+mj-cs"/>
        </a:defRPr>
      </a:lvl1pPr>
      <a:lvl2pPr marL="431800" indent="-215900" algn="l" defTabSz="457200" rtl="0" fontAlgn="base" hangingPunct="0">
        <a:spcBef>
          <a:spcPct val="0"/>
        </a:spcBef>
        <a:spcAft>
          <a:spcPct val="0"/>
        </a:spcAft>
        <a:buClr>
          <a:srgbClr val="FFFFFF"/>
        </a:buClr>
        <a:buSzPct val="45000"/>
        <a:buFont typeface="StarSymbol" charset="0"/>
        <a:defRPr sz="4400">
          <a:solidFill>
            <a:srgbClr val="000000"/>
          </a:solidFill>
          <a:latin typeface="Times New Roman" pitchFamily="16" charset="0"/>
          <a:ea typeface="Gothic" charset="0"/>
          <a:cs typeface="Gothic" charset="0"/>
        </a:defRPr>
      </a:lvl2pPr>
      <a:lvl3pPr marL="647700" indent="-215900" algn="l" defTabSz="457200" rtl="0" fontAlgn="base" hangingPunct="0">
        <a:spcBef>
          <a:spcPct val="0"/>
        </a:spcBef>
        <a:spcAft>
          <a:spcPct val="0"/>
        </a:spcAft>
        <a:buClr>
          <a:srgbClr val="FFFFFF"/>
        </a:buClr>
        <a:buSzPct val="45000"/>
        <a:buFont typeface="StarSymbol" charset="0"/>
        <a:defRPr sz="4400">
          <a:solidFill>
            <a:srgbClr val="000000"/>
          </a:solidFill>
          <a:latin typeface="Times New Roman" pitchFamily="16" charset="0"/>
          <a:ea typeface="Gothic" charset="0"/>
          <a:cs typeface="Gothic" charset="0"/>
        </a:defRPr>
      </a:lvl3pPr>
      <a:lvl4pPr marL="863600" indent="-215900" algn="l" defTabSz="457200" rtl="0" fontAlgn="base" hangingPunct="0">
        <a:spcBef>
          <a:spcPct val="0"/>
        </a:spcBef>
        <a:spcAft>
          <a:spcPct val="0"/>
        </a:spcAft>
        <a:buClr>
          <a:srgbClr val="FFFFFF"/>
        </a:buClr>
        <a:buSzPct val="45000"/>
        <a:buFont typeface="StarSymbol" charset="0"/>
        <a:defRPr sz="4400">
          <a:solidFill>
            <a:srgbClr val="000000"/>
          </a:solidFill>
          <a:latin typeface="Times New Roman" pitchFamily="16" charset="0"/>
          <a:ea typeface="Gothic" charset="0"/>
          <a:cs typeface="Gothic" charset="0"/>
        </a:defRPr>
      </a:lvl4pPr>
      <a:lvl5pPr marL="1079500" indent="-215900" algn="l" defTabSz="457200" rtl="0" fontAlgn="base" hangingPunct="0">
        <a:spcBef>
          <a:spcPct val="0"/>
        </a:spcBef>
        <a:spcAft>
          <a:spcPct val="0"/>
        </a:spcAft>
        <a:buClr>
          <a:srgbClr val="FFFFFF"/>
        </a:buClr>
        <a:buSzPct val="45000"/>
        <a:buFont typeface="StarSymbol" charset="0"/>
        <a:defRPr sz="4400">
          <a:solidFill>
            <a:srgbClr val="000000"/>
          </a:solidFill>
          <a:latin typeface="Times New Roman" pitchFamily="16" charset="0"/>
          <a:ea typeface="Gothic" charset="0"/>
          <a:cs typeface="Gothic" charset="0"/>
        </a:defRPr>
      </a:lvl5pPr>
      <a:lvl6pPr marL="1536700" indent="-215900" algn="l" defTabSz="457200" rtl="0" fontAlgn="base" hangingPunct="0">
        <a:spcBef>
          <a:spcPct val="0"/>
        </a:spcBef>
        <a:spcAft>
          <a:spcPct val="0"/>
        </a:spcAft>
        <a:buClr>
          <a:srgbClr val="FFFFFF"/>
        </a:buClr>
        <a:buSzPct val="45000"/>
        <a:buFont typeface="StarSymbol" charset="0"/>
        <a:defRPr sz="4400">
          <a:solidFill>
            <a:srgbClr val="000000"/>
          </a:solidFill>
          <a:latin typeface="Times New Roman" pitchFamily="16" charset="0"/>
          <a:ea typeface="Gothic" charset="0"/>
          <a:cs typeface="Gothic" charset="0"/>
        </a:defRPr>
      </a:lvl6pPr>
      <a:lvl7pPr marL="1993900" indent="-215900" algn="l" defTabSz="457200" rtl="0" fontAlgn="base" hangingPunct="0">
        <a:spcBef>
          <a:spcPct val="0"/>
        </a:spcBef>
        <a:spcAft>
          <a:spcPct val="0"/>
        </a:spcAft>
        <a:buClr>
          <a:srgbClr val="FFFFFF"/>
        </a:buClr>
        <a:buSzPct val="45000"/>
        <a:buFont typeface="StarSymbol" charset="0"/>
        <a:defRPr sz="4400">
          <a:solidFill>
            <a:srgbClr val="000000"/>
          </a:solidFill>
          <a:latin typeface="Times New Roman" pitchFamily="16" charset="0"/>
          <a:ea typeface="Gothic" charset="0"/>
          <a:cs typeface="Gothic" charset="0"/>
        </a:defRPr>
      </a:lvl7pPr>
      <a:lvl8pPr marL="2451100" indent="-215900" algn="l" defTabSz="457200" rtl="0" fontAlgn="base" hangingPunct="0">
        <a:spcBef>
          <a:spcPct val="0"/>
        </a:spcBef>
        <a:spcAft>
          <a:spcPct val="0"/>
        </a:spcAft>
        <a:buClr>
          <a:srgbClr val="FFFFFF"/>
        </a:buClr>
        <a:buSzPct val="45000"/>
        <a:buFont typeface="StarSymbol" charset="0"/>
        <a:defRPr sz="4400">
          <a:solidFill>
            <a:srgbClr val="000000"/>
          </a:solidFill>
          <a:latin typeface="Times New Roman" pitchFamily="16" charset="0"/>
          <a:ea typeface="Gothic" charset="0"/>
          <a:cs typeface="Gothic" charset="0"/>
        </a:defRPr>
      </a:lvl8pPr>
      <a:lvl9pPr marL="2908300" indent="-215900" algn="l" defTabSz="457200" rtl="0" fontAlgn="base" hangingPunct="0">
        <a:spcBef>
          <a:spcPct val="0"/>
        </a:spcBef>
        <a:spcAft>
          <a:spcPct val="0"/>
        </a:spcAft>
        <a:buClr>
          <a:srgbClr val="FFFFFF"/>
        </a:buClr>
        <a:buSzPct val="45000"/>
        <a:buFont typeface="StarSymbol" charset="0"/>
        <a:defRPr sz="4400">
          <a:solidFill>
            <a:srgbClr val="000000"/>
          </a:solidFill>
          <a:latin typeface="Times New Roman" pitchFamily="16" charset="0"/>
          <a:ea typeface="Gothic" charset="0"/>
          <a:cs typeface="Gothic" charset="0"/>
        </a:defRPr>
      </a:lvl9pPr>
    </p:titleStyle>
    <p:bodyStyle>
      <a:lvl1pPr marL="431800" indent="-323850" algn="l" defTabSz="457200" rtl="0" fontAlgn="base" hangingPunct="0">
        <a:lnSpc>
          <a:spcPct val="97000"/>
        </a:lnSpc>
        <a:spcBef>
          <a:spcPct val="0"/>
        </a:spcBef>
        <a:spcAft>
          <a:spcPts val="888"/>
        </a:spcAft>
        <a:buClr>
          <a:srgbClr val="FFFFFF"/>
        </a:buClr>
        <a:buSzPct val="100000"/>
        <a:buFont typeface="Arial" charset="0"/>
        <a:buChar char="•"/>
        <a:defRPr sz="2000">
          <a:solidFill>
            <a:srgbClr val="FFFFFF"/>
          </a:solidFill>
          <a:latin typeface="+mn-lt"/>
          <a:ea typeface="+mn-ea"/>
          <a:cs typeface="+mn-cs"/>
        </a:defRPr>
      </a:lvl1pPr>
      <a:lvl2pPr marL="863600" indent="-287338" algn="l" defTabSz="457200" rtl="0" fontAlgn="base" hangingPunct="0">
        <a:lnSpc>
          <a:spcPct val="97000"/>
        </a:lnSpc>
        <a:spcBef>
          <a:spcPct val="0"/>
        </a:spcBef>
        <a:spcAft>
          <a:spcPts val="1138"/>
        </a:spcAft>
        <a:buClr>
          <a:srgbClr val="FFFFFF"/>
        </a:buClr>
        <a:buSzPct val="75000"/>
        <a:buFont typeface="StarSymbol" charset="0"/>
        <a:buChar char="–"/>
        <a:defRPr sz="2600">
          <a:solidFill>
            <a:srgbClr val="FFFFFF"/>
          </a:solidFill>
          <a:latin typeface="+mn-lt"/>
          <a:ea typeface="+mn-ea"/>
          <a:cs typeface="+mn-cs"/>
        </a:defRPr>
      </a:lvl2pPr>
      <a:lvl3pPr marL="1295400" indent="-215900" algn="l" defTabSz="457200" rtl="0" fontAlgn="base" hangingPunct="0">
        <a:lnSpc>
          <a:spcPct val="97000"/>
        </a:lnSpc>
        <a:spcBef>
          <a:spcPct val="0"/>
        </a:spcBef>
        <a:spcAft>
          <a:spcPts val="850"/>
        </a:spcAft>
        <a:buClr>
          <a:srgbClr val="FFFFFF"/>
        </a:buClr>
        <a:buSzPct val="45000"/>
        <a:buFont typeface="StarSymbol" charset="0"/>
        <a:buChar char="●"/>
        <a:defRPr sz="2400">
          <a:solidFill>
            <a:srgbClr val="FFFFFF"/>
          </a:solidFill>
          <a:latin typeface="+mn-lt"/>
          <a:ea typeface="+mn-ea"/>
          <a:cs typeface="+mn-cs"/>
        </a:defRPr>
      </a:lvl3pPr>
      <a:lvl4pPr marL="1727200" indent="-215900" algn="l" defTabSz="457200" rtl="0" fontAlgn="base" hangingPunct="0">
        <a:lnSpc>
          <a:spcPct val="97000"/>
        </a:lnSpc>
        <a:spcBef>
          <a:spcPct val="0"/>
        </a:spcBef>
        <a:spcAft>
          <a:spcPts val="575"/>
        </a:spcAft>
        <a:buClr>
          <a:srgbClr val="FFFFFF"/>
        </a:buClr>
        <a:buSzPct val="75000"/>
        <a:buFont typeface="StarSymbol" charset="0"/>
        <a:buChar char="–"/>
        <a:defRPr sz="2000">
          <a:solidFill>
            <a:srgbClr val="FFFFFF"/>
          </a:solidFill>
          <a:latin typeface="+mn-lt"/>
          <a:ea typeface="+mn-ea"/>
          <a:cs typeface="+mn-cs"/>
        </a:defRPr>
      </a:lvl4pPr>
      <a:lvl5pPr marL="2159000" indent="-215900" algn="l" defTabSz="457200" rtl="0" fontAlgn="base" hangingPunct="0">
        <a:lnSpc>
          <a:spcPct val="97000"/>
        </a:lnSpc>
        <a:spcBef>
          <a:spcPct val="0"/>
        </a:spcBef>
        <a:spcAft>
          <a:spcPts val="288"/>
        </a:spcAft>
        <a:buClr>
          <a:srgbClr val="FFFFFF"/>
        </a:buClr>
        <a:buSzPct val="45000"/>
        <a:buFont typeface="StarSymbol" charset="0"/>
        <a:buChar char="●"/>
        <a:defRPr sz="2000">
          <a:solidFill>
            <a:srgbClr val="FFFFFF"/>
          </a:solidFill>
          <a:latin typeface="+mn-lt"/>
          <a:ea typeface="+mn-ea"/>
          <a:cs typeface="+mn-cs"/>
        </a:defRPr>
      </a:lvl5pPr>
      <a:lvl6pPr marL="2616200" indent="-215900" algn="l" defTabSz="457200" rtl="0" fontAlgn="base" hangingPunct="0">
        <a:lnSpc>
          <a:spcPct val="97000"/>
        </a:lnSpc>
        <a:spcBef>
          <a:spcPct val="0"/>
        </a:spcBef>
        <a:spcAft>
          <a:spcPts val="288"/>
        </a:spcAft>
        <a:buClr>
          <a:srgbClr val="FFFFFF"/>
        </a:buClr>
        <a:buSzPct val="45000"/>
        <a:buFont typeface="StarSymbol" charset="0"/>
        <a:buChar char="●"/>
        <a:defRPr sz="2000">
          <a:solidFill>
            <a:srgbClr val="FFFFFF"/>
          </a:solidFill>
          <a:latin typeface="+mn-lt"/>
          <a:ea typeface="+mn-ea"/>
          <a:cs typeface="+mn-cs"/>
        </a:defRPr>
      </a:lvl6pPr>
      <a:lvl7pPr marL="3073400" indent="-215900" algn="l" defTabSz="457200" rtl="0" fontAlgn="base" hangingPunct="0">
        <a:lnSpc>
          <a:spcPct val="97000"/>
        </a:lnSpc>
        <a:spcBef>
          <a:spcPct val="0"/>
        </a:spcBef>
        <a:spcAft>
          <a:spcPts val="288"/>
        </a:spcAft>
        <a:buClr>
          <a:srgbClr val="FFFFFF"/>
        </a:buClr>
        <a:buSzPct val="45000"/>
        <a:buFont typeface="StarSymbol" charset="0"/>
        <a:buChar char="●"/>
        <a:defRPr sz="2000">
          <a:solidFill>
            <a:srgbClr val="FFFFFF"/>
          </a:solidFill>
          <a:latin typeface="+mn-lt"/>
          <a:ea typeface="+mn-ea"/>
          <a:cs typeface="+mn-cs"/>
        </a:defRPr>
      </a:lvl7pPr>
      <a:lvl8pPr marL="3530600" indent="-215900" algn="l" defTabSz="457200" rtl="0" fontAlgn="base" hangingPunct="0">
        <a:lnSpc>
          <a:spcPct val="97000"/>
        </a:lnSpc>
        <a:spcBef>
          <a:spcPct val="0"/>
        </a:spcBef>
        <a:spcAft>
          <a:spcPts val="288"/>
        </a:spcAft>
        <a:buClr>
          <a:srgbClr val="FFFFFF"/>
        </a:buClr>
        <a:buSzPct val="45000"/>
        <a:buFont typeface="StarSymbol" charset="0"/>
        <a:buChar char="●"/>
        <a:defRPr sz="2000">
          <a:solidFill>
            <a:srgbClr val="FFFFFF"/>
          </a:solidFill>
          <a:latin typeface="+mn-lt"/>
          <a:ea typeface="+mn-ea"/>
          <a:cs typeface="+mn-cs"/>
        </a:defRPr>
      </a:lvl8pPr>
      <a:lvl9pPr marL="3987800" indent="-215900" algn="l" defTabSz="457200" rtl="0" fontAlgn="base" hangingPunct="0">
        <a:lnSpc>
          <a:spcPct val="97000"/>
        </a:lnSpc>
        <a:spcBef>
          <a:spcPct val="0"/>
        </a:spcBef>
        <a:spcAft>
          <a:spcPts val="288"/>
        </a:spcAft>
        <a:buClr>
          <a:srgbClr val="FFFFFF"/>
        </a:buClr>
        <a:buSzPct val="45000"/>
        <a:buFont typeface="StarSymbol" charset="0"/>
        <a:buChar char="●"/>
        <a:defRPr sz="2000">
          <a:solidFill>
            <a:srgbClr val="FFFFFF"/>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Relationships xmlns="http://schemas.openxmlformats.org/package/2006/relationships"><Relationship Id="rId3"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Relationships xmlns="http://schemas.openxmlformats.org/package/2006/relationships"><Relationship Id="rId3"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tiff"/><Relationship Id="rId7" Type="http://schemas.openxmlformats.org/officeDocument/2006/relationships/notesSlide" Target="../notesSlides/notesSlide3.xml"/></Relationships>

</file>

<file path=ppt/slides/_rels/slide4.xml.rels><Relationships xmlns="http://schemas.openxmlformats.org/package/2006/relationships"><Relationship Id="rId3"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6.tiff"/><Relationship Id="rId8" Type="http://schemas.openxmlformats.org/officeDocument/2006/relationships/notesSlide" Target="../notesSlides/notesSlide4.xml"/></Relationships>

</file>

<file path=ppt/slides/_rels/slide5.xml.rels><Relationships xmlns="http://schemas.openxmlformats.org/package/2006/relationships"><Relationship Id="rId3"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8.tiff"/><Relationship Id="rId9" Type="http://schemas.openxmlformats.org/officeDocument/2006/relationships/notesSlide" Target="../notesSlides/notesSlide5.xml"/></Relationships>

</file>

<file path=ppt/slides/_rels/slide6.xml.rels><Relationships xmlns="http://schemas.openxmlformats.org/package/2006/relationships"><Relationship Id="rId3"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0.tiff"/><Relationship Id="rId10" Type="http://schemas.openxmlformats.org/officeDocument/2006/relationships/notesSlide" Target="../notesSlides/notesSlide6.xml"/></Relationships>

</file>

<file path=ppt/slides/_rels/slide7.xml.rels><Relationships xmlns="http://schemas.openxmlformats.org/package/2006/relationships"><Relationship Id="rId3"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2.tiff"/><Relationship Id="rId11" Type="http://schemas.openxmlformats.org/officeDocument/2006/relationships/notesSlide" Target="../notesSlides/notesSlide7.xml"/></Relationships>

</file>

<file path=ppt/slides/_rels/slide8.xml.rels><Relationships xmlns="http://schemas.openxmlformats.org/package/2006/relationships"><Relationship Id="rId3"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4.tiff"/><Relationship Id="rId12" Type="http://schemas.openxmlformats.org/officeDocument/2006/relationships/notesSlide" Target="../notesSlides/notesSlide8.xml"/></Relationships>

</file>

<file path=ppt/slides/_rels/slide9.xml.rels><Relationships xmlns="http://schemas.openxmlformats.org/package/2006/relationships"><Relationship Id="rId3" Type="http://schemas.openxmlformats.org/officeDocument/2006/relationships/image" Target="../media/image15.png"/><Relationship Id="rId1" Type="http://schemas.openxmlformats.org/officeDocument/2006/relationships/slideLayout" Target="../slideLayouts/slideLayout2.xml"/><Relationship Id="rId13" Type="http://schemas.openxmlformats.org/officeDocument/2006/relationships/notesSlide" Target="../notesSlides/notesSlide9.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3073" name="Text Box 1"/>
          <p:cNvSpPr txBox="1">
            <a:spLocks noChangeArrowheads="1"/>
          </p:cNvSpPr>
          <p:nvPr/>
        </p:nvSpPr>
        <p:spPr bwMode="auto">
          <a:xfrm>
            <a:off x="739775" y="631825"/>
            <a:ext cx="8604250" cy="1262063"/>
          </a:xfrm>
          <a:prstGeom prst="rect">
            <a:avLst/>
          </a:prstGeom>
          <a:noFill/>
          <a:ln w="9525">
            <a:noFill/>
            <a:miter lim="800000"/>
            <a:headEnd/>
            <a:tailEnd/>
          </a:ln>
        </p:spPr>
        <p:txBody>
          <a:bodyPr lIns="0" tIns="0" rIns="0" bIns="0"/>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1800" b="1" dirty="0" smtClean="0">
                <a:solidFill>
                  <a:srgbClr val="FF0000"/>
                </a:solidFill>
                <a:latin typeface="Arial" charset="0"/>
              </a:rPr>
              <a:t>Special Article</a:t>
            </a:r>
            <a:r>
              <a:rPr lang="en-GB" sz="2800" b="1" dirty="0" smtClean="0">
                <a:solidFill>
                  <a:srgbClr val="FFFFFF"/>
                </a:solidFill>
                <a:latin typeface="Arial" charset="0"/>
              </a:rPr>
              <a:t> </a:t>
            </a:r>
            <a:br>
              <a:rPr lang="en-GB" sz="2800" b="1" dirty="0">
                <a:solidFill>
                  <a:srgbClr val="FFFFFF"/>
                </a:solidFill>
                <a:latin typeface="Arial" charset="0"/>
              </a:rPr>
            </a:br>
            <a:r>
              <a:rPr lang="en-GB" sz="2800" b="1" dirty="0" smtClean="0">
                <a:solidFill>
                  <a:srgbClr val="FFFFFF"/>
                </a:solidFill>
                <a:latin typeface="Arial" charset="0"/>
              </a:rPr>
              <a:t>Fine-Particulate Air Pollution and Life Expectancy in the United States</a:t>
            </a:r>
            <a:endParaRPr lang="en-GB" sz="2800" b="1" dirty="0">
              <a:solidFill>
                <a:srgbClr val="FFFFFF"/>
              </a:solidFill>
              <a:latin typeface="Arial" charset="0"/>
            </a:endParaRPr>
          </a:p>
        </p:txBody>
      </p:sp>
      <p:sp>
        <p:nvSpPr>
          <p:cNvPr id="3074" name="Text Box 2"/>
          <p:cNvSpPr txBox="1">
            <a:spLocks noChangeArrowheads="1"/>
          </p:cNvSpPr>
          <p:nvPr/>
        </p:nvSpPr>
        <p:spPr bwMode="auto">
          <a:xfrm>
            <a:off x="739775" y="2259013"/>
            <a:ext cx="8604250" cy="3021012"/>
          </a:xfrm>
          <a:prstGeom prst="rect">
            <a:avLst/>
          </a:prstGeom>
          <a:noFill/>
          <a:ln w="9525">
            <a:noFill/>
            <a:miter lim="800000"/>
            <a:headEnd/>
            <a:tailEnd/>
          </a:ln>
        </p:spPr>
        <p:txBody>
          <a:bodyPr lIns="0" tIns="0" rIns="0" bIns="0"/>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1800" dirty="0" err="1" smtClean="0">
                <a:solidFill>
                  <a:srgbClr val="FFFFFF"/>
                </a:solidFill>
                <a:latin typeface="Arial" charset="0"/>
              </a:rPr>
              <a:t>C. Arden Pope, III, Ph.D., Majid Ezzati, Ph.D., and Douglas W. Dockery, Sc.D.</a:t>
            </a:r>
            <a:endParaRPr lang="en-GB" sz="1800" dirty="0">
              <a:solidFill>
                <a:srgbClr val="FFFFFF"/>
              </a:solidFill>
              <a:latin typeface="Arial" charset="0"/>
            </a:endParaRPr>
          </a:p>
        </p:txBody>
      </p:sp>
      <p:sp>
        <p:nvSpPr>
          <p:cNvPr id="3075" name="Text Box 3"/>
          <p:cNvSpPr txBox="1">
            <a:spLocks noChangeArrowheads="1"/>
          </p:cNvSpPr>
          <p:nvPr/>
        </p:nvSpPr>
        <p:spPr bwMode="auto">
          <a:xfrm>
            <a:off x="738188" y="5641975"/>
            <a:ext cx="8604250" cy="268663"/>
          </a:xfrm>
          <a:prstGeom prst="rect">
            <a:avLst/>
          </a:prstGeom>
          <a:noFill/>
          <a:ln w="9525">
            <a:noFill/>
            <a:miter lim="800000"/>
            <a:headEnd/>
            <a:tailEnd/>
          </a:ln>
        </p:spPr>
        <p:txBody>
          <a:bodyPr lIns="0" tIns="0" rIns="0" bIns="0">
            <a:spAutoFit/>
          </a:bodyPr>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1800" dirty="0" smtClean="0">
                <a:solidFill>
                  <a:srgbClr val="FFFFFF"/>
                </a:solidFill>
                <a:latin typeface="Arial" charset="0"/>
              </a:rPr>
              <a:t>N Engl J Med</a:t>
            </a:r>
            <a:endParaRPr lang="en-GB" sz="1800" dirty="0">
              <a:solidFill>
                <a:srgbClr val="FFFFFF"/>
              </a:solidFill>
              <a:latin typeface="Arial" charset="0"/>
            </a:endParaRPr>
          </a:p>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1800" dirty="0" smtClean="0">
                <a:solidFill>
                  <a:srgbClr val="FFFFFF"/>
                </a:solidFill>
                <a:latin typeface="Arial" charset="0"/>
              </a:rPr>
              <a:t>Volume 360(4):376-386</a:t>
            </a:r>
            <a:endParaRPr lang="en-GB" sz="1800" dirty="0">
              <a:solidFill>
                <a:srgbClr val="FFFFFF"/>
              </a:solidFill>
              <a:latin typeface="Arial" charset="0"/>
            </a:endParaRPr>
          </a:p>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1800" dirty="0" smtClean="0">
                <a:solidFill>
                  <a:srgbClr val="FFFFFF"/>
                </a:solidFill>
                <a:latin typeface="Arial" charset="0"/>
              </a:rPr>
              <a:t>January 22, 2009</a:t>
            </a:r>
            <a:endParaRPr lang="en-GB" sz="1800" dirty="0">
              <a:solidFill>
                <a:srgbClr val="FFFFFF"/>
              </a:solidFill>
              <a:latin typeface="Arial" charset="0"/>
            </a:endParaRPr>
          </a:p>
        </p:txBody>
      </p:sp>
      <p:pic>
        <p:nvPicPr>
          <p:cNvPr id="3076" name="Picture 4"/>
          <p:cNvPicPr>
            <a:picLocks noChangeAspect="1" noChangeArrowheads="1"/>
          </p:cNvPicPr>
          <p:nvPr/>
        </p:nvPicPr>
        <p:blipFill>
          <a:blip r:embed="rId3" cstate="print"/>
          <a:srcRect/>
          <a:stretch>
            <a:fillRect/>
          </a:stretch>
        </p:blipFill>
        <p:spPr bwMode="auto">
          <a:xfrm>
            <a:off x="6958013" y="6911975"/>
            <a:ext cx="2828925" cy="476250"/>
          </a:xfrm>
          <a:prstGeom prst="rect">
            <a:avLst/>
          </a:prstGeom>
          <a:noFill/>
        </p:spPr>
      </p:pic>
    </p:spTree>
  </p:cSld>
  <p:clrMapOvr>
    <a:masterClrMapping/>
  </p:clrMapOvr>
  <p:transition spd="med"/>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4097" name="Text Box 1"/>
          <p:cNvSpPr txBox="1">
            <a:spLocks noChangeArrowheads="1"/>
          </p:cNvSpPr>
          <p:nvPr/>
        </p:nvSpPr>
        <p:spPr bwMode="auto">
          <a:xfrm>
            <a:off x="739775" y="787983"/>
            <a:ext cx="8604250" cy="417935"/>
          </a:xfrm>
          <a:prstGeom prst="rect">
            <a:avLst/>
          </a:prstGeom>
          <a:noFill/>
          <a:ln w="9525">
            <a:noFill/>
            <a:miter lim="800000"/>
            <a:headEnd/>
            <a:tailEnd/>
          </a:ln>
        </p:spPr>
        <p:txBody>
          <a:bodyPr lIns="0" tIns="0" rIns="0" bIns="0" anchor="ctr">
            <a:spAutoFit/>
          </a:bodyPr>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2800" b="1" smtClean="0">
                <a:solidFill>
                  <a:srgbClr val="FFFFFF"/>
                </a:solidFill>
                <a:latin typeface="Arial" charset="0"/>
              </a:rPr>
              <a:t>Study Overview</a:t>
            </a:r>
            <a:endParaRPr lang="en-GB" sz="2800" b="1" dirty="0">
              <a:solidFill>
                <a:srgbClr val="FFFFFF"/>
              </a:solidFill>
              <a:latin typeface="Arial" charset="0"/>
            </a:endParaRPr>
          </a:p>
        </p:txBody>
      </p:sp>
      <p:sp>
        <p:nvSpPr>
          <p:cNvPr id="4098" name="Rectangle 2"/>
          <p:cNvSpPr>
            <a:spLocks noGrp="1" noChangeArrowheads="1"/>
          </p:cNvSpPr>
          <p:nvPr>
            <p:ph type="body"/>
          </p:nvPr>
        </p:nvSpPr>
        <p:spPr>
          <a:xfrm>
            <a:off x="739775" y="1549400"/>
            <a:ext cx="8607425" cy="5241925"/>
          </a:xfrm>
          <a:ln/>
        </p:spPr>
        <p:txBody>
          <a:bodyPr anchor="t"/>
          <a:lstStyle/>
          <a:p>
            <a:pPr marL="431800" indent="-323850" algn="l">
              <a:lnSpc>
                <a:spcPct val="92000"/>
              </a:lnSpc>
              <a:spcAft>
                <a:spcPts val="888"/>
              </a:spcAft>
              <a:buSzPct val="100000"/>
              <a:buFont typeface="Arial"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2000" b="0" dirty="0" smtClean="0">
                <a:latin typeface="Arial" charset="0"/>
              </a:rPr>
              <a:t>Particulate air pollution has been implicated as being responsible for deaths from any cause.</a:t>
            </a:r>
            <a:endParaRPr lang="en-GB" sz="2000" b="0" dirty="0">
              <a:latin typeface="Arial" charset="0"/>
            </a:endParaRPr>
          </a:p>
          <a:p>
            <a:pPr marL="431800" indent="-323850" algn="l">
              <a:lnSpc>
                <a:spcPct val="92000"/>
              </a:lnSpc>
              <a:spcAft>
                <a:spcPts val="888"/>
              </a:spcAft>
              <a:buSzPct val="100000"/>
              <a:buFont typeface="Arial"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2000" b="0" dirty="0" smtClean="0">
                <a:latin typeface="Arial" charset="0"/>
              </a:rPr>
              <a:t>This epidemiologic study examined the change in fine-particulate air pollution in 51 U.S. metropolitan areas between the late 1970s and the late 1990s.</a:t>
            </a:r>
            <a:endParaRPr lang="en-GB" sz="2000" b="0" dirty="0">
              <a:latin typeface="Arial" charset="0"/>
            </a:endParaRPr>
          </a:p>
          <a:p>
            <a:pPr marL="431800" indent="-323850" algn="l">
              <a:lnSpc>
                <a:spcPct val="92000"/>
              </a:lnSpc>
              <a:spcAft>
                <a:spcPts val="888"/>
              </a:spcAft>
              <a:buSzPct val="100000"/>
              <a:buFont typeface="Arial"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2000" b="0" dirty="0" smtClean="0">
                <a:latin typeface="Arial" charset="0"/>
              </a:rPr>
              <a:t>A decrease in fine-particulate air pollution was associated with increased life expectancy.</a:t>
            </a:r>
            <a:endParaRPr lang="en-GB" sz="2000" b="0" dirty="0">
              <a:latin typeface="Arial" charset="0"/>
            </a:endParaRPr>
          </a:p>
        </p:txBody>
      </p:sp>
      <p:pic>
        <p:nvPicPr>
          <p:cNvPr id="4099" name="Picture 3"/>
          <p:cNvPicPr>
            <a:picLocks noChangeAspect="1" noChangeArrowheads="1"/>
          </p:cNvPicPr>
          <p:nvPr/>
        </p:nvPicPr>
        <p:blipFill>
          <a:blip r:embed="rId3" cstate="print"/>
          <a:srcRect/>
          <a:stretch>
            <a:fillRect/>
          </a:stretch>
        </p:blipFill>
        <p:spPr bwMode="auto">
          <a:xfrm>
            <a:off x="6958013" y="6911975"/>
            <a:ext cx="2828925" cy="476250"/>
          </a:xfrm>
          <a:prstGeom prst="rect">
            <a:avLst/>
          </a:prstGeom>
          <a:noFill/>
        </p:spPr>
      </p:pic>
    </p:spTree>
  </p:cSld>
  <p:clrMapOvr>
    <a:masterClrMapping/>
  </p:clrMapOvr>
  <p:transition spd="med"/>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5121" name="Text Box 1"/>
          <p:cNvSpPr txBox="1">
            <a:spLocks noChangeArrowheads="1"/>
          </p:cNvSpPr>
          <p:nvPr/>
        </p:nvSpPr>
        <p:spPr bwMode="auto">
          <a:xfrm>
            <a:off x="358775" y="420688"/>
            <a:ext cx="9364663" cy="238848"/>
          </a:xfrm>
          <a:prstGeom prst="rect">
            <a:avLst/>
          </a:prstGeom>
          <a:noFill/>
          <a:ln w="9525">
            <a:noFill/>
            <a:miter lim="800000"/>
            <a:headEnd/>
            <a:tailEnd/>
          </a:ln>
        </p:spPr>
        <p:txBody>
          <a:bodyPr lIns="0" tIns="0" rIns="0" bIns="0">
            <a:spAutoFit/>
          </a:bodyPr>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sz="1600" b="1" dirty="0" err="1" smtClean="0">
                <a:solidFill>
                  <a:srgbClr val="FFFFFF"/>
                </a:solidFill>
                <a:latin typeface="Arial" charset="0"/>
              </a:rPr>
              <a:t>Distribution of Study Areas.</a:t>
            </a:r>
            <a:endParaRPr lang="en-GB" sz="1600" b="1" dirty="0">
              <a:solidFill>
                <a:srgbClr val="FFFFFF"/>
              </a:solidFill>
              <a:latin typeface="Arial" charset="0"/>
            </a:endParaRPr>
          </a:p>
        </p:txBody>
      </p:sp>
      <p:pic>
        <p:nvPicPr>
          <p:cNvPr id="5122" name="Picture 2"/>
          <p:cNvPicPr>
            <a:picLocks noChangeAspect="1" noChangeArrowheads="1"/>
          </p:cNvPicPr>
          <p:nvPr/>
        </p:nvPicPr>
        <p:blipFill>
          <a:blip r:embed="rId3" cstate="print"/>
          <a:srcRect/>
          <a:stretch>
            <a:fillRect/>
          </a:stretch>
        </p:blipFill>
        <p:spPr bwMode="auto">
          <a:xfrm>
            <a:off x="6958013" y="6911975"/>
            <a:ext cx="2828925" cy="476250"/>
          </a:xfrm>
          <a:prstGeom prst="rect">
            <a:avLst/>
          </a:prstGeom>
          <a:noFill/>
        </p:spPr>
      </p:pic>
      <p:sp>
        <p:nvSpPr>
          <p:cNvPr id="5124" name="Text Box 4"/>
          <p:cNvSpPr txBox="1">
            <a:spLocks noChangeArrowheads="1"/>
          </p:cNvSpPr>
          <p:nvPr/>
        </p:nvSpPr>
        <p:spPr bwMode="auto">
          <a:xfrm>
            <a:off x="1160930" y="6583363"/>
            <a:ext cx="7736541" cy="179152"/>
          </a:xfrm>
          <a:prstGeom prst="rect">
            <a:avLst/>
          </a:prstGeom>
          <a:noFill/>
          <a:ln w="9525">
            <a:noFill/>
            <a:miter lim="800000"/>
            <a:headEnd/>
            <a:tailEnd/>
          </a:ln>
        </p:spPr>
        <p:txBody>
          <a:bodyPr lIns="0" tIns="0" rIns="0" bIns="0">
            <a:spAutoFit/>
          </a:bodyPr>
          <a:lstStyle/>
          <a:p>
            <a:pPr eaLnBrk="1">
              <a:lnSpc>
                <a:spcPct val="97000"/>
              </a:lnSpc>
              <a:buClr>
                <a:srgbClr val="FFFFFF"/>
              </a:buClr>
              <a:buSzPct val="45000"/>
              <a:buFont typeface="StarSymbol" charset="0"/>
              <a:buNone/>
              <a:tabLst>
                <a:tab pos="723900" algn="l"/>
                <a:tab pos="1447800" algn="l"/>
                <a:tab pos="2171700" algn="l"/>
                <a:tab pos="2895600" algn="l"/>
                <a:tab pos="3619500" algn="l"/>
              </a:tabLst>
            </a:pPr>
            <a:r>
              <a:rPr lang="en-GB" sz="1200" b="1" smtClean="0">
                <a:solidFill>
                  <a:srgbClr val="FFFFFF"/>
                </a:solidFill>
                <a:latin typeface="Arial" charset="0"/>
              </a:rPr>
              <a:t>Pope CA II et al. N Engl J Med2009;360:376-386</a:t>
            </a:r>
            <a:endParaRPr lang="en-GB" sz="1200" b="1" dirty="0">
              <a:solidFill>
                <a:srgbClr val="FFFFFF"/>
              </a:solidFill>
              <a:latin typeface="Arial" charset="0"/>
            </a:endParaRPr>
          </a:p>
        </p:txBody>
      </p:sp>
      <p:pic>
        <p:nvPicPr>
          <p:cNvPr id="6" name="Picture 5" descr="Image"/>
          <p:cNvPicPr>
            <a:picLocks noChangeAspect="1"/>
          </p:cNvPicPr>
          <p:nvPr/>
        </p:nvPicPr>
        <p:blipFill>
          <a:blip r:embed="rId4" cstate="print"/>
          <a:stretch>
            <a:fillRect/>
          </a:stretch>
        </p:blipFill>
        <p:spPr>
          <a:xfrm>
            <a:off x="1160930" y="1028700"/>
            <a:ext cx="7736541" cy="5486400"/>
          </a:xfrm>
          <a:prstGeom prst="rect">
            <a:avLst/>
          </a:prstGeom>
        </p:spPr>
      </p:pic>
    </p:spTree>
  </p:cSld>
  <p:clrMapOvr>
    <a:masterClrMapping/>
  </p:clrMapOvr>
  <p:transition spd="med"/>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5121" name="Text Box 1"/>
          <p:cNvSpPr txBox="1">
            <a:spLocks noChangeArrowheads="1"/>
          </p:cNvSpPr>
          <p:nvPr/>
        </p:nvSpPr>
        <p:spPr bwMode="auto">
          <a:xfrm>
            <a:off x="358775" y="420688"/>
            <a:ext cx="9364663" cy="238848"/>
          </a:xfrm>
          <a:prstGeom prst="rect">
            <a:avLst/>
          </a:prstGeom>
          <a:noFill/>
          <a:ln w="9525">
            <a:noFill/>
            <a:miter lim="800000"/>
            <a:headEnd/>
            <a:tailEnd/>
          </a:ln>
        </p:spPr>
        <p:txBody>
          <a:bodyPr lIns="0" tIns="0" rIns="0" bIns="0">
            <a:spAutoFit/>
          </a:bodyPr>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sz="1600" b="1" dirty="0" err="1" smtClean="0">
                <a:solidFill>
                  <a:srgbClr val="FFFFFF"/>
                </a:solidFill>
                <a:latin typeface="Arial" charset="0"/>
              </a:rPr>
              <a:t>Cross-Sectional Life Expectancies for 1978–1982, Plotted against PM2.5 Concentrations for 1979–1983.</a:t>
            </a:r>
            <a:endParaRPr lang="en-GB" sz="1600" b="1" dirty="0">
              <a:solidFill>
                <a:srgbClr val="FFFFFF"/>
              </a:solidFill>
              <a:latin typeface="Arial" charset="0"/>
            </a:endParaRPr>
          </a:p>
        </p:txBody>
      </p:sp>
      <p:pic>
        <p:nvPicPr>
          <p:cNvPr id="5122" name="Picture 2"/>
          <p:cNvPicPr>
            <a:picLocks noChangeAspect="1" noChangeArrowheads="1"/>
          </p:cNvPicPr>
          <p:nvPr/>
        </p:nvPicPr>
        <p:blipFill>
          <a:blip r:embed="rId3" cstate="print"/>
          <a:srcRect/>
          <a:stretch>
            <a:fillRect/>
          </a:stretch>
        </p:blipFill>
        <p:spPr bwMode="auto">
          <a:xfrm>
            <a:off x="6958013" y="6911975"/>
            <a:ext cx="2828925" cy="476250"/>
          </a:xfrm>
          <a:prstGeom prst="rect">
            <a:avLst/>
          </a:prstGeom>
          <a:noFill/>
        </p:spPr>
      </p:pic>
      <p:sp>
        <p:nvSpPr>
          <p:cNvPr id="5124" name="Text Box 4"/>
          <p:cNvSpPr txBox="1">
            <a:spLocks noChangeArrowheads="1"/>
          </p:cNvSpPr>
          <p:nvPr/>
        </p:nvSpPr>
        <p:spPr bwMode="auto">
          <a:xfrm>
            <a:off x="1084395" y="6583363"/>
            <a:ext cx="7889611" cy="179152"/>
          </a:xfrm>
          <a:prstGeom prst="rect">
            <a:avLst/>
          </a:prstGeom>
          <a:noFill/>
          <a:ln w="9525">
            <a:noFill/>
            <a:miter lim="800000"/>
            <a:headEnd/>
            <a:tailEnd/>
          </a:ln>
        </p:spPr>
        <p:txBody>
          <a:bodyPr lIns="0" tIns="0" rIns="0" bIns="0">
            <a:spAutoFit/>
          </a:bodyPr>
          <a:lstStyle/>
          <a:p>
            <a:pPr eaLnBrk="1">
              <a:lnSpc>
                <a:spcPct val="97000"/>
              </a:lnSpc>
              <a:buClr>
                <a:srgbClr val="FFFFFF"/>
              </a:buClr>
              <a:buSzPct val="45000"/>
              <a:buFont typeface="StarSymbol" charset="0"/>
              <a:buNone/>
              <a:tabLst>
                <a:tab pos="723900" algn="l"/>
                <a:tab pos="1447800" algn="l"/>
                <a:tab pos="2171700" algn="l"/>
                <a:tab pos="2895600" algn="l"/>
                <a:tab pos="3619500" algn="l"/>
              </a:tabLst>
            </a:pPr>
            <a:r>
              <a:rPr lang="en-GB" sz="1200" b="1" smtClean="0">
                <a:solidFill>
                  <a:srgbClr val="FFFFFF"/>
                </a:solidFill>
                <a:latin typeface="Arial" charset="0"/>
              </a:rPr>
              <a:t>Pope CA II et al. N Engl J Med2009;360:376-386</a:t>
            </a:r>
            <a:endParaRPr lang="en-GB" sz="1200" b="1" dirty="0">
              <a:solidFill>
                <a:srgbClr val="FFFFFF"/>
              </a:solidFill>
              <a:latin typeface="Arial" charset="0"/>
            </a:endParaRPr>
          </a:p>
        </p:txBody>
      </p:sp>
      <p:pic>
        <p:nvPicPr>
          <p:cNvPr id="6" name="Picture 5" descr="Image"/>
          <p:cNvPicPr>
            <a:picLocks noChangeAspect="1"/>
          </p:cNvPicPr>
          <p:nvPr/>
        </p:nvPicPr>
        <p:blipFill>
          <a:blip r:embed="rId4" cstate="print"/>
          <a:stretch>
            <a:fillRect/>
          </a:stretch>
        </p:blipFill>
        <p:spPr>
          <a:xfrm>
            <a:off x="1084395" y="1028700"/>
            <a:ext cx="7889611" cy="5486400"/>
          </a:xfrm>
          <a:prstGeom prst="rect">
            <a:avLst/>
          </a:prstGeom>
        </p:spPr>
      </p:pic>
    </p:spTree>
  </p:cSld>
  <p:clrMapOvr>
    <a:masterClrMapping/>
  </p:clrMapOvr>
  <p:transition spd="med"/>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5121" name="Text Box 1"/>
          <p:cNvSpPr txBox="1">
            <a:spLocks noChangeArrowheads="1"/>
          </p:cNvSpPr>
          <p:nvPr/>
        </p:nvSpPr>
        <p:spPr bwMode="auto">
          <a:xfrm>
            <a:off x="358775" y="420688"/>
            <a:ext cx="9364663" cy="238848"/>
          </a:xfrm>
          <a:prstGeom prst="rect">
            <a:avLst/>
          </a:prstGeom>
          <a:noFill/>
          <a:ln w="9525">
            <a:noFill/>
            <a:miter lim="800000"/>
            <a:headEnd/>
            <a:tailEnd/>
          </a:ln>
        </p:spPr>
        <p:txBody>
          <a:bodyPr lIns="0" tIns="0" rIns="0" bIns="0">
            <a:spAutoFit/>
          </a:bodyPr>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sz="1600" b="1" dirty="0" err="1" smtClean="0">
                <a:solidFill>
                  <a:srgbClr val="FFFFFF"/>
                </a:solidFill>
                <a:latin typeface="Arial" charset="0"/>
              </a:rPr>
              <a:t>Cross-Sectional Life Expectancies for 1997–2001, Plotted against PM2.5 Concentrations for 1999–2000.</a:t>
            </a:r>
            <a:endParaRPr lang="en-GB" sz="1600" b="1" dirty="0">
              <a:solidFill>
                <a:srgbClr val="FFFFFF"/>
              </a:solidFill>
              <a:latin typeface="Arial" charset="0"/>
            </a:endParaRPr>
          </a:p>
        </p:txBody>
      </p:sp>
      <p:pic>
        <p:nvPicPr>
          <p:cNvPr id="5122" name="Picture 2"/>
          <p:cNvPicPr>
            <a:picLocks noChangeAspect="1" noChangeArrowheads="1"/>
          </p:cNvPicPr>
          <p:nvPr/>
        </p:nvPicPr>
        <p:blipFill>
          <a:blip r:embed="rId3" cstate="print"/>
          <a:srcRect/>
          <a:stretch>
            <a:fillRect/>
          </a:stretch>
        </p:blipFill>
        <p:spPr bwMode="auto">
          <a:xfrm>
            <a:off x="6958013" y="6911975"/>
            <a:ext cx="2828925" cy="476250"/>
          </a:xfrm>
          <a:prstGeom prst="rect">
            <a:avLst/>
          </a:prstGeom>
          <a:noFill/>
        </p:spPr>
      </p:pic>
      <p:sp>
        <p:nvSpPr>
          <p:cNvPr id="5124" name="Text Box 4"/>
          <p:cNvSpPr txBox="1">
            <a:spLocks noChangeArrowheads="1"/>
          </p:cNvSpPr>
          <p:nvPr/>
        </p:nvSpPr>
        <p:spPr bwMode="auto">
          <a:xfrm>
            <a:off x="1084395" y="6583363"/>
            <a:ext cx="7889611" cy="179152"/>
          </a:xfrm>
          <a:prstGeom prst="rect">
            <a:avLst/>
          </a:prstGeom>
          <a:noFill/>
          <a:ln w="9525">
            <a:noFill/>
            <a:miter lim="800000"/>
            <a:headEnd/>
            <a:tailEnd/>
          </a:ln>
        </p:spPr>
        <p:txBody>
          <a:bodyPr lIns="0" tIns="0" rIns="0" bIns="0">
            <a:spAutoFit/>
          </a:bodyPr>
          <a:lstStyle/>
          <a:p>
            <a:pPr eaLnBrk="1">
              <a:lnSpc>
                <a:spcPct val="97000"/>
              </a:lnSpc>
              <a:buClr>
                <a:srgbClr val="FFFFFF"/>
              </a:buClr>
              <a:buSzPct val="45000"/>
              <a:buFont typeface="StarSymbol" charset="0"/>
              <a:buNone/>
              <a:tabLst>
                <a:tab pos="723900" algn="l"/>
                <a:tab pos="1447800" algn="l"/>
                <a:tab pos="2171700" algn="l"/>
                <a:tab pos="2895600" algn="l"/>
                <a:tab pos="3619500" algn="l"/>
              </a:tabLst>
            </a:pPr>
            <a:r>
              <a:rPr lang="en-GB" sz="1200" b="1" smtClean="0">
                <a:solidFill>
                  <a:srgbClr val="FFFFFF"/>
                </a:solidFill>
                <a:latin typeface="Arial" charset="0"/>
              </a:rPr>
              <a:t>Pope CA II et al. N Engl J Med2009;360:376-386</a:t>
            </a:r>
            <a:endParaRPr lang="en-GB" sz="1200" b="1" dirty="0">
              <a:solidFill>
                <a:srgbClr val="FFFFFF"/>
              </a:solidFill>
              <a:latin typeface="Arial" charset="0"/>
            </a:endParaRPr>
          </a:p>
        </p:txBody>
      </p:sp>
      <p:pic>
        <p:nvPicPr>
          <p:cNvPr id="6" name="Picture 5" descr="Image"/>
          <p:cNvPicPr>
            <a:picLocks noChangeAspect="1"/>
          </p:cNvPicPr>
          <p:nvPr/>
        </p:nvPicPr>
        <p:blipFill>
          <a:blip r:embed="rId4" cstate="print"/>
          <a:stretch>
            <a:fillRect/>
          </a:stretch>
        </p:blipFill>
        <p:spPr>
          <a:xfrm>
            <a:off x="1084395" y="1028700"/>
            <a:ext cx="7889611" cy="5486400"/>
          </a:xfrm>
          <a:prstGeom prst="rect">
            <a:avLst/>
          </a:prstGeom>
        </p:spPr>
      </p:pic>
    </p:spTree>
  </p:cSld>
  <p:clrMapOvr>
    <a:masterClrMapping/>
  </p:clrMapOvr>
  <p:transition spd="med"/>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5121" name="Text Box 1"/>
          <p:cNvSpPr txBox="1">
            <a:spLocks noChangeArrowheads="1"/>
          </p:cNvSpPr>
          <p:nvPr/>
        </p:nvSpPr>
        <p:spPr bwMode="auto">
          <a:xfrm>
            <a:off x="358775" y="420688"/>
            <a:ext cx="9364663" cy="238848"/>
          </a:xfrm>
          <a:prstGeom prst="rect">
            <a:avLst/>
          </a:prstGeom>
          <a:noFill/>
          <a:ln w="9525">
            <a:noFill/>
            <a:miter lim="800000"/>
            <a:headEnd/>
            <a:tailEnd/>
          </a:ln>
        </p:spPr>
        <p:txBody>
          <a:bodyPr lIns="0" tIns="0" rIns="0" bIns="0">
            <a:spAutoFit/>
          </a:bodyPr>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sz="1600" b="1" dirty="0" err="1" smtClean="0">
                <a:solidFill>
                  <a:srgbClr val="FFFFFF"/>
                </a:solidFill>
                <a:latin typeface="Arial" charset="0"/>
              </a:rPr>
              <a:t>Changes in Life Expectancy for the 1980s–1990s, Plotted against Reductions in PM2.5 Concentrations for 1980–2000.</a:t>
            </a:r>
            <a:endParaRPr lang="en-GB" sz="1600" b="1" dirty="0">
              <a:solidFill>
                <a:srgbClr val="FFFFFF"/>
              </a:solidFill>
              <a:latin typeface="Arial" charset="0"/>
            </a:endParaRPr>
          </a:p>
        </p:txBody>
      </p:sp>
      <p:pic>
        <p:nvPicPr>
          <p:cNvPr id="5122" name="Picture 2"/>
          <p:cNvPicPr>
            <a:picLocks noChangeAspect="1" noChangeArrowheads="1"/>
          </p:cNvPicPr>
          <p:nvPr/>
        </p:nvPicPr>
        <p:blipFill>
          <a:blip r:embed="rId3" cstate="print"/>
          <a:srcRect/>
          <a:stretch>
            <a:fillRect/>
          </a:stretch>
        </p:blipFill>
        <p:spPr bwMode="auto">
          <a:xfrm>
            <a:off x="6958013" y="6911975"/>
            <a:ext cx="2828925" cy="476250"/>
          </a:xfrm>
          <a:prstGeom prst="rect">
            <a:avLst/>
          </a:prstGeom>
          <a:noFill/>
        </p:spPr>
      </p:pic>
      <p:sp>
        <p:nvSpPr>
          <p:cNvPr id="5124" name="Text Box 4"/>
          <p:cNvSpPr txBox="1">
            <a:spLocks noChangeArrowheads="1"/>
          </p:cNvSpPr>
          <p:nvPr/>
        </p:nvSpPr>
        <p:spPr bwMode="auto">
          <a:xfrm>
            <a:off x="1498060" y="6583363"/>
            <a:ext cx="7062281" cy="179152"/>
          </a:xfrm>
          <a:prstGeom prst="rect">
            <a:avLst/>
          </a:prstGeom>
          <a:noFill/>
          <a:ln w="9525">
            <a:noFill/>
            <a:miter lim="800000"/>
            <a:headEnd/>
            <a:tailEnd/>
          </a:ln>
        </p:spPr>
        <p:txBody>
          <a:bodyPr lIns="0" tIns="0" rIns="0" bIns="0">
            <a:spAutoFit/>
          </a:bodyPr>
          <a:lstStyle/>
          <a:p>
            <a:pPr eaLnBrk="1">
              <a:lnSpc>
                <a:spcPct val="97000"/>
              </a:lnSpc>
              <a:buClr>
                <a:srgbClr val="FFFFFF"/>
              </a:buClr>
              <a:buSzPct val="45000"/>
              <a:buFont typeface="StarSymbol" charset="0"/>
              <a:buNone/>
              <a:tabLst>
                <a:tab pos="723900" algn="l"/>
                <a:tab pos="1447800" algn="l"/>
                <a:tab pos="2171700" algn="l"/>
                <a:tab pos="2895600" algn="l"/>
                <a:tab pos="3619500" algn="l"/>
              </a:tabLst>
            </a:pPr>
            <a:r>
              <a:rPr lang="en-GB" sz="1200" b="1" smtClean="0">
                <a:solidFill>
                  <a:srgbClr val="FFFFFF"/>
                </a:solidFill>
                <a:latin typeface="Arial" charset="0"/>
              </a:rPr>
              <a:t>Pope CA II et al. N Engl J Med2009;360:376-386</a:t>
            </a:r>
            <a:endParaRPr lang="en-GB" sz="1200" b="1" dirty="0">
              <a:solidFill>
                <a:srgbClr val="FFFFFF"/>
              </a:solidFill>
              <a:latin typeface="Arial" charset="0"/>
            </a:endParaRPr>
          </a:p>
        </p:txBody>
      </p:sp>
      <p:pic>
        <p:nvPicPr>
          <p:cNvPr id="6" name="Picture 5" descr="Image"/>
          <p:cNvPicPr>
            <a:picLocks noChangeAspect="1"/>
          </p:cNvPicPr>
          <p:nvPr/>
        </p:nvPicPr>
        <p:blipFill>
          <a:blip r:embed="rId4" cstate="print"/>
          <a:stretch>
            <a:fillRect/>
          </a:stretch>
        </p:blipFill>
        <p:spPr>
          <a:xfrm>
            <a:off x="1498060" y="1028700"/>
            <a:ext cx="7062281" cy="5486400"/>
          </a:xfrm>
          <a:prstGeom prst="rect">
            <a:avLst/>
          </a:prstGeom>
        </p:spPr>
      </p:pic>
    </p:spTree>
  </p:cSld>
  <p:clrMapOvr>
    <a:masterClrMapping/>
  </p:clrMapOvr>
  <p:transition spd="med"/>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5121" name="Text Box 1"/>
          <p:cNvSpPr txBox="1">
            <a:spLocks noChangeArrowheads="1"/>
          </p:cNvSpPr>
          <p:nvPr/>
        </p:nvSpPr>
        <p:spPr bwMode="auto">
          <a:xfrm>
            <a:off x="358775" y="420688"/>
            <a:ext cx="9364663" cy="238848"/>
          </a:xfrm>
          <a:prstGeom prst="rect">
            <a:avLst/>
          </a:prstGeom>
          <a:noFill/>
          <a:ln w="9525">
            <a:noFill/>
            <a:miter lim="800000"/>
            <a:headEnd/>
            <a:tailEnd/>
          </a:ln>
        </p:spPr>
        <p:txBody>
          <a:bodyPr lIns="0" tIns="0" rIns="0" bIns="0">
            <a:spAutoFit/>
          </a:bodyPr>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sz="1600" b="1" dirty="0" err="1" smtClean="0">
                <a:solidFill>
                  <a:srgbClr val="FFFFFF"/>
                </a:solidFill>
                <a:latin typeface="Arial" charset="0"/>
              </a:rPr>
              <a:t>Summary Characteristics of the 217 Counties Analyzed.</a:t>
            </a:r>
            <a:endParaRPr lang="en-GB" sz="1600" b="1" dirty="0">
              <a:solidFill>
                <a:srgbClr val="FFFFFF"/>
              </a:solidFill>
              <a:latin typeface="Arial" charset="0"/>
            </a:endParaRPr>
          </a:p>
        </p:txBody>
      </p:sp>
      <p:pic>
        <p:nvPicPr>
          <p:cNvPr id="5122" name="Picture 2"/>
          <p:cNvPicPr>
            <a:picLocks noChangeAspect="1" noChangeArrowheads="1"/>
          </p:cNvPicPr>
          <p:nvPr/>
        </p:nvPicPr>
        <p:blipFill>
          <a:blip r:embed="rId3" cstate="print"/>
          <a:srcRect/>
          <a:stretch>
            <a:fillRect/>
          </a:stretch>
        </p:blipFill>
        <p:spPr bwMode="auto">
          <a:xfrm>
            <a:off x="6958013" y="6911975"/>
            <a:ext cx="2828925" cy="476250"/>
          </a:xfrm>
          <a:prstGeom prst="rect">
            <a:avLst/>
          </a:prstGeom>
          <a:noFill/>
        </p:spPr>
      </p:pic>
      <p:sp>
        <p:nvSpPr>
          <p:cNvPr id="5124" name="Text Box 4"/>
          <p:cNvSpPr txBox="1">
            <a:spLocks noChangeArrowheads="1"/>
          </p:cNvSpPr>
          <p:nvPr/>
        </p:nvSpPr>
        <p:spPr bwMode="auto">
          <a:xfrm>
            <a:off x="3824302" y="6583363"/>
            <a:ext cx="2409796" cy="179152"/>
          </a:xfrm>
          <a:prstGeom prst="rect">
            <a:avLst/>
          </a:prstGeom>
          <a:noFill/>
          <a:ln w="9525">
            <a:noFill/>
            <a:miter lim="800000"/>
            <a:headEnd/>
            <a:tailEnd/>
          </a:ln>
        </p:spPr>
        <p:txBody>
          <a:bodyPr lIns="0" tIns="0" rIns="0" bIns="0">
            <a:spAutoFit/>
          </a:bodyPr>
          <a:lstStyle/>
          <a:p>
            <a:pPr eaLnBrk="1">
              <a:lnSpc>
                <a:spcPct val="97000"/>
              </a:lnSpc>
              <a:buClr>
                <a:srgbClr val="FFFFFF"/>
              </a:buClr>
              <a:buSzPct val="45000"/>
              <a:buFont typeface="StarSymbol" charset="0"/>
              <a:buNone/>
              <a:tabLst>
                <a:tab pos="723900" algn="l"/>
                <a:tab pos="1447800" algn="l"/>
                <a:tab pos="2171700" algn="l"/>
                <a:tab pos="2895600" algn="l"/>
                <a:tab pos="3619500" algn="l"/>
              </a:tabLst>
            </a:pPr>
            <a:r>
              <a:rPr lang="en-GB" sz="1200" b="1" smtClean="0">
                <a:solidFill>
                  <a:srgbClr val="FFFFFF"/>
                </a:solidFill>
                <a:latin typeface="Arial" charset="0"/>
              </a:rPr>
              <a:t>Pope CA II et al. N Engl J Med2009;360:376-386</a:t>
            </a:r>
            <a:endParaRPr lang="en-GB" sz="1200" b="1" dirty="0">
              <a:solidFill>
                <a:srgbClr val="FFFFFF"/>
              </a:solidFill>
              <a:latin typeface="Arial" charset="0"/>
            </a:endParaRPr>
          </a:p>
        </p:txBody>
      </p:sp>
      <p:pic>
        <p:nvPicPr>
          <p:cNvPr id="6" name="Picture 5" descr="Image"/>
          <p:cNvPicPr>
            <a:picLocks noChangeAspect="1"/>
          </p:cNvPicPr>
          <p:nvPr/>
        </p:nvPicPr>
        <p:blipFill>
          <a:blip r:embed="rId4" cstate="print"/>
          <a:stretch>
            <a:fillRect/>
          </a:stretch>
        </p:blipFill>
        <p:spPr>
          <a:xfrm>
            <a:off x="3824302" y="1028700"/>
            <a:ext cx="2409796" cy="5486400"/>
          </a:xfrm>
          <a:prstGeom prst="rect">
            <a:avLst/>
          </a:prstGeom>
        </p:spPr>
      </p:pic>
    </p:spTree>
  </p:cSld>
  <p:clrMapOvr>
    <a:masterClrMapping/>
  </p:clrMapOvr>
  <p:transition spd="med"/>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5121" name="Text Box 1"/>
          <p:cNvSpPr txBox="1">
            <a:spLocks noChangeArrowheads="1"/>
          </p:cNvSpPr>
          <p:nvPr/>
        </p:nvSpPr>
        <p:spPr bwMode="auto">
          <a:xfrm>
            <a:off x="358775" y="420688"/>
            <a:ext cx="9364663" cy="238848"/>
          </a:xfrm>
          <a:prstGeom prst="rect">
            <a:avLst/>
          </a:prstGeom>
          <a:noFill/>
          <a:ln w="9525">
            <a:noFill/>
            <a:miter lim="800000"/>
            <a:headEnd/>
            <a:tailEnd/>
          </a:ln>
        </p:spPr>
        <p:txBody>
          <a:bodyPr lIns="0" tIns="0" rIns="0" bIns="0">
            <a:spAutoFit/>
          </a:bodyPr>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sz="1600" b="1" dirty="0" err="1" smtClean="0">
                <a:solidFill>
                  <a:srgbClr val="FFFFFF"/>
                </a:solidFill>
                <a:latin typeface="Arial" charset="0"/>
              </a:rPr>
              <a:t>Results of Selected Regression Models, Including Estimates of the Increase in Life Expectancy Associated with a Reduction in PM2.5 of 10 μg per Cubic Meter, Adjusted for Socioeconomic, Demographic, and Proxy Indicators for Prevalence of Smoking.</a:t>
            </a:r>
            <a:endParaRPr lang="en-GB" sz="1600" b="1" dirty="0">
              <a:solidFill>
                <a:srgbClr val="FFFFFF"/>
              </a:solidFill>
              <a:latin typeface="Arial" charset="0"/>
            </a:endParaRPr>
          </a:p>
        </p:txBody>
      </p:sp>
      <p:pic>
        <p:nvPicPr>
          <p:cNvPr id="5122" name="Picture 2"/>
          <p:cNvPicPr>
            <a:picLocks noChangeAspect="1" noChangeArrowheads="1"/>
          </p:cNvPicPr>
          <p:nvPr/>
        </p:nvPicPr>
        <p:blipFill>
          <a:blip r:embed="rId3" cstate="print"/>
          <a:srcRect/>
          <a:stretch>
            <a:fillRect/>
          </a:stretch>
        </p:blipFill>
        <p:spPr bwMode="auto">
          <a:xfrm>
            <a:off x="6958013" y="6911975"/>
            <a:ext cx="2828925" cy="476250"/>
          </a:xfrm>
          <a:prstGeom prst="rect">
            <a:avLst/>
          </a:prstGeom>
          <a:noFill/>
        </p:spPr>
      </p:pic>
      <p:sp>
        <p:nvSpPr>
          <p:cNvPr id="5124" name="Text Box 4"/>
          <p:cNvSpPr txBox="1">
            <a:spLocks noChangeArrowheads="1"/>
          </p:cNvSpPr>
          <p:nvPr/>
        </p:nvSpPr>
        <p:spPr bwMode="auto">
          <a:xfrm>
            <a:off x="571500" y="6583363"/>
            <a:ext cx="8915400" cy="179152"/>
          </a:xfrm>
          <a:prstGeom prst="rect">
            <a:avLst/>
          </a:prstGeom>
          <a:noFill/>
          <a:ln w="9525">
            <a:noFill/>
            <a:miter lim="800000"/>
            <a:headEnd/>
            <a:tailEnd/>
          </a:ln>
        </p:spPr>
        <p:txBody>
          <a:bodyPr lIns="0" tIns="0" rIns="0" bIns="0">
            <a:spAutoFit/>
          </a:bodyPr>
          <a:lstStyle/>
          <a:p>
            <a:pPr eaLnBrk="1">
              <a:lnSpc>
                <a:spcPct val="97000"/>
              </a:lnSpc>
              <a:buClr>
                <a:srgbClr val="FFFFFF"/>
              </a:buClr>
              <a:buSzPct val="45000"/>
              <a:buFont typeface="StarSymbol" charset="0"/>
              <a:buNone/>
              <a:tabLst>
                <a:tab pos="723900" algn="l"/>
                <a:tab pos="1447800" algn="l"/>
                <a:tab pos="2171700" algn="l"/>
                <a:tab pos="2895600" algn="l"/>
                <a:tab pos="3619500" algn="l"/>
              </a:tabLst>
            </a:pPr>
            <a:r>
              <a:rPr lang="en-GB" sz="1200" b="1" smtClean="0">
                <a:solidFill>
                  <a:srgbClr val="FFFFFF"/>
                </a:solidFill>
                <a:latin typeface="Arial" charset="0"/>
              </a:rPr>
              <a:t>Pope CA II et al. N Engl J Med2009;360:376-386</a:t>
            </a:r>
            <a:endParaRPr lang="en-GB" sz="1200" b="1" dirty="0">
              <a:solidFill>
                <a:srgbClr val="FFFFFF"/>
              </a:solidFill>
              <a:latin typeface="Arial" charset="0"/>
            </a:endParaRPr>
          </a:p>
        </p:txBody>
      </p:sp>
      <p:pic>
        <p:nvPicPr>
          <p:cNvPr id="6" name="Picture 5" descr="Image"/>
          <p:cNvPicPr>
            <a:picLocks noChangeAspect="1"/>
          </p:cNvPicPr>
          <p:nvPr/>
        </p:nvPicPr>
        <p:blipFill>
          <a:blip r:embed="rId4" cstate="print"/>
          <a:stretch>
            <a:fillRect/>
          </a:stretch>
        </p:blipFill>
        <p:spPr>
          <a:xfrm>
            <a:off x="571500" y="1138439"/>
            <a:ext cx="8915400" cy="5266923"/>
          </a:xfrm>
          <a:prstGeom prst="rect">
            <a:avLst/>
          </a:prstGeom>
        </p:spPr>
      </p:pic>
    </p:spTree>
  </p:cSld>
  <p:clrMapOvr>
    <a:masterClrMapping/>
  </p:clrMapOvr>
  <p:transition spd="med"/>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10241" name="Text Box 1"/>
          <p:cNvSpPr txBox="1">
            <a:spLocks noChangeArrowheads="1"/>
          </p:cNvSpPr>
          <p:nvPr/>
        </p:nvSpPr>
        <p:spPr bwMode="auto">
          <a:xfrm>
            <a:off x="739775" y="787983"/>
            <a:ext cx="8604250" cy="417935"/>
          </a:xfrm>
          <a:prstGeom prst="rect">
            <a:avLst/>
          </a:prstGeom>
          <a:noFill/>
          <a:ln w="9525">
            <a:noFill/>
            <a:miter lim="800000"/>
            <a:headEnd/>
            <a:tailEnd/>
          </a:ln>
        </p:spPr>
        <p:txBody>
          <a:bodyPr lIns="0" tIns="0" rIns="0" bIns="0" anchor="ctr">
            <a:spAutoFit/>
          </a:bodyPr>
          <a:lstStyle/>
          <a:p>
            <a:pPr algn="ctr" eaLnBrk="1">
              <a:lnSpc>
                <a:spcPct val="97000"/>
              </a:lnSpc>
              <a:buClr>
                <a:srgbClr val="FFFFFF"/>
              </a:buClr>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2800" b="1" smtClean="0">
                <a:solidFill>
                  <a:srgbClr val="FFFFFF"/>
                </a:solidFill>
                <a:latin typeface="Arial" charset="0"/>
              </a:rPr>
              <a:t>Conclusions</a:t>
            </a:r>
            <a:endParaRPr lang="en-GB" sz="2800" b="1" dirty="0">
              <a:solidFill>
                <a:srgbClr val="FFFFFF"/>
              </a:solidFill>
              <a:latin typeface="Arial" charset="0"/>
            </a:endParaRPr>
          </a:p>
        </p:txBody>
      </p:sp>
      <p:sp>
        <p:nvSpPr>
          <p:cNvPr id="10242" name="Rectangle 2"/>
          <p:cNvSpPr>
            <a:spLocks noGrp="1" noChangeArrowheads="1"/>
          </p:cNvSpPr>
          <p:nvPr>
            <p:ph type="body"/>
          </p:nvPr>
        </p:nvSpPr>
        <p:spPr>
          <a:xfrm>
            <a:off x="739775" y="1549400"/>
            <a:ext cx="8607425" cy="5241925"/>
          </a:xfrm>
          <a:ln/>
        </p:spPr>
        <p:txBody>
          <a:bodyPr anchor="t"/>
          <a:lstStyle/>
          <a:p>
            <a:pPr marL="431800" indent="-323850" algn="l">
              <a:lnSpc>
                <a:spcPct val="92000"/>
              </a:lnSpc>
              <a:spcAft>
                <a:spcPts val="888"/>
              </a:spcAft>
              <a:buSzPct val="100000"/>
              <a:buFont typeface="Arial"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sz="2000" b="0" dirty="0" smtClean="0">
                <a:latin typeface="Arial" charset="0"/>
              </a:rPr>
              <a:t>A reduction in exposure to ambient fine-particulate air pollution contributed to significant and measurable improvements in life expectancy in the United States.</a:t>
            </a:r>
            <a:endParaRPr lang="en-GB" sz="2000" b="0" dirty="0">
              <a:latin typeface="Arial" charset="0"/>
            </a:endParaRPr>
          </a:p>
        </p:txBody>
      </p:sp>
      <p:pic>
        <p:nvPicPr>
          <p:cNvPr id="10243" name="Picture 3"/>
          <p:cNvPicPr>
            <a:picLocks noChangeAspect="1" noChangeArrowheads="1"/>
          </p:cNvPicPr>
          <p:nvPr/>
        </p:nvPicPr>
        <p:blipFill>
          <a:blip r:embed="rId3" cstate="print"/>
          <a:srcRect/>
          <a:stretch>
            <a:fillRect/>
          </a:stretch>
        </p:blipFill>
        <p:spPr bwMode="auto">
          <a:xfrm>
            <a:off x="6958013" y="6911975"/>
            <a:ext cx="2828925" cy="476250"/>
          </a:xfrm>
          <a:prstGeom prst="rect">
            <a:avLst/>
          </a:prstGeom>
          <a:noFill/>
        </p:spPr>
      </p:pic>
    </p:spTree>
  </p:cSld>
  <p:clrMapOvr>
    <a:masterClrMapping/>
  </p:clrMapOvr>
  <p:transition spd="med"/>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Times New Roman"/>
        <a:ea typeface="Gothic"/>
        <a:cs typeface="Gothic"/>
      </a:majorFont>
      <a:minorFont>
        <a:latin typeface="Times New Roman"/>
        <a:ea typeface="Gothic"/>
        <a:cs typeface="Gothic"/>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effectLst/>
            <a:latin typeface="Times New Roman" pitchFamily="16"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effectLst/>
            <a:latin typeface="Times New Roman" pitchFamily="16"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2820</TotalTime>
  <Words>7</Words>
  <Application>Microsoft Office PowerPoint</Application>
  <PresentationFormat>Custom</PresentationFormat>
  <Paragraphs>3</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Slide 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Bob Starbird</dc:creator>
  <cp:lastModifiedBy>bstarbird</cp:lastModifiedBy>
  <cp:revision>15</cp:revision>
  <dcterms:modified xsi:type="dcterms:W3CDTF">2010-05-03T14:18:33Z</dcterms:modified>
</cp:coreProperties>
</file>